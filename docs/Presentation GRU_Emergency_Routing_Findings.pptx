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167" autoAdjust="0"/>
    <p:restoredTop sz="59221" autoAdjust="0"/>
  </p:normalViewPr>
  <p:slideViewPr>
    <p:cSldViewPr snapToGrid="0" snapToObjects="1">
      <p:cViewPr varScale="1">
        <p:scale>
          <a:sx n="69" d="100"/>
          <a:sy n="69" d="100"/>
        </p:scale>
        <p:origin x="139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615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My name is Freshia Njoki Macharia. This thesis is a GRU-based predictive route </a:t>
            </a:r>
            <a:r>
              <a:rPr dirty="0" err="1"/>
              <a:t>optimisation</a:t>
            </a:r>
            <a:r>
              <a:rPr dirty="0"/>
              <a:t> framework for emergency vehicle navigation</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decision-support framework for emergency-vehicle routing. It forecasts traffic speeds for the next thirty minutes, computes a time-dependent path, and offers a new path only when remaining travel time has truly worsened.</a:t>
            </a:r>
            <a:br>
              <a:rPr lang="en-US" dirty="0"/>
            </a:br>
            <a:r>
              <a:rPr lang="en-US" dirty="0"/>
              <a:t>This is my second progress presentation therefore ill be </a:t>
            </a:r>
            <a:r>
              <a:rPr lang="en-US" dirty="0" err="1"/>
              <a:t>forecassing</a:t>
            </a:r>
            <a:r>
              <a:rPr lang="en-US" dirty="0"/>
              <a:t> on obj 3 and 4</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operational problem is simple. At dispatch we compute a shortest path from the speeds on the map RIGHT NOW. That path is optimal only for those speeds. If a queue forms on the planned road </a:t>
            </a:r>
            <a:r>
              <a:rPr lang="en-US" dirty="0"/>
              <a:t>15</a:t>
            </a:r>
            <a:r>
              <a:rPr dirty="0"/>
              <a:t> or </a:t>
            </a:r>
            <a:r>
              <a:rPr lang="en-US" dirty="0"/>
              <a:t>30</a:t>
            </a:r>
            <a:r>
              <a:rPr dirty="0"/>
              <a:t> minutes later, the vehicle is already committed to it.</a:t>
            </a:r>
          </a:p>
          <a:p>
            <a:endParaRPr dirty="0"/>
          </a:p>
          <a:p>
            <a:r>
              <a:rPr dirty="0"/>
              <a:t>That is how most computer-aided dispatch still works — Dijkstra, or A-star, on a current snapshot.</a:t>
            </a:r>
          </a:p>
          <a:p>
            <a:endParaRPr dirty="0"/>
          </a:p>
          <a:p>
            <a:r>
              <a:rPr dirty="0"/>
              <a:t>THE GAP. The literature has excellent traffic predictors, and strong time-dependent shortest-path algorithms. They usually sit in different papers. </a:t>
            </a:r>
            <a:r>
              <a:rPr i="1" dirty="0"/>
              <a:t>Werner and colleagues did combine the two in </a:t>
            </a:r>
            <a:r>
              <a:rPr lang="en-US" i="1" dirty="0"/>
              <a:t>2022 </a:t>
            </a:r>
            <a:r>
              <a:rPr i="1" dirty="0"/>
              <a:t>— but for general navigation, with pre-processing that assumes edge weights do not change every five minutes.</a:t>
            </a:r>
          </a:p>
          <a:p>
            <a:endParaRPr dirty="0"/>
          </a:p>
          <a:p>
            <a:r>
              <a:rPr dirty="0"/>
              <a:t>What is missing is one EMERGENCY loop: learn the next half hour, route on those changing costs, and interrupt the dispatcher only when remaining time has really jumped — all </a:t>
            </a:r>
            <a:r>
              <a:rPr lang="en-US" dirty="0"/>
              <a:t>in</a:t>
            </a:r>
            <a:r>
              <a:rPr dirty="0"/>
              <a:t> one second.</a:t>
            </a:r>
          </a:p>
          <a:p>
            <a:endParaRPr dirty="0"/>
          </a:p>
          <a:p>
            <a:r>
              <a:rPr dirty="0"/>
              <a:t>On data: I </a:t>
            </a:r>
            <a:r>
              <a:rPr lang="en-US" dirty="0"/>
              <a:t>trained my model</a:t>
            </a:r>
            <a:r>
              <a:rPr dirty="0"/>
              <a:t> on public loop-detector</a:t>
            </a:r>
            <a:r>
              <a:rPr lang="en-US" dirty="0"/>
              <a:t> using</a:t>
            </a:r>
            <a:r>
              <a:rPr dirty="0"/>
              <a:t> </a:t>
            </a:r>
            <a:r>
              <a:rPr lang="en-US" dirty="0"/>
              <a:t>METR-LA &amp; PEMS-BAY data sets </a:t>
            </a:r>
            <a:r>
              <a:rPr dirty="0"/>
              <a:t>so the run can be reproduced</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purpose was to design and evaluate that loop as </a:t>
            </a:r>
            <a:r>
              <a:rPr lang="en-US" dirty="0"/>
              <a:t>dispatcher support</a:t>
            </a:r>
            <a:r>
              <a:rPr dirty="0"/>
              <a:t>, not as an autonomous routing agent.</a:t>
            </a:r>
          </a:p>
          <a:p>
            <a:endParaRPr dirty="0"/>
          </a:p>
          <a:p>
            <a:r>
              <a:rPr dirty="0"/>
              <a:t>Four objectives. ONE, </a:t>
            </a:r>
            <a:r>
              <a:rPr lang="en-US" dirty="0"/>
              <a:t>lit review of existing papers and map the gap</a:t>
            </a:r>
            <a:r>
              <a:rPr dirty="0"/>
              <a:t>. TWO, build the three parts</a:t>
            </a:r>
            <a:r>
              <a:rPr lang="en-US" dirty="0"/>
              <a:t>/components of the framework </a:t>
            </a:r>
            <a:r>
              <a:rPr dirty="0"/>
              <a:t> — GRU predictor, time-dependent A-star, remaining-time controller. THREE, find which threshold</a:t>
            </a:r>
            <a:r>
              <a:rPr lang="en-US" dirty="0"/>
              <a:t>/delta</a:t>
            </a:r>
            <a:r>
              <a:rPr dirty="0"/>
              <a:t> to use. </a:t>
            </a:r>
            <a:r>
              <a:rPr lang="en-US" dirty="0"/>
              <a:t>Delta is a policy, where If remaining time from where the vehicle is now grows by more than delta, we offer a new path.</a:t>
            </a: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Four: measures the travel time reduction and evaluate against four baselines.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how the model behaves or was built</a:t>
            </a:r>
            <a:endParaRPr dirty="0"/>
          </a:p>
          <a:p>
            <a:endParaRPr dirty="0"/>
          </a:p>
          <a:p>
            <a:r>
              <a:rPr dirty="0"/>
              <a:t>ONE, </a:t>
            </a:r>
            <a:r>
              <a:rPr lang="en-US" dirty="0"/>
              <a:t>We look at the last hour of detector speeds, which is presented as 12 </a:t>
            </a:r>
            <a:r>
              <a:rPr dirty="0"/>
              <a:t>frames, </a:t>
            </a:r>
            <a:r>
              <a:rPr lang="en-US" dirty="0"/>
              <a:t>of 5 </a:t>
            </a:r>
            <a:r>
              <a:rPr dirty="0"/>
              <a:t>minutes each.</a:t>
            </a:r>
          </a:p>
          <a:p>
            <a:endParaRPr dirty="0"/>
          </a:p>
          <a:p>
            <a:r>
              <a:rPr dirty="0"/>
              <a:t>TWO, A two-layer GRU,</a:t>
            </a:r>
            <a:r>
              <a:rPr lang="en-US" dirty="0"/>
              <a:t> with</a:t>
            </a:r>
            <a:r>
              <a:rPr dirty="0"/>
              <a:t> </a:t>
            </a:r>
            <a:r>
              <a:rPr lang="en-US" dirty="0"/>
              <a:t>64</a:t>
            </a:r>
            <a:r>
              <a:rPr dirty="0"/>
              <a:t> hidden units per layer, dropout </a:t>
            </a:r>
            <a:r>
              <a:rPr lang="en-US" dirty="0"/>
              <a:t>0.2</a:t>
            </a:r>
            <a:r>
              <a:rPr dirty="0"/>
              <a:t>, forecasts the next </a:t>
            </a:r>
            <a:r>
              <a:rPr lang="en-US" dirty="0"/>
              <a:t>30 </a:t>
            </a:r>
            <a:r>
              <a:rPr dirty="0"/>
              <a:t> minutes —</a:t>
            </a:r>
            <a:r>
              <a:rPr lang="en-US" dirty="0"/>
              <a:t> which is actually 6 </a:t>
            </a:r>
            <a:r>
              <a:rPr dirty="0"/>
              <a:t>frames.</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THREE, </a:t>
            </a:r>
            <a:r>
              <a:rPr lang="en-US" dirty="0"/>
              <a:t>Those speeds become the time to cross each road.</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FOUR,</a:t>
            </a:r>
            <a:r>
              <a:rPr lang="en-US" dirty="0"/>
              <a:t> Time-dependent A* picks a path (by searching the origin to destination). Edge cost depends on when the vehicle would enter that road, not only on now.</a:t>
            </a:r>
          </a:p>
          <a:p>
            <a:endParaRPr dirty="0"/>
          </a:p>
          <a:p>
            <a:r>
              <a:rPr dirty="0"/>
              <a:t>FIVE, Update. As the vehicle moves, remaining time is recomputed FROM ITS CURRENT POSITION, not from the station. If that </a:t>
            </a:r>
            <a:r>
              <a:rPr lang="en-US" dirty="0"/>
              <a:t>remaining time </a:t>
            </a:r>
            <a:r>
              <a:rPr dirty="0"/>
              <a:t>grows by more than delta, we offer a new path. The observation window slides forward every five minutes, so a jam appearing mid-trip is seen.</a:t>
            </a:r>
          </a:p>
          <a:p>
            <a:endParaRPr dirty="0"/>
          </a:p>
          <a:p>
            <a:r>
              <a:rPr dirty="0"/>
              <a:t>SIX, Decide. A </a:t>
            </a:r>
            <a:r>
              <a:rPr lang="en-US" dirty="0"/>
              <a:t>person</a:t>
            </a:r>
            <a:r>
              <a:rPr dirty="0"/>
              <a:t> accepts or rejects</a:t>
            </a:r>
            <a:r>
              <a:rPr lang="en-US" dirty="0"/>
              <a:t>, since this</a:t>
            </a:r>
            <a:r>
              <a:rPr dirty="0"/>
              <a:t> is Decision Support </a:t>
            </a:r>
            <a:r>
              <a:rPr lang="en-US" i="1" dirty="0"/>
              <a:t>- </a:t>
            </a:r>
            <a:r>
              <a:rPr i="1" dirty="0"/>
              <a:t>the framework recommends, the dispatcher decides.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KE" sz="1200" kern="1200" dirty="0">
                <a:solidFill>
                  <a:schemeClr val="tx1"/>
                </a:solidFill>
                <a:effectLst/>
                <a:latin typeface="+mn-lt"/>
                <a:ea typeface="+mn-ea"/>
                <a:cs typeface="+mn-cs"/>
              </a:rPr>
              <a:t>This slide presents the test bed behind every result that follows: where the 900 journeys were run, and the rules that stop the framework from flattering itself.</a:t>
            </a:r>
          </a:p>
          <a:p>
            <a:endParaRPr dirty="0"/>
          </a:p>
          <a:p>
            <a:pPr lvl="0"/>
            <a:r>
              <a:rPr lang="en-KE" sz="1200" kern="1200" dirty="0">
                <a:solidFill>
                  <a:schemeClr val="tx1"/>
                </a:solidFill>
                <a:effectLst/>
                <a:latin typeface="+mn-lt"/>
                <a:ea typeface="+mn-ea"/>
                <a:cs typeface="+mn-cs"/>
              </a:rPr>
              <a:t>Los Angeles freeway detectors: 207 sensors, 1,515 roads, a measured speed on every road.</a:t>
            </a:r>
          </a:p>
          <a:p>
            <a:pPr lvl="0"/>
            <a:r>
              <a:rPr lang="en-KE" sz="1200" kern="1200" dirty="0">
                <a:solidFill>
                  <a:schemeClr val="tx1"/>
                </a:solidFill>
                <a:effectLst/>
                <a:latin typeface="+mn-lt"/>
                <a:ea typeface="+mn-ea"/>
                <a:cs typeface="+mn-cs"/>
              </a:rPr>
              <a:t>900 journeys = 75 routes × 3 traffic conditions × 4 threshold values.</a:t>
            </a:r>
          </a:p>
          <a:p>
            <a:endParaRPr dirty="0"/>
          </a:p>
          <a:p>
            <a:r>
              <a:rPr dirty="0"/>
              <a:t>PEAK is the slowest quartile of test windows. OFF-PEAK is the fastest quartile — my negative control; a forecast and a current map ought to agree there. INCIDENT: after twenty percent of the planned Dijkstra time, corridor speeds fall to forty percent of observed. The incident sits on Dijkstra's OWN corridor, so the vehicle actually meets it.</a:t>
            </a:r>
          </a:p>
          <a:p>
            <a:endParaRPr dirty="0"/>
          </a:p>
          <a:p>
            <a:r>
              <a:rPr dirty="0"/>
              <a:t>Four baselines: dispatch practice, a typical day, a reactive router allowed one replan once the jam is visible, and an oracle using actual future speeds. WE MUST NOT BEAT THE ORACLE. If we did, the experiment would be broken.</a:t>
            </a:r>
          </a:p>
          <a:p>
            <a:endParaRPr dirty="0"/>
          </a:p>
          <a:p>
            <a:r>
              <a:rPr dirty="0"/>
              <a:t>And the honesty of the clock: predicted costs CHOOSE the path; every method is then WALKED on actual future speeds. No method is scored on its own forecast.</a:t>
            </a:r>
          </a:p>
          <a:p>
            <a:endParaRPr dirty="0"/>
          </a:p>
          <a:p>
            <a:r>
              <a:rPr dirty="0"/>
              <a:t>&gt; ADVANCE at 6:00.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Objective two. Can a light GRU forecast the next half hour well enough to RANK ROADS?</a:t>
            </a:r>
          </a:p>
          <a:p>
            <a:endParaRPr dirty="0"/>
          </a:p>
          <a:p>
            <a:r>
              <a:rPr dirty="0"/>
              <a:t>On Los Angeles: test mean absolute error three point four eight miles per hour, RMSE six point zero four, early stopping at twenty-seven epochs. On the Bay Area, a separate model: two point three eight MAE, RMSE four point four nine, seventy-nine epochs.</a:t>
            </a:r>
          </a:p>
          <a:p>
            <a:endParaRPr dirty="0"/>
          </a:p>
          <a:p>
            <a:r>
              <a:rPr dirty="0"/>
              <a:t>on held-out Los Angeles detectors the forecast is on average about three and a half miles per hour off. That is inside the three point one to four point two band already published for comparable GRUs.</a:t>
            </a:r>
          </a:p>
          <a:p>
            <a:endParaRPr dirty="0"/>
          </a:p>
          <a:p>
            <a:r>
              <a:rPr dirty="0"/>
              <a:t>The Bay error is lower because those freeways are smoother. Not Los Angeles failing — and I never routed Bay speeds on Los Angeles edges.</a:t>
            </a:r>
          </a:p>
          <a:p>
            <a:endParaRPr dirty="0"/>
          </a:p>
          <a:p>
            <a:r>
              <a:rPr i="1" dirty="0"/>
              <a:t>A spatial-temporal graph network WOULD beat this MAE. I chose a two-layer GRU deliberately: the loop has to answer inside one second, and the router needs edges RANKED correctly more than predicted perfectly.</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Objective three. LEFT panel: travel-time </a:t>
            </a:r>
            <a:r>
              <a:rPr lang="en-US" dirty="0"/>
              <a:t>reduction</a:t>
            </a:r>
            <a:r>
              <a:rPr dirty="0"/>
              <a:t> versus Dijkstra at each delta. RIGHT panel: replans per journey. Lower delta means more sensitive, so more alerts.</a:t>
            </a:r>
          </a:p>
          <a:p>
            <a:endParaRPr dirty="0"/>
          </a:p>
          <a:p>
            <a:r>
              <a:rPr dirty="0"/>
              <a:t>N is </a:t>
            </a:r>
            <a:r>
              <a:rPr lang="en-US" dirty="0"/>
              <a:t>225</a:t>
            </a:r>
            <a:r>
              <a:rPr dirty="0"/>
              <a:t> per delta — </a:t>
            </a:r>
            <a:r>
              <a:rPr lang="en-US" dirty="0"/>
              <a:t>75</a:t>
            </a:r>
            <a:r>
              <a:rPr dirty="0"/>
              <a:t> pairs </a:t>
            </a:r>
            <a:r>
              <a:rPr lang="en-US" dirty="0"/>
              <a:t>x 3</a:t>
            </a:r>
            <a:r>
              <a:rPr dirty="0"/>
              <a:t>scenarios, pooled. </a:t>
            </a:r>
          </a:p>
          <a:p>
            <a:r>
              <a:rPr dirty="0"/>
              <a:t>Look</a:t>
            </a:r>
            <a:r>
              <a:rPr lang="en-US" dirty="0"/>
              <a:t>ing</a:t>
            </a:r>
            <a:r>
              <a:rPr dirty="0"/>
              <a:t> at the left panel. THE LINE IS FLAT. </a:t>
            </a:r>
            <a:r>
              <a:rPr lang="en-US" dirty="0"/>
              <a:t>5, 10, 15, 20</a:t>
            </a:r>
            <a:r>
              <a:rPr dirty="0"/>
              <a:t>— about five point seven percent every time. ANOVA gives F approximately zero point zero </a:t>
            </a:r>
            <a:r>
              <a:rPr dirty="0" err="1"/>
              <a:t>zero</a:t>
            </a:r>
            <a:r>
              <a:rPr dirty="0"/>
              <a:t> one, p equals one point zero </a:t>
            </a:r>
            <a:r>
              <a:rPr dirty="0" err="1"/>
              <a:t>zero</a:t>
            </a:r>
            <a:r>
              <a:rPr dirty="0"/>
              <a:t>.</a:t>
            </a:r>
          </a:p>
          <a:p>
            <a:endParaRPr dirty="0"/>
          </a:p>
          <a:p>
            <a:r>
              <a:rPr dirty="0"/>
              <a:t>THAT IS NOT A FAILED EXPERIMENT. It means the four policies are interchangeable on travel time. Why? In the incident scenario the corridor drops to forty percent of observed speed, so remaining time jumps well past twenty percent. Even the strictest policy still fires — about one point zero three replans per incident journey at every setting.</a:t>
            </a:r>
          </a:p>
          <a:p>
            <a:endParaRPr dirty="0"/>
          </a:p>
          <a:p>
            <a:r>
              <a:rPr dirty="0"/>
              <a:t>When travel time is identical, decision-support theory prefers the QUIETER alert. That is delta zero point two zero: replans fall from zero point four five to zero point three nine.</a:t>
            </a:r>
          </a:p>
          <a:p>
            <a:endParaRPr lang="en-US" dirty="0"/>
          </a:p>
          <a:p>
            <a:r>
              <a:rPr dirty="0"/>
              <a:t>After </a:t>
            </a:r>
            <a:r>
              <a:rPr lang="en-US" dirty="0"/>
              <a:t>training and validation</a:t>
            </a:r>
            <a:r>
              <a:rPr dirty="0"/>
              <a:t>, zero point two zero is the RECOMMENDED DEFAULT. </a:t>
            </a:r>
            <a:br>
              <a:rPr lang="en-US" dirty="0"/>
            </a:br>
            <a:endParaRPr lang="en-US" dirty="0"/>
          </a:p>
          <a:p>
            <a:r>
              <a:rPr lang="en-KE" b="1" i="1" dirty="0"/>
              <a:t>N = 225.</a:t>
            </a:r>
            <a:r>
              <a:rPr lang="en-KE" i="1" dirty="0"/>
              <a:t> It's the number of simulated journeys</a:t>
            </a:r>
            <a:endParaRPr i="1"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bars are mean journey time in seconds — clock time from origin to destination, after every method is driven on the real future speeds.</a:t>
            </a:r>
          </a:p>
          <a:p>
            <a:endParaRPr dirty="0"/>
          </a:p>
          <a:p>
            <a:r>
              <a:rPr dirty="0"/>
              <a:t>Start with the INCIDENT cluster. Dijkstra averages seven hundred and twenty-seven point five seconds. </a:t>
            </a:r>
            <a:r>
              <a:rPr lang="en-US" dirty="0"/>
              <a:t>The framework averages 599 seconds. That is about two minutes and ten seconds saved on that test graph when the planned road is disrupted. Reactive A-star, which replans once the jam is already on the snapshot, is 604 seconds — close to us. The framework remains below the oracle (−1.69% overall), as required for a valid upper bound. Since oracle knows the actual future speeds. Our system only has a forecast. Sitting a little behind the oracle</a:t>
            </a:r>
          </a:p>
          <a:p>
            <a:endParaRPr dirty="0"/>
          </a:p>
          <a:p>
            <a:r>
              <a:rPr dirty="0"/>
              <a:t>TWO THINGS TO NOTICE.</a:t>
            </a:r>
          </a:p>
          <a:p>
            <a:endParaRPr dirty="0"/>
          </a:p>
          <a:p>
            <a:r>
              <a:rPr lang="en-US" dirty="0"/>
              <a:t>reactive A-star is close. Once the slowdown is visible in current speeds, a thirty-minute forecast adds little. The value of the GRU is anticipatory: it can divert before the vehicle is fully committed. That is the keen reading of this figure. We are not claiming to dominate a reactive router after the jam is obvious.</a:t>
            </a:r>
          </a:p>
          <a:p>
            <a:endParaRPr lang="en-US" dirty="0"/>
          </a:p>
          <a:p>
            <a:r>
              <a:rPr lang="en-US" dirty="0"/>
              <a:t>Peak. Both methods are around 510 seconds. A small real gap — the network is busy in every direction.</a:t>
            </a:r>
          </a:p>
          <a:p>
            <a:endParaRPr lang="en-US" dirty="0"/>
          </a:p>
          <a:p>
            <a:r>
              <a:rPr lang="en-US" dirty="0"/>
              <a:t>Off-peak. Every serious method sits near 403 seconds. Empty roads are the control. A forecast and a current map should agree. They do. That is success.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
            </a:r>
            <a:r>
              <a:rPr lang="en-US" dirty="0"/>
              <a:t>is is the</a:t>
            </a:r>
            <a:r>
              <a:rPr dirty="0"/>
              <a:t> same experiment, now as a percentage against Dijkstra. N equals three hundred per scenario — seventy-five pairs times four deltas</a:t>
            </a:r>
            <a:r>
              <a:rPr lang="en-US" dirty="0"/>
              <a:t> values</a:t>
            </a:r>
            <a:r>
              <a:rPr dirty="0"/>
              <a:t>. </a:t>
            </a:r>
            <a:r>
              <a:rPr lang="en-US" dirty="0"/>
              <a:t>We can pool delta because Objective 3 showed travel time does not depend on which of the four policies we pick. Three hundred is one traffic scenario.</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Percentage reduction: how much shorter the framework journey is than Dijkstra’s, on the same origin, destination, and clock. Positive means we were faster.</a:t>
            </a:r>
          </a:p>
          <a:p>
            <a:endParaRPr dirty="0"/>
          </a:p>
          <a:p>
            <a:r>
              <a:rPr lang="en-US" dirty="0"/>
              <a:t>Incident: plus 16.19 percent. t is 26.43, p less than .001. About one replan per journey. That is the result that matches the purpose: when the planned corridor breaks, looking thirty minutes ahead and triggering on remaining time cuts </a:t>
            </a:r>
            <a:r>
              <a:rPr lang="en-US" dirty="0" err="1"/>
              <a:t>realised</a:t>
            </a:r>
            <a:r>
              <a:rPr lang="en-US" dirty="0"/>
              <a:t> delay.</a:t>
            </a:r>
          </a:p>
          <a:p>
            <a:endParaRPr lang="en-US" dirty="0"/>
          </a:p>
          <a:p>
            <a:r>
              <a:rPr lang="en-US" dirty="0"/>
              <a:t>Peak: plus 1.03 percent. Statistically detectable, p equals .0002. Operationally small. The network is busy in every direction.</a:t>
            </a:r>
          </a:p>
          <a:p>
            <a:endParaRPr lang="en-US" dirty="0"/>
          </a:p>
          <a:p>
            <a:r>
              <a:rPr lang="en-US" dirty="0"/>
              <a:t>Off-peak: plus 0.01 percent, p equals .90. Not significant. The negative control held.</a:t>
            </a:r>
          </a:p>
          <a:p>
            <a:endParaRPr dirty="0"/>
          </a:p>
          <a:p>
            <a:r>
              <a:rPr lang="en-US" dirty="0" err="1"/>
              <a:t>overal</a:t>
            </a:r>
            <a:r>
              <a:rPr lang="en-US" dirty="0"/>
              <a:t> I have achieved +5.74% on the </a:t>
            </a:r>
            <a:r>
              <a:rPr dirty="0"/>
              <a:t>MIXTURE of three regimes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figure is not travel time — it is compute time, it shows how long each module takes to run.</a:t>
            </a:r>
          </a:p>
          <a:p>
            <a:r>
              <a:rPr lang="en-US" dirty="0"/>
              <a:t>Left: time-dependent A-star search </a:t>
            </a:r>
            <a:r>
              <a:rPr lang="en-US" i="1" dirty="0"/>
              <a:t>averages 0.37 milliseconds</a:t>
            </a:r>
            <a:r>
              <a:rPr lang="en-US" dirty="0"/>
              <a:t>, well under one millisecond in every scenario, </a:t>
            </a:r>
          </a:p>
          <a:p>
            <a:r>
              <a:rPr lang="en-US" dirty="0"/>
              <a:t>Right: GRU inference, about 39.3 </a:t>
            </a:r>
            <a:r>
              <a:rPr lang="en-US" dirty="0" err="1"/>
              <a:t>milliseconds</a:t>
            </a:r>
            <a:r>
              <a:rPr dirty="0" err="1"/>
              <a:t>Combined</a:t>
            </a:r>
            <a:r>
              <a:rPr dirty="0"/>
              <a:t>, about </a:t>
            </a:r>
            <a:r>
              <a:rPr lang="en-US" dirty="0"/>
              <a:t>40 </a:t>
            </a:r>
            <a:r>
              <a:rPr dirty="0"/>
              <a:t>milliseconds, roughly twenty-five times inside the one-thousand-millisecond dispatch budget.</a:t>
            </a:r>
          </a:p>
          <a:p>
            <a:endParaRPr dirty="0"/>
          </a:p>
          <a:p>
            <a:r>
              <a:rPr dirty="0"/>
              <a:t>Note which module is the slower one: THE PREDICTOR, NOT THE ROUTER. </a:t>
            </a:r>
            <a:r>
              <a:rPr lang="en-US" dirty="0"/>
              <a:t>Incident, peak, and off-peak all look the same — the loop meets the one-second (1000 </a:t>
            </a:r>
            <a:r>
              <a:rPr lang="en-KE" dirty="0"/>
              <a:t>milliseconds </a:t>
            </a:r>
            <a:r>
              <a:rPr lang="en-US" dirty="0"/>
              <a:t>) which is the </a:t>
            </a:r>
            <a:r>
              <a:rPr lang="en-KE" dirty="0"/>
              <a:t>operational limit — for the system to return a route recommendation after a dispatcher request. </a:t>
            </a:r>
            <a:endParaRPr lang="en-US" dirty="0"/>
          </a:p>
          <a:p>
            <a:endParaRPr dirty="0"/>
          </a:p>
          <a:p>
            <a:r>
              <a:rPr dirty="0"/>
              <a:t>&gt; ADVANCE at 12:25.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percentages describe Los Angeles </a:t>
            </a:r>
            <a:r>
              <a:rPr lang="en-US" dirty="0"/>
              <a:t>&amp; Bay </a:t>
            </a:r>
            <a:r>
              <a:rPr lang="en-US" dirty="0" err="1"/>
              <a:t>area</a:t>
            </a:r>
            <a:r>
              <a:rPr dirty="0" err="1"/>
              <a:t>FREEWAY</a:t>
            </a:r>
            <a:r>
              <a:rPr dirty="0"/>
              <a:t> detectors with a sensor on every edge. </a:t>
            </a:r>
            <a:r>
              <a:rPr lang="en-US" dirty="0"/>
              <a:t>Transfer to a mixed-traffic city like Nairobi needs local sensors </a:t>
            </a:r>
            <a:r>
              <a:rPr dirty="0"/>
              <a:t>They are not mixed traffic</a:t>
            </a:r>
            <a:r>
              <a:rPr lang="en-US" dirty="0"/>
              <a:t> </a:t>
            </a:r>
            <a:r>
              <a:rPr dirty="0"/>
              <a:t>— and here is what I already did about it.</a:t>
            </a:r>
          </a:p>
          <a:p>
            <a:endParaRPr dirty="0"/>
          </a:p>
          <a:p>
            <a:r>
              <a:rPr lang="en-US" dirty="0"/>
              <a:t>I did not route on a sparse street map and fill missing roads with guessed free-flow. I used the detector graph so every edge had a measured speed. I also </a:t>
            </a:r>
            <a:r>
              <a:rPr lang="en-US" dirty="0" err="1"/>
              <a:t>downsample</a:t>
            </a:r>
            <a:r>
              <a:rPr lang="en-US" dirty="0"/>
              <a:t> that same graph to 10-30% percent coverage and repeat the nine hundred journeys </a:t>
            </a:r>
            <a:br>
              <a:rPr lang="en-US" dirty="0"/>
            </a:br>
            <a:endParaRPr dirty="0"/>
          </a:p>
          <a:p>
            <a:r>
              <a:rPr dirty="0"/>
              <a:t>I did NOT let the future leak into training: chronological split, scaler fitted on training rows only.</a:t>
            </a:r>
          </a:p>
          <a:p>
            <a:endParaRPr dirty="0"/>
          </a:p>
          <a:p>
            <a:r>
              <a:rPr dirty="0"/>
              <a:t>I did NOT score any method on its own forecast — all five walked the actual future speeds.</a:t>
            </a:r>
          </a:p>
          <a:p>
            <a:endParaRPr dirty="0"/>
          </a:p>
          <a:p>
            <a:r>
              <a:rPr dirty="0"/>
              <a:t>I did NOT compare against a weak baseline alone: </a:t>
            </a:r>
            <a:r>
              <a:rPr lang="en-US" dirty="0"/>
              <a:t>The small gap to reactive, and the small gap behind the oracle, are part of the result.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[13:40 – 14:15  ·  35 sec]</a:t>
            </a:r>
          </a:p>
          <a:p>
            <a:endParaRPr dirty="0"/>
          </a:p>
          <a:p>
            <a:r>
              <a:rPr dirty="0"/>
              <a:t>Three findings.</a:t>
            </a:r>
          </a:p>
          <a:p>
            <a:endParaRPr dirty="0"/>
          </a:p>
          <a:p>
            <a:r>
              <a:rPr dirty="0"/>
              <a:t>ONE. </a:t>
            </a:r>
            <a:r>
              <a:rPr lang="en-US" dirty="0"/>
              <a:t>Under incident conditions the framework cut current-map Dijkstra time by 16.19 percent — about 599 seconds versus 728 — with about one replan per journey.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TWO. </a:t>
            </a:r>
            <a:r>
              <a:rPr lang="en-US" dirty="0"/>
              <a:t>Delta from 5 to 20 percent did not change travel time. I recommend 0.20 </a:t>
            </a:r>
            <a:r>
              <a:rPr dirty="0"/>
              <a:t>with quieter</a:t>
            </a:r>
            <a:r>
              <a:rPr lang="en-US" dirty="0"/>
              <a:t>/less noisy or disrupting</a:t>
            </a:r>
            <a:r>
              <a:rPr dirty="0"/>
              <a:t> alerts.</a:t>
            </a:r>
          </a:p>
          <a:p>
            <a:endParaRPr dirty="0"/>
          </a:p>
          <a:p>
            <a:r>
              <a:rPr dirty="0"/>
              <a:t>THREE. Combined</a:t>
            </a:r>
            <a:r>
              <a:rPr lang="en-US" dirty="0"/>
              <a:t> system</a:t>
            </a:r>
            <a:r>
              <a:rPr dirty="0"/>
              <a:t> latency is about </a:t>
            </a:r>
            <a:r>
              <a:rPr lang="en-US" dirty="0"/>
              <a:t>40</a:t>
            </a:r>
            <a:r>
              <a:rPr dirty="0"/>
              <a:t> milliseconds. The binding constraint on deployment is SENSOR COVERAGE, NOT COMPUTE.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[14:15 – 15:00  ·  45 sec]  — CLOSE FIRMLY, THEN STOP TALKING.</a:t>
            </a:r>
          </a:p>
          <a:p>
            <a:endParaRPr dirty="0"/>
          </a:p>
          <a:p>
            <a:r>
              <a:rPr dirty="0"/>
              <a:t>To conclude, against the objectives. The gap was confirmed, and closed by</a:t>
            </a:r>
            <a:r>
              <a:rPr lang="en-US" dirty="0"/>
              <a:t> construction. </a:t>
            </a:r>
            <a:r>
              <a:rPr dirty="0"/>
              <a:t>The three components ran together inside the one-second budget. Delta zero point two zero is the MEASURED operational default, not the planned one. And the reduction is </a:t>
            </a:r>
            <a:r>
              <a:rPr lang="en-US" dirty="0"/>
              <a:t>dispatch traffic scenario</a:t>
            </a:r>
            <a:r>
              <a:rPr dirty="0"/>
              <a:t>-specific — large under incidents, small in peak, </a:t>
            </a:r>
            <a:r>
              <a:rPr lang="en-US" dirty="0"/>
              <a:t>smaller in </a:t>
            </a:r>
            <a:r>
              <a:rPr dirty="0"/>
              <a:t> off-peak, and always below the oracle.</a:t>
            </a:r>
          </a:p>
          <a:p>
            <a:endParaRPr dirty="0"/>
          </a:p>
          <a:p>
            <a:r>
              <a:rPr dirty="0"/>
              <a:t>My recommendations: adopt delta zero point two zero; invest in detector coverage before compute; and</a:t>
            </a:r>
            <a:r>
              <a:rPr lang="en-US" dirty="0"/>
              <a:t> </a:t>
            </a:r>
            <a:r>
              <a:rPr lang="en-KE" dirty="0"/>
              <a:t>apply the experiment to a </a:t>
            </a:r>
            <a:r>
              <a:rPr lang="en-KE" dirty="0" err="1"/>
              <a:t>downsampled</a:t>
            </a:r>
            <a:r>
              <a:rPr lang="en-KE" dirty="0"/>
              <a:t> graph that simulates a sparse-sensor network in Nairobi.</a:t>
            </a:r>
            <a:endParaRPr dirty="0"/>
          </a:p>
          <a:p>
            <a:br>
              <a:rPr lang="en-US" dirty="0"/>
            </a:br>
            <a:r>
              <a:rPr i="1" dirty="0"/>
              <a:t>Thank you. I welcome your questions.</a:t>
            </a:r>
          </a:p>
          <a:p>
            <a:endParaRPr dirty="0"/>
          </a:p>
          <a:p>
            <a:r>
              <a:rPr dirty="0"/>
              <a:t>════════════════════════════════════════════</a:t>
            </a:r>
          </a:p>
          <a:p>
            <a:r>
              <a:rPr dirty="0"/>
              <a:t>Q&amp;A CRIB SHEET — answer in one of these frames</a:t>
            </a:r>
          </a:p>
          <a:p>
            <a:r>
              <a:rPr dirty="0"/>
              <a:t>════════════════════════════════════════════</a:t>
            </a:r>
          </a:p>
          <a:p>
            <a:endParaRPr dirty="0"/>
          </a:p>
          <a:p>
            <a:r>
              <a:rPr dirty="0"/>
              <a:t>WHAT DOES N MEAN?  900 is the whole study. 225 is one delta across three scenarios. 300 is one scenario across four deltas.</a:t>
            </a:r>
          </a:p>
          <a:p>
            <a:endParaRPr dirty="0"/>
          </a:p>
          <a:p>
            <a:r>
              <a:rPr dirty="0"/>
              <a:t>WHY NOT NAIROBI DATA?  I needed a public, fully instrumented archive so the 900-run can be reproduced. The METHOD transfers; these PERCENTAGES do not, until local detectors exist. That is why the next experiment </a:t>
            </a:r>
            <a:r>
              <a:rPr dirty="0" err="1"/>
              <a:t>downsamples</a:t>
            </a:r>
            <a:r>
              <a:rPr dirty="0"/>
              <a:t> this graph rather than guessing Nairobi speeds.</a:t>
            </a:r>
          </a:p>
          <a:p>
            <a:endParaRPr dirty="0"/>
          </a:p>
          <a:p>
            <a:r>
              <a:rPr dirty="0"/>
              <a:t>WHY SO CLOSE TO REACTIVE A*?  Once the jam is on the snapshot, a 30-minute forecast adds little. The gain is BEFORE that moment. The 0.61% margin is the residual value of the horizon, and I report it rather than hide it.</a:t>
            </a:r>
          </a:p>
          <a:p>
            <a:endParaRPr dirty="0"/>
          </a:p>
          <a:p>
            <a:r>
              <a:rPr dirty="0"/>
              <a:t>WHY p = 1.00 ON DELTA?  The four policies are interchangeable ON TRAVEL TIME. F ≈ 0.001 is the ratio of between-policy variance to residual variance — near zero because the group means coincide. It is not evidence the controller never replanned; incident journeys averaged 1.03 replans.</a:t>
            </a:r>
          </a:p>
          <a:p>
            <a:endParaRPr dirty="0"/>
          </a:p>
          <a:p>
            <a:r>
              <a:rPr dirty="0"/>
              <a:t>WHY IS OFF-PEAK ZERO?  That was the negative control. Empty roads should not need a forecast. A non-zero result there would have suggested an artefact.</a:t>
            </a:r>
          </a:p>
          <a:p>
            <a:endParaRPr dirty="0"/>
          </a:p>
          <a:p>
            <a:r>
              <a:rPr dirty="0"/>
              <a:t>WHY GRU AND NOT A GRAPH NETWORK?  A GNN would lower MAE. The requirement was a sub-second loop, and the router needs correct RANKING of edges more than perfect speeds. Jeong et al. (2021) support GRU parity with LSTM at lower cost. A GNN variant is stated as further work.</a:t>
            </a:r>
          </a:p>
          <a:p>
            <a:endParaRPr dirty="0"/>
          </a:p>
          <a:p>
            <a:r>
              <a:rPr dirty="0"/>
              <a:t>DID YOU BEAT THE ORACLE?  No — 1.69% slower. Required. Beating it would indicate leakage or a scoring error.</a:t>
            </a:r>
          </a:p>
          <a:p>
            <a:endParaRPr dirty="0"/>
          </a:p>
          <a:p>
            <a:r>
              <a:rPr dirty="0"/>
              <a:t>WHY IMPUTE ZEROS WITH THE SENSOR MEAN?  It is a stated limitation. A dropped detector is not a stationary vehicle, and mean-fill flattens genuine congestion. Masked loss is the improvement I would make next.</a:t>
            </a:r>
          </a:p>
          <a:p>
            <a:endParaRPr dirty="0"/>
          </a:p>
          <a:p>
            <a:r>
              <a:rPr dirty="0"/>
              <a:t>IS THIS FIFO-SAFE?  Yes — predicted edge times are clipped to a one-second minimum, which enforces FIFO and keeps the haversine heuristic admissible.</a:t>
            </a:r>
          </a:p>
          <a:p>
            <a:endParaRPr dirty="0"/>
          </a:p>
          <a:p>
            <a:r>
              <a:rPr dirty="0"/>
              <a:t>CODE AND FIGURES:  github.com/Freshia-Njoki/Emergency_Routing. Every table in Chapters 4 and 5 traces to results/full_report.txt.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972800" cy="1554480"/>
          </a:xfrm>
          <a:prstGeom prst="rect">
            <a:avLst/>
          </a:prstGeom>
          <a:noFill/>
        </p:spPr>
        <p:txBody>
          <a:bodyPr wrap="square">
            <a:spAutoFit/>
          </a:bodyPr>
          <a:lstStyle/>
          <a:p>
            <a:pPr algn="l"/>
            <a:r>
              <a:rPr sz="3200" b="1" dirty="0">
                <a:solidFill>
                  <a:srgbClr val="FFFFFF"/>
                </a:solidFill>
                <a:latin typeface="Cambria"/>
              </a:rPr>
              <a:t>GRU-Based Predictive Route </a:t>
            </a:r>
            <a:r>
              <a:rPr sz="3200" b="1" dirty="0" err="1">
                <a:solidFill>
                  <a:srgbClr val="FFFFFF"/>
                </a:solidFill>
                <a:latin typeface="Cambria"/>
              </a:rPr>
              <a:t>Optimisation</a:t>
            </a:r>
            <a:r>
              <a:rPr sz="3200" b="1" dirty="0">
                <a:solidFill>
                  <a:srgbClr val="FFFFFF"/>
                </a:solidFill>
                <a:latin typeface="Cambria"/>
              </a:rPr>
              <a:t>
for Emergency Vehicle Navigation</a:t>
            </a:r>
          </a:p>
        </p:txBody>
      </p:sp>
      <p:sp>
        <p:nvSpPr>
          <p:cNvPr id="5" name="Rectangle 4"/>
          <p:cNvSpPr/>
          <p:nvPr/>
        </p:nvSpPr>
        <p:spPr>
          <a:xfrm>
            <a:off x="548640" y="2606040"/>
            <a:ext cx="2743200" cy="54864"/>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063240"/>
            <a:ext cx="10972800" cy="365760"/>
          </a:xfrm>
          <a:prstGeom prst="rect">
            <a:avLst/>
          </a:prstGeom>
          <a:noFill/>
        </p:spPr>
        <p:txBody>
          <a:bodyPr wrap="square">
            <a:spAutoFit/>
          </a:bodyPr>
          <a:lstStyle/>
          <a:p>
            <a:pPr algn="l"/>
            <a:r>
              <a:rPr sz="1800" b="0" dirty="0">
                <a:solidFill>
                  <a:srgbClr val="CADCFC"/>
                </a:solidFill>
                <a:latin typeface="Calibri"/>
              </a:rPr>
              <a:t>Freshia Njoki </a:t>
            </a:r>
            <a:r>
              <a:rPr lang="en-US" dirty="0">
                <a:solidFill>
                  <a:srgbClr val="CADCFC"/>
                </a:solidFill>
                <a:latin typeface="Calibri"/>
              </a:rPr>
              <a:t>		</a:t>
            </a:r>
            <a:r>
              <a:rPr sz="1800" b="0" dirty="0">
                <a:solidFill>
                  <a:srgbClr val="CADCFC"/>
                </a:solidFill>
                <a:latin typeface="Calibri"/>
              </a:rPr>
              <a:t>PA206/S/25427/24</a:t>
            </a:r>
          </a:p>
        </p:txBody>
      </p:sp>
      <p:sp>
        <p:nvSpPr>
          <p:cNvPr id="7" name="TextBox 6"/>
          <p:cNvSpPr txBox="1"/>
          <p:nvPr/>
        </p:nvSpPr>
        <p:spPr>
          <a:xfrm>
            <a:off x="548640" y="3643997"/>
            <a:ext cx="10972800" cy="338554"/>
          </a:xfrm>
          <a:prstGeom prst="rect">
            <a:avLst/>
          </a:prstGeom>
          <a:noFill/>
        </p:spPr>
        <p:txBody>
          <a:bodyPr wrap="square">
            <a:spAutoFit/>
          </a:bodyPr>
          <a:lstStyle/>
          <a:p>
            <a:pPr algn="l"/>
            <a:r>
              <a:rPr sz="1600" b="0" dirty="0">
                <a:solidFill>
                  <a:srgbClr val="A0B0D0"/>
                </a:solidFill>
                <a:latin typeface="Calibri"/>
              </a:rPr>
              <a:t>MSc Computer Science, Kirinyaga University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04566"/>
            <a:ext cx="10972800" cy="492443"/>
          </a:xfrm>
          <a:prstGeom prst="rect">
            <a:avLst/>
          </a:prstGeom>
          <a:noFill/>
        </p:spPr>
        <p:txBody>
          <a:bodyPr wrap="square">
            <a:spAutoFit/>
          </a:bodyPr>
          <a:lstStyle/>
          <a:p>
            <a:pPr algn="l"/>
            <a:r>
              <a:rPr lang="en-US" sz="2600" b="1" dirty="0">
                <a:solidFill>
                  <a:srgbClr val="FFFFFF"/>
                </a:solidFill>
                <a:latin typeface="Cambria"/>
              </a:rPr>
              <a:t>Statement of the</a:t>
            </a:r>
            <a:r>
              <a:rPr sz="2600" b="1" dirty="0">
                <a:solidFill>
                  <a:srgbClr val="FFFFFF"/>
                </a:solidFill>
                <a:latin typeface="Cambria"/>
              </a:rPr>
              <a:t> problem</a:t>
            </a:r>
          </a:p>
        </p:txBody>
      </p:sp>
      <p:sp>
        <p:nvSpPr>
          <p:cNvPr id="4" name="Rounded Rectangle 3"/>
          <p:cNvSpPr/>
          <p:nvPr/>
        </p:nvSpPr>
        <p:spPr>
          <a:xfrm>
            <a:off x="457200" y="987552"/>
            <a:ext cx="11247120" cy="138988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71016"/>
            <a:ext cx="10744200" cy="615553"/>
          </a:xfrm>
          <a:prstGeom prst="rect">
            <a:avLst/>
          </a:prstGeom>
          <a:noFill/>
        </p:spPr>
        <p:txBody>
          <a:bodyPr wrap="square">
            <a:spAutoFit/>
          </a:bodyPr>
          <a:lstStyle/>
          <a:p>
            <a:pPr algn="l"/>
            <a:r>
              <a:rPr sz="1700" b="0" dirty="0">
                <a:solidFill>
                  <a:srgbClr val="FFFFFF"/>
                </a:solidFill>
                <a:latin typeface="Calibri"/>
              </a:rPr>
              <a:t>A route that is shortest at dispatch is optimal only for the speeds seen at that moment. If a corridor slows fifteen to thirty minutes later, the vehicle is already committed. That is the failure this study treats.</a:t>
            </a:r>
          </a:p>
        </p:txBody>
      </p:sp>
      <p:sp>
        <p:nvSpPr>
          <p:cNvPr id="6" name="Rounded Rectangle 5"/>
          <p:cNvSpPr/>
          <p:nvPr/>
        </p:nvSpPr>
        <p:spPr>
          <a:xfrm>
            <a:off x="457200" y="2560320"/>
            <a:ext cx="11247120" cy="111556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670048"/>
            <a:ext cx="10789920" cy="338554"/>
          </a:xfrm>
          <a:prstGeom prst="rect">
            <a:avLst/>
          </a:prstGeom>
          <a:noFill/>
        </p:spPr>
        <p:txBody>
          <a:bodyPr wrap="square">
            <a:spAutoFit/>
          </a:bodyPr>
          <a:lstStyle/>
          <a:p>
            <a:pPr algn="l"/>
            <a:r>
              <a:rPr sz="1600" b="1" dirty="0">
                <a:solidFill>
                  <a:srgbClr val="E8A838"/>
                </a:solidFill>
                <a:latin typeface="Calibri"/>
              </a:rPr>
              <a:t>What dispatch does</a:t>
            </a:r>
          </a:p>
        </p:txBody>
      </p:sp>
      <p:sp>
        <p:nvSpPr>
          <p:cNvPr id="8" name="TextBox 7"/>
          <p:cNvSpPr txBox="1"/>
          <p:nvPr/>
        </p:nvSpPr>
        <p:spPr>
          <a:xfrm>
            <a:off x="685800" y="2980944"/>
            <a:ext cx="10789920" cy="323165"/>
          </a:xfrm>
          <a:prstGeom prst="rect">
            <a:avLst/>
          </a:prstGeom>
          <a:noFill/>
        </p:spPr>
        <p:txBody>
          <a:bodyPr wrap="square">
            <a:spAutoFit/>
          </a:bodyPr>
          <a:lstStyle/>
          <a:p>
            <a:pPr algn="l"/>
            <a:r>
              <a:rPr sz="1500" b="0" dirty="0">
                <a:solidFill>
                  <a:srgbClr val="FFFFFF"/>
                </a:solidFill>
                <a:latin typeface="Calibri"/>
              </a:rPr>
              <a:t>A current-map shortest path — Dijkstra, </a:t>
            </a:r>
            <a:r>
              <a:rPr lang="en-US" sz="1500" b="0" dirty="0">
                <a:solidFill>
                  <a:srgbClr val="FFFFFF"/>
                </a:solidFill>
                <a:latin typeface="Calibri"/>
              </a:rPr>
              <a:t>or </a:t>
            </a:r>
            <a:r>
              <a:rPr sz="1500" b="0" dirty="0">
                <a:solidFill>
                  <a:srgbClr val="FFFFFF"/>
                </a:solidFill>
                <a:latin typeface="Calibri"/>
              </a:rPr>
              <a:t>A* — using speeds available at departure.</a:t>
            </a:r>
          </a:p>
        </p:txBody>
      </p:sp>
      <p:sp>
        <p:nvSpPr>
          <p:cNvPr id="9" name="Rounded Rectangle 8"/>
          <p:cNvSpPr/>
          <p:nvPr/>
        </p:nvSpPr>
        <p:spPr>
          <a:xfrm>
            <a:off x="457200" y="3794760"/>
            <a:ext cx="11247120" cy="111556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3904488"/>
            <a:ext cx="10789920" cy="338554"/>
          </a:xfrm>
          <a:prstGeom prst="rect">
            <a:avLst/>
          </a:prstGeom>
          <a:noFill/>
        </p:spPr>
        <p:txBody>
          <a:bodyPr wrap="square">
            <a:spAutoFit/>
          </a:bodyPr>
          <a:lstStyle/>
          <a:p>
            <a:pPr algn="l"/>
            <a:r>
              <a:rPr lang="en-US" sz="1600" b="1" dirty="0">
                <a:solidFill>
                  <a:srgbClr val="E8A838"/>
                </a:solidFill>
                <a:latin typeface="Calibri"/>
              </a:rPr>
              <a:t>Identified research gap</a:t>
            </a:r>
            <a:endParaRPr sz="1600" b="1" dirty="0">
              <a:solidFill>
                <a:srgbClr val="E8A838"/>
              </a:solidFill>
              <a:latin typeface="Calibri"/>
            </a:endParaRPr>
          </a:p>
        </p:txBody>
      </p:sp>
      <p:sp>
        <p:nvSpPr>
          <p:cNvPr id="11" name="TextBox 10"/>
          <p:cNvSpPr txBox="1"/>
          <p:nvPr/>
        </p:nvSpPr>
        <p:spPr>
          <a:xfrm>
            <a:off x="685800" y="4215384"/>
            <a:ext cx="10789920" cy="594360"/>
          </a:xfrm>
          <a:prstGeom prst="rect">
            <a:avLst/>
          </a:prstGeom>
          <a:noFill/>
        </p:spPr>
        <p:txBody>
          <a:bodyPr wrap="square">
            <a:spAutoFit/>
          </a:bodyPr>
          <a:lstStyle/>
          <a:p>
            <a:pPr algn="l"/>
            <a:r>
              <a:rPr sz="1500" b="0">
                <a:solidFill>
                  <a:srgbClr val="FFFFFF"/>
                </a:solidFill>
                <a:latin typeface="Calibri"/>
              </a:rPr>
              <a:t>Strong predictors and strong time-dependent routers are usually published apart. An emergency loop that joins a learned forecast, time-dependent search, and a tested remaining-time trigger, inside one second, is missing.</a:t>
            </a:r>
          </a:p>
        </p:txBody>
      </p:sp>
      <p:sp>
        <p:nvSpPr>
          <p:cNvPr id="12" name="Rounded Rectangle 11"/>
          <p:cNvSpPr/>
          <p:nvPr/>
        </p:nvSpPr>
        <p:spPr>
          <a:xfrm>
            <a:off x="457200" y="5029200"/>
            <a:ext cx="11247120" cy="111556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5138928"/>
            <a:ext cx="10789920" cy="338554"/>
          </a:xfrm>
          <a:prstGeom prst="rect">
            <a:avLst/>
          </a:prstGeom>
          <a:noFill/>
        </p:spPr>
        <p:txBody>
          <a:bodyPr wrap="square">
            <a:spAutoFit/>
          </a:bodyPr>
          <a:lstStyle/>
          <a:p>
            <a:pPr algn="l"/>
            <a:r>
              <a:rPr lang="en-US" sz="1600" b="1" dirty="0">
                <a:solidFill>
                  <a:srgbClr val="E8A838"/>
                </a:solidFill>
                <a:latin typeface="Calibri"/>
              </a:rPr>
              <a:t>Data and test setting</a:t>
            </a:r>
            <a:endParaRPr sz="1600" b="1" dirty="0">
              <a:solidFill>
                <a:srgbClr val="E8A838"/>
              </a:solidFill>
              <a:latin typeface="Calibri"/>
            </a:endParaRPr>
          </a:p>
        </p:txBody>
      </p:sp>
      <p:sp>
        <p:nvSpPr>
          <p:cNvPr id="14" name="TextBox 13"/>
          <p:cNvSpPr txBox="1"/>
          <p:nvPr/>
        </p:nvSpPr>
        <p:spPr>
          <a:xfrm>
            <a:off x="685800" y="5449824"/>
            <a:ext cx="10789920" cy="323165"/>
          </a:xfrm>
          <a:prstGeom prst="rect">
            <a:avLst/>
          </a:prstGeom>
          <a:noFill/>
        </p:spPr>
        <p:txBody>
          <a:bodyPr wrap="square">
            <a:spAutoFit/>
          </a:bodyPr>
          <a:lstStyle/>
          <a:p>
            <a:pPr algn="l"/>
            <a:r>
              <a:rPr sz="1500" b="0" dirty="0">
                <a:solidFill>
                  <a:srgbClr val="FFFFFF"/>
                </a:solidFill>
                <a:latin typeface="Calibri"/>
              </a:rPr>
              <a:t>Public freeway detector archives (METR-LA; PEMS-BAY). Local mixed traffic is the next deployment step.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2440" y="352044"/>
            <a:ext cx="10972800" cy="492443"/>
          </a:xfrm>
          <a:prstGeom prst="rect">
            <a:avLst/>
          </a:prstGeom>
          <a:noFill/>
        </p:spPr>
        <p:txBody>
          <a:bodyPr wrap="square">
            <a:spAutoFit/>
          </a:bodyPr>
          <a:lstStyle/>
          <a:p>
            <a:pPr algn="l"/>
            <a:r>
              <a:rPr lang="en-US" sz="2600" b="1" dirty="0">
                <a:solidFill>
                  <a:srgbClr val="FFFFFF"/>
                </a:solidFill>
                <a:latin typeface="Cambria"/>
              </a:rPr>
              <a:t>P</a:t>
            </a:r>
            <a:r>
              <a:rPr sz="2600" b="1" dirty="0">
                <a:solidFill>
                  <a:srgbClr val="FFFFFF"/>
                </a:solidFill>
                <a:latin typeface="Cambria"/>
              </a:rPr>
              <a:t>urpose and </a:t>
            </a:r>
            <a:r>
              <a:rPr lang="en-US" sz="2600" b="1" dirty="0">
                <a:solidFill>
                  <a:srgbClr val="FFFFFF"/>
                </a:solidFill>
                <a:latin typeface="Cambria"/>
              </a:rPr>
              <a:t>Research O</a:t>
            </a:r>
            <a:r>
              <a:rPr sz="2600" b="1" dirty="0">
                <a:solidFill>
                  <a:srgbClr val="FFFFFF"/>
                </a:solidFill>
                <a:latin typeface="Cambria"/>
              </a:rPr>
              <a:t>bjectives</a:t>
            </a:r>
          </a:p>
        </p:txBody>
      </p:sp>
      <p:sp>
        <p:nvSpPr>
          <p:cNvPr id="4" name="Rounded Rectangle 3"/>
          <p:cNvSpPr/>
          <p:nvPr/>
        </p:nvSpPr>
        <p:spPr>
          <a:xfrm>
            <a:off x="457200" y="1152144"/>
            <a:ext cx="11247120" cy="12344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61872"/>
            <a:ext cx="10789920" cy="256032"/>
          </a:xfrm>
          <a:prstGeom prst="rect">
            <a:avLst/>
          </a:prstGeom>
          <a:noFill/>
        </p:spPr>
        <p:txBody>
          <a:bodyPr wrap="square">
            <a:spAutoFit/>
          </a:bodyPr>
          <a:lstStyle/>
          <a:p>
            <a:pPr algn="l"/>
            <a:r>
              <a:rPr sz="1400" b="1">
                <a:solidFill>
                  <a:srgbClr val="E8A838"/>
                </a:solidFill>
                <a:latin typeface="Calibri"/>
              </a:rPr>
              <a:t>Purpose</a:t>
            </a:r>
          </a:p>
        </p:txBody>
      </p:sp>
      <p:sp>
        <p:nvSpPr>
          <p:cNvPr id="6" name="TextBox 5"/>
          <p:cNvSpPr txBox="1"/>
          <p:nvPr/>
        </p:nvSpPr>
        <p:spPr>
          <a:xfrm>
            <a:off x="685800" y="1563624"/>
            <a:ext cx="10789920" cy="640080"/>
          </a:xfrm>
          <a:prstGeom prst="rect">
            <a:avLst/>
          </a:prstGeom>
          <a:noFill/>
        </p:spPr>
        <p:txBody>
          <a:bodyPr wrap="square">
            <a:spAutoFit/>
          </a:bodyPr>
          <a:lstStyle/>
          <a:p>
            <a:pPr algn="l"/>
            <a:r>
              <a:rPr sz="1600" b="0">
                <a:solidFill>
                  <a:srgbClr val="FFFFFF"/>
                </a:solidFill>
                <a:latin typeface="Calibri"/>
              </a:rPr>
              <a:t>To design and evaluate a dispatcher-support framework that cuts realised emergency-vehicle travel time by joining GRU speed forecasts, time-dependent A*, and a remaining-time threshold.</a:t>
            </a:r>
          </a:p>
        </p:txBody>
      </p:sp>
      <p:sp>
        <p:nvSpPr>
          <p:cNvPr id="7" name="Rounded Rectangle 6"/>
          <p:cNvSpPr/>
          <p:nvPr/>
        </p:nvSpPr>
        <p:spPr>
          <a:xfrm>
            <a:off x="472440" y="2953512"/>
            <a:ext cx="11247120" cy="56692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5320" y="3081528"/>
            <a:ext cx="1188720" cy="320040"/>
          </a:xfrm>
          <a:prstGeom prst="rect">
            <a:avLst/>
          </a:prstGeom>
          <a:noFill/>
        </p:spPr>
        <p:txBody>
          <a:bodyPr wrap="square">
            <a:spAutoFit/>
          </a:bodyPr>
          <a:lstStyle/>
          <a:p>
            <a:pPr algn="l"/>
            <a:r>
              <a:rPr sz="1500" b="1">
                <a:solidFill>
                  <a:srgbClr val="E8A838"/>
                </a:solidFill>
                <a:latin typeface="Calibri"/>
              </a:rPr>
              <a:t>Obj. 1</a:t>
            </a:r>
          </a:p>
        </p:txBody>
      </p:sp>
      <p:sp>
        <p:nvSpPr>
          <p:cNvPr id="9" name="TextBox 8"/>
          <p:cNvSpPr txBox="1"/>
          <p:nvPr/>
        </p:nvSpPr>
        <p:spPr>
          <a:xfrm>
            <a:off x="1935480" y="3081528"/>
            <a:ext cx="9509760" cy="347472"/>
          </a:xfrm>
          <a:prstGeom prst="rect">
            <a:avLst/>
          </a:prstGeom>
          <a:noFill/>
        </p:spPr>
        <p:txBody>
          <a:bodyPr wrap="square">
            <a:spAutoFit/>
          </a:bodyPr>
          <a:lstStyle/>
          <a:p>
            <a:pPr algn="l"/>
            <a:r>
              <a:rPr sz="1500" b="0">
                <a:solidFill>
                  <a:srgbClr val="FFFFFF"/>
                </a:solidFill>
                <a:latin typeface="Calibri"/>
              </a:rPr>
              <a:t>Map the gaps among emergency routing, traffic prediction, and time-dependent pathfinding.</a:t>
            </a:r>
          </a:p>
        </p:txBody>
      </p:sp>
      <p:sp>
        <p:nvSpPr>
          <p:cNvPr id="10" name="Rounded Rectangle 9"/>
          <p:cNvSpPr/>
          <p:nvPr/>
        </p:nvSpPr>
        <p:spPr>
          <a:xfrm>
            <a:off x="472440" y="3593592"/>
            <a:ext cx="11247120" cy="56692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5320" y="3721608"/>
            <a:ext cx="1188720" cy="320040"/>
          </a:xfrm>
          <a:prstGeom prst="rect">
            <a:avLst/>
          </a:prstGeom>
          <a:noFill/>
        </p:spPr>
        <p:txBody>
          <a:bodyPr wrap="square">
            <a:spAutoFit/>
          </a:bodyPr>
          <a:lstStyle/>
          <a:p>
            <a:pPr algn="l"/>
            <a:r>
              <a:rPr sz="1500" b="1">
                <a:solidFill>
                  <a:srgbClr val="E8A838"/>
                </a:solidFill>
                <a:latin typeface="Calibri"/>
              </a:rPr>
              <a:t>Obj. 2</a:t>
            </a:r>
          </a:p>
        </p:txBody>
      </p:sp>
      <p:sp>
        <p:nvSpPr>
          <p:cNvPr id="12" name="TextBox 11"/>
          <p:cNvSpPr txBox="1"/>
          <p:nvPr/>
        </p:nvSpPr>
        <p:spPr>
          <a:xfrm>
            <a:off x="1935480" y="3721608"/>
            <a:ext cx="9509760" cy="347472"/>
          </a:xfrm>
          <a:prstGeom prst="rect">
            <a:avLst/>
          </a:prstGeom>
          <a:noFill/>
        </p:spPr>
        <p:txBody>
          <a:bodyPr wrap="square">
            <a:spAutoFit/>
          </a:bodyPr>
          <a:lstStyle/>
          <a:p>
            <a:pPr algn="l"/>
            <a:r>
              <a:rPr sz="1500" b="0">
                <a:solidFill>
                  <a:srgbClr val="FFFFFF"/>
                </a:solidFill>
                <a:latin typeface="Calibri"/>
              </a:rPr>
              <a:t>Build the three-part system: GRU predictor, time-dependent A*, remaining-time controller.</a:t>
            </a:r>
          </a:p>
        </p:txBody>
      </p:sp>
      <p:sp>
        <p:nvSpPr>
          <p:cNvPr id="13" name="Rounded Rectangle 12"/>
          <p:cNvSpPr/>
          <p:nvPr/>
        </p:nvSpPr>
        <p:spPr>
          <a:xfrm>
            <a:off x="472440" y="4233672"/>
            <a:ext cx="11247120" cy="56692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5320" y="4361688"/>
            <a:ext cx="1188720" cy="320040"/>
          </a:xfrm>
          <a:prstGeom prst="rect">
            <a:avLst/>
          </a:prstGeom>
          <a:noFill/>
        </p:spPr>
        <p:txBody>
          <a:bodyPr wrap="square">
            <a:spAutoFit/>
          </a:bodyPr>
          <a:lstStyle/>
          <a:p>
            <a:pPr algn="l"/>
            <a:r>
              <a:rPr sz="1500" b="1" dirty="0">
                <a:solidFill>
                  <a:srgbClr val="E8A838"/>
                </a:solidFill>
                <a:latin typeface="Calibri"/>
              </a:rPr>
              <a:t>Obj. 3</a:t>
            </a:r>
          </a:p>
        </p:txBody>
      </p:sp>
      <p:sp>
        <p:nvSpPr>
          <p:cNvPr id="15" name="TextBox 14"/>
          <p:cNvSpPr txBox="1"/>
          <p:nvPr/>
        </p:nvSpPr>
        <p:spPr>
          <a:xfrm>
            <a:off x="1935480" y="4361688"/>
            <a:ext cx="9509760" cy="347472"/>
          </a:xfrm>
          <a:prstGeom prst="rect">
            <a:avLst/>
          </a:prstGeom>
          <a:noFill/>
        </p:spPr>
        <p:txBody>
          <a:bodyPr wrap="square">
            <a:spAutoFit/>
          </a:bodyPr>
          <a:lstStyle/>
          <a:p>
            <a:pPr algn="l"/>
            <a:r>
              <a:rPr sz="1500" b="0">
                <a:solidFill>
                  <a:srgbClr val="FFFFFF"/>
                </a:solidFill>
                <a:latin typeface="Calibri"/>
              </a:rPr>
              <a:t>Find which remaining-time threshold δ to use — 5%, 10%, 15%, or 20%.</a:t>
            </a:r>
          </a:p>
        </p:txBody>
      </p:sp>
      <p:sp>
        <p:nvSpPr>
          <p:cNvPr id="16" name="Rounded Rectangle 15"/>
          <p:cNvSpPr/>
          <p:nvPr/>
        </p:nvSpPr>
        <p:spPr>
          <a:xfrm>
            <a:off x="472440" y="4873751"/>
            <a:ext cx="11247120" cy="566928"/>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5320" y="5001767"/>
            <a:ext cx="1188720" cy="320040"/>
          </a:xfrm>
          <a:prstGeom prst="rect">
            <a:avLst/>
          </a:prstGeom>
          <a:noFill/>
        </p:spPr>
        <p:txBody>
          <a:bodyPr wrap="square">
            <a:spAutoFit/>
          </a:bodyPr>
          <a:lstStyle/>
          <a:p>
            <a:pPr algn="l"/>
            <a:r>
              <a:rPr sz="1500" b="1">
                <a:solidFill>
                  <a:srgbClr val="E8A838"/>
                </a:solidFill>
                <a:latin typeface="Calibri"/>
              </a:rPr>
              <a:t>Obj. 4</a:t>
            </a:r>
          </a:p>
        </p:txBody>
      </p:sp>
      <p:sp>
        <p:nvSpPr>
          <p:cNvPr id="18" name="TextBox 17"/>
          <p:cNvSpPr txBox="1"/>
          <p:nvPr/>
        </p:nvSpPr>
        <p:spPr>
          <a:xfrm>
            <a:off x="1935480" y="5001767"/>
            <a:ext cx="9509760" cy="347472"/>
          </a:xfrm>
          <a:prstGeom prst="rect">
            <a:avLst/>
          </a:prstGeom>
          <a:noFill/>
        </p:spPr>
        <p:txBody>
          <a:bodyPr wrap="square">
            <a:spAutoFit/>
          </a:bodyPr>
          <a:lstStyle/>
          <a:p>
            <a:pPr algn="l"/>
            <a:r>
              <a:rPr sz="1500" b="0">
                <a:solidFill>
                  <a:srgbClr val="FFFFFF"/>
                </a:solidFill>
                <a:latin typeface="Calibri"/>
              </a:rPr>
              <a:t>Measure realised travel time and latency against four baselines, inside one second.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492443"/>
          </a:xfrm>
          <a:prstGeom prst="rect">
            <a:avLst/>
          </a:prstGeom>
          <a:noFill/>
        </p:spPr>
        <p:txBody>
          <a:bodyPr wrap="square">
            <a:spAutoFit/>
          </a:bodyPr>
          <a:lstStyle/>
          <a:p>
            <a:pPr algn="l"/>
            <a:r>
              <a:rPr lang="en-US" sz="2600" b="1" dirty="0">
                <a:solidFill>
                  <a:srgbClr val="FFFFFF"/>
                </a:solidFill>
                <a:latin typeface="Cambria"/>
              </a:rPr>
              <a:t>Integrated Routing Framework</a:t>
            </a:r>
            <a:endParaRPr sz="2600" b="1" dirty="0">
              <a:solidFill>
                <a:srgbClr val="FFFFFF"/>
              </a:solidFill>
              <a:latin typeface="Cambria"/>
            </a:endParaRPr>
          </a:p>
        </p:txBody>
      </p:sp>
      <p:sp>
        <p:nvSpPr>
          <p:cNvPr id="4" name="Rounded Rectangle 3"/>
          <p:cNvSpPr/>
          <p:nvPr/>
        </p:nvSpPr>
        <p:spPr>
          <a:xfrm>
            <a:off x="411480" y="86868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051560"/>
            <a:ext cx="3291840" cy="411480"/>
          </a:xfrm>
          <a:prstGeom prst="rect">
            <a:avLst/>
          </a:prstGeom>
          <a:noFill/>
        </p:spPr>
        <p:txBody>
          <a:bodyPr wrap="square">
            <a:spAutoFit/>
          </a:bodyPr>
          <a:lstStyle/>
          <a:p>
            <a:pPr algn="l"/>
            <a:r>
              <a:rPr sz="2800" b="1">
                <a:solidFill>
                  <a:srgbClr val="E8A838"/>
                </a:solidFill>
                <a:latin typeface="Cambria"/>
              </a:rPr>
              <a:t>1</a:t>
            </a:r>
          </a:p>
        </p:txBody>
      </p:sp>
      <p:sp>
        <p:nvSpPr>
          <p:cNvPr id="6" name="TextBox 5"/>
          <p:cNvSpPr txBox="1"/>
          <p:nvPr/>
        </p:nvSpPr>
        <p:spPr>
          <a:xfrm>
            <a:off x="594360" y="1554480"/>
            <a:ext cx="3291840" cy="365760"/>
          </a:xfrm>
          <a:prstGeom prst="rect">
            <a:avLst/>
          </a:prstGeom>
          <a:noFill/>
        </p:spPr>
        <p:txBody>
          <a:bodyPr wrap="square">
            <a:spAutoFit/>
          </a:bodyPr>
          <a:lstStyle/>
          <a:p>
            <a:pPr algn="l"/>
            <a:r>
              <a:rPr sz="1800" b="1">
                <a:solidFill>
                  <a:srgbClr val="CADCFC"/>
                </a:solidFill>
                <a:latin typeface="Calibri"/>
              </a:rPr>
              <a:t>Observe</a:t>
            </a:r>
          </a:p>
        </p:txBody>
      </p:sp>
      <p:sp>
        <p:nvSpPr>
          <p:cNvPr id="7" name="TextBox 6"/>
          <p:cNvSpPr txBox="1"/>
          <p:nvPr/>
        </p:nvSpPr>
        <p:spPr>
          <a:xfrm>
            <a:off x="594360" y="2011680"/>
            <a:ext cx="3291840" cy="777240"/>
          </a:xfrm>
          <a:prstGeom prst="rect">
            <a:avLst/>
          </a:prstGeom>
          <a:noFill/>
        </p:spPr>
        <p:txBody>
          <a:bodyPr wrap="square">
            <a:spAutoFit/>
          </a:bodyPr>
          <a:lstStyle/>
          <a:p>
            <a:pPr algn="l"/>
            <a:r>
              <a:rPr sz="1400" b="0">
                <a:solidFill>
                  <a:srgbClr val="FFFFFF"/>
                </a:solidFill>
                <a:latin typeface="Calibri"/>
              </a:rPr>
              <a:t>Last 60 minutes of detector speeds — 12 frames, five minutes each.</a:t>
            </a:r>
          </a:p>
        </p:txBody>
      </p:sp>
      <p:sp>
        <p:nvSpPr>
          <p:cNvPr id="8" name="Rounded Rectangle 7"/>
          <p:cNvSpPr/>
          <p:nvPr/>
        </p:nvSpPr>
        <p:spPr>
          <a:xfrm>
            <a:off x="4251960" y="86868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1051560"/>
            <a:ext cx="3291840" cy="411480"/>
          </a:xfrm>
          <a:prstGeom prst="rect">
            <a:avLst/>
          </a:prstGeom>
          <a:noFill/>
        </p:spPr>
        <p:txBody>
          <a:bodyPr wrap="square">
            <a:spAutoFit/>
          </a:bodyPr>
          <a:lstStyle/>
          <a:p>
            <a:pPr algn="l"/>
            <a:r>
              <a:rPr sz="2800" b="1">
                <a:solidFill>
                  <a:srgbClr val="E8A838"/>
                </a:solidFill>
                <a:latin typeface="Cambria"/>
              </a:rPr>
              <a:t>2</a:t>
            </a:r>
          </a:p>
        </p:txBody>
      </p:sp>
      <p:sp>
        <p:nvSpPr>
          <p:cNvPr id="10" name="TextBox 9"/>
          <p:cNvSpPr txBox="1"/>
          <p:nvPr/>
        </p:nvSpPr>
        <p:spPr>
          <a:xfrm>
            <a:off x="4434840" y="1554480"/>
            <a:ext cx="3291840" cy="365760"/>
          </a:xfrm>
          <a:prstGeom prst="rect">
            <a:avLst/>
          </a:prstGeom>
          <a:noFill/>
        </p:spPr>
        <p:txBody>
          <a:bodyPr wrap="square">
            <a:spAutoFit/>
          </a:bodyPr>
          <a:lstStyle/>
          <a:p>
            <a:pPr algn="l"/>
            <a:r>
              <a:rPr sz="1800" b="1">
                <a:solidFill>
                  <a:srgbClr val="CADCFC"/>
                </a:solidFill>
                <a:latin typeface="Calibri"/>
              </a:rPr>
              <a:t>Forecast</a:t>
            </a:r>
          </a:p>
        </p:txBody>
      </p:sp>
      <p:sp>
        <p:nvSpPr>
          <p:cNvPr id="11" name="TextBox 10"/>
          <p:cNvSpPr txBox="1"/>
          <p:nvPr/>
        </p:nvSpPr>
        <p:spPr>
          <a:xfrm>
            <a:off x="4434840" y="2011680"/>
            <a:ext cx="3291840" cy="777240"/>
          </a:xfrm>
          <a:prstGeom prst="rect">
            <a:avLst/>
          </a:prstGeom>
          <a:noFill/>
        </p:spPr>
        <p:txBody>
          <a:bodyPr wrap="square">
            <a:spAutoFit/>
          </a:bodyPr>
          <a:lstStyle/>
          <a:p>
            <a:pPr algn="l"/>
            <a:r>
              <a:rPr sz="1400" b="0">
                <a:solidFill>
                  <a:srgbClr val="FFFFFF"/>
                </a:solidFill>
                <a:latin typeface="Calibri"/>
              </a:rPr>
              <a:t>Two-layer GRU, 64 units, dropout 0.2. Next 30 minutes — 6 frames.</a:t>
            </a:r>
          </a:p>
        </p:txBody>
      </p:sp>
      <p:sp>
        <p:nvSpPr>
          <p:cNvPr id="12" name="Rounded Rectangle 11"/>
          <p:cNvSpPr/>
          <p:nvPr/>
        </p:nvSpPr>
        <p:spPr>
          <a:xfrm>
            <a:off x="8092440" y="86868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5319" y="1051560"/>
            <a:ext cx="3291840" cy="411480"/>
          </a:xfrm>
          <a:prstGeom prst="rect">
            <a:avLst/>
          </a:prstGeom>
          <a:noFill/>
        </p:spPr>
        <p:txBody>
          <a:bodyPr wrap="square">
            <a:spAutoFit/>
          </a:bodyPr>
          <a:lstStyle/>
          <a:p>
            <a:pPr algn="l"/>
            <a:r>
              <a:rPr sz="2800" b="1">
                <a:solidFill>
                  <a:srgbClr val="E8A838"/>
                </a:solidFill>
                <a:latin typeface="Cambria"/>
              </a:rPr>
              <a:t>3</a:t>
            </a:r>
          </a:p>
        </p:txBody>
      </p:sp>
      <p:sp>
        <p:nvSpPr>
          <p:cNvPr id="14" name="TextBox 13"/>
          <p:cNvSpPr txBox="1"/>
          <p:nvPr/>
        </p:nvSpPr>
        <p:spPr>
          <a:xfrm>
            <a:off x="8275319" y="1554480"/>
            <a:ext cx="3291840" cy="365760"/>
          </a:xfrm>
          <a:prstGeom prst="rect">
            <a:avLst/>
          </a:prstGeom>
          <a:noFill/>
        </p:spPr>
        <p:txBody>
          <a:bodyPr wrap="square">
            <a:spAutoFit/>
          </a:bodyPr>
          <a:lstStyle/>
          <a:p>
            <a:pPr algn="l"/>
            <a:r>
              <a:rPr sz="1800" b="1">
                <a:solidFill>
                  <a:srgbClr val="CADCFC"/>
                </a:solidFill>
                <a:latin typeface="Calibri"/>
              </a:rPr>
              <a:t>Cost</a:t>
            </a:r>
          </a:p>
        </p:txBody>
      </p:sp>
      <p:sp>
        <p:nvSpPr>
          <p:cNvPr id="15" name="TextBox 14"/>
          <p:cNvSpPr txBox="1"/>
          <p:nvPr/>
        </p:nvSpPr>
        <p:spPr>
          <a:xfrm>
            <a:off x="8275319" y="2011680"/>
            <a:ext cx="3291840" cy="777240"/>
          </a:xfrm>
          <a:prstGeom prst="rect">
            <a:avLst/>
          </a:prstGeom>
          <a:noFill/>
        </p:spPr>
        <p:txBody>
          <a:bodyPr wrap="square">
            <a:spAutoFit/>
          </a:bodyPr>
          <a:lstStyle/>
          <a:p>
            <a:pPr algn="l"/>
            <a:r>
              <a:rPr sz="1400" b="0">
                <a:solidFill>
                  <a:srgbClr val="FFFFFF"/>
                </a:solidFill>
                <a:latin typeface="Calibri"/>
              </a:rPr>
              <a:t>Predicted miles per hour become travel time on each detector-to-detector edge.</a:t>
            </a:r>
          </a:p>
        </p:txBody>
      </p:sp>
      <p:sp>
        <p:nvSpPr>
          <p:cNvPr id="16" name="Rounded Rectangle 15"/>
          <p:cNvSpPr/>
          <p:nvPr/>
        </p:nvSpPr>
        <p:spPr>
          <a:xfrm>
            <a:off x="411480" y="320040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3383280"/>
            <a:ext cx="3291840" cy="411480"/>
          </a:xfrm>
          <a:prstGeom prst="rect">
            <a:avLst/>
          </a:prstGeom>
          <a:noFill/>
        </p:spPr>
        <p:txBody>
          <a:bodyPr wrap="square">
            <a:spAutoFit/>
          </a:bodyPr>
          <a:lstStyle/>
          <a:p>
            <a:pPr algn="l"/>
            <a:r>
              <a:rPr sz="2800" b="1">
                <a:solidFill>
                  <a:srgbClr val="E8A838"/>
                </a:solidFill>
                <a:latin typeface="Cambria"/>
              </a:rPr>
              <a:t>4</a:t>
            </a:r>
          </a:p>
        </p:txBody>
      </p:sp>
      <p:sp>
        <p:nvSpPr>
          <p:cNvPr id="18" name="TextBox 17"/>
          <p:cNvSpPr txBox="1"/>
          <p:nvPr/>
        </p:nvSpPr>
        <p:spPr>
          <a:xfrm>
            <a:off x="594360" y="3886200"/>
            <a:ext cx="3291840" cy="365760"/>
          </a:xfrm>
          <a:prstGeom prst="rect">
            <a:avLst/>
          </a:prstGeom>
          <a:noFill/>
        </p:spPr>
        <p:txBody>
          <a:bodyPr wrap="square">
            <a:spAutoFit/>
          </a:bodyPr>
          <a:lstStyle/>
          <a:p>
            <a:pPr algn="l"/>
            <a:r>
              <a:rPr sz="1800" b="1">
                <a:solidFill>
                  <a:srgbClr val="CADCFC"/>
                </a:solidFill>
                <a:latin typeface="Calibri"/>
              </a:rPr>
              <a:t>Route</a:t>
            </a:r>
          </a:p>
        </p:txBody>
      </p:sp>
      <p:sp>
        <p:nvSpPr>
          <p:cNvPr id="19" name="TextBox 18"/>
          <p:cNvSpPr txBox="1"/>
          <p:nvPr/>
        </p:nvSpPr>
        <p:spPr>
          <a:xfrm>
            <a:off x="594360" y="4343400"/>
            <a:ext cx="3291840" cy="777240"/>
          </a:xfrm>
          <a:prstGeom prst="rect">
            <a:avLst/>
          </a:prstGeom>
          <a:noFill/>
        </p:spPr>
        <p:txBody>
          <a:bodyPr wrap="square">
            <a:spAutoFit/>
          </a:bodyPr>
          <a:lstStyle/>
          <a:p>
            <a:pPr algn="l"/>
            <a:r>
              <a:rPr sz="1400" b="0">
                <a:solidFill>
                  <a:srgbClr val="FFFFFF"/>
                </a:solidFill>
                <a:latin typeface="Calibri"/>
              </a:rPr>
              <a:t>Time-dependent A* from origin to destination using those changing costs.</a:t>
            </a:r>
          </a:p>
        </p:txBody>
      </p:sp>
      <p:sp>
        <p:nvSpPr>
          <p:cNvPr id="20" name="Rounded Rectangle 19"/>
          <p:cNvSpPr/>
          <p:nvPr/>
        </p:nvSpPr>
        <p:spPr>
          <a:xfrm>
            <a:off x="4251960" y="320040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3383280"/>
            <a:ext cx="3291840" cy="411480"/>
          </a:xfrm>
          <a:prstGeom prst="rect">
            <a:avLst/>
          </a:prstGeom>
          <a:noFill/>
        </p:spPr>
        <p:txBody>
          <a:bodyPr wrap="square">
            <a:spAutoFit/>
          </a:bodyPr>
          <a:lstStyle/>
          <a:p>
            <a:pPr algn="l"/>
            <a:r>
              <a:rPr sz="2800" b="1">
                <a:solidFill>
                  <a:srgbClr val="E8A838"/>
                </a:solidFill>
                <a:latin typeface="Cambria"/>
              </a:rPr>
              <a:t>5</a:t>
            </a:r>
          </a:p>
        </p:txBody>
      </p:sp>
      <p:sp>
        <p:nvSpPr>
          <p:cNvPr id="22" name="TextBox 21"/>
          <p:cNvSpPr txBox="1"/>
          <p:nvPr/>
        </p:nvSpPr>
        <p:spPr>
          <a:xfrm>
            <a:off x="4434840" y="3886200"/>
            <a:ext cx="3291840" cy="365760"/>
          </a:xfrm>
          <a:prstGeom prst="rect">
            <a:avLst/>
          </a:prstGeom>
          <a:noFill/>
        </p:spPr>
        <p:txBody>
          <a:bodyPr wrap="square">
            <a:spAutoFit/>
          </a:bodyPr>
          <a:lstStyle/>
          <a:p>
            <a:pPr algn="l"/>
            <a:r>
              <a:rPr sz="1800" b="1">
                <a:solidFill>
                  <a:srgbClr val="CADCFC"/>
                </a:solidFill>
                <a:latin typeface="Calibri"/>
              </a:rPr>
              <a:t>Update</a:t>
            </a:r>
          </a:p>
        </p:txBody>
      </p:sp>
      <p:sp>
        <p:nvSpPr>
          <p:cNvPr id="23" name="TextBox 22"/>
          <p:cNvSpPr txBox="1"/>
          <p:nvPr/>
        </p:nvSpPr>
        <p:spPr>
          <a:xfrm>
            <a:off x="4434840" y="4343400"/>
            <a:ext cx="3291840" cy="777240"/>
          </a:xfrm>
          <a:prstGeom prst="rect">
            <a:avLst/>
          </a:prstGeom>
          <a:noFill/>
        </p:spPr>
        <p:txBody>
          <a:bodyPr wrap="square">
            <a:spAutoFit/>
          </a:bodyPr>
          <a:lstStyle/>
          <a:p>
            <a:pPr algn="l"/>
            <a:r>
              <a:rPr sz="1400" b="0">
                <a:solidFill>
                  <a:srgbClr val="FFFFFF"/>
                </a:solidFill>
                <a:latin typeface="Calibri"/>
              </a:rPr>
              <a:t>If remaining time from the current position grows by more than δ, offer a new path.</a:t>
            </a:r>
          </a:p>
        </p:txBody>
      </p:sp>
      <p:sp>
        <p:nvSpPr>
          <p:cNvPr id="24" name="Rounded Rectangle 23"/>
          <p:cNvSpPr/>
          <p:nvPr/>
        </p:nvSpPr>
        <p:spPr>
          <a:xfrm>
            <a:off x="8092440" y="3200400"/>
            <a:ext cx="3657600" cy="21488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75319" y="3383280"/>
            <a:ext cx="3291840" cy="411480"/>
          </a:xfrm>
          <a:prstGeom prst="rect">
            <a:avLst/>
          </a:prstGeom>
          <a:noFill/>
        </p:spPr>
        <p:txBody>
          <a:bodyPr wrap="square">
            <a:spAutoFit/>
          </a:bodyPr>
          <a:lstStyle/>
          <a:p>
            <a:pPr algn="l"/>
            <a:r>
              <a:rPr sz="2800" b="1">
                <a:solidFill>
                  <a:srgbClr val="E8A838"/>
                </a:solidFill>
                <a:latin typeface="Cambria"/>
              </a:rPr>
              <a:t>6</a:t>
            </a:r>
          </a:p>
        </p:txBody>
      </p:sp>
      <p:sp>
        <p:nvSpPr>
          <p:cNvPr id="26" name="TextBox 25"/>
          <p:cNvSpPr txBox="1"/>
          <p:nvPr/>
        </p:nvSpPr>
        <p:spPr>
          <a:xfrm>
            <a:off x="8275319" y="3886200"/>
            <a:ext cx="3291840" cy="365760"/>
          </a:xfrm>
          <a:prstGeom prst="rect">
            <a:avLst/>
          </a:prstGeom>
          <a:noFill/>
        </p:spPr>
        <p:txBody>
          <a:bodyPr wrap="square">
            <a:spAutoFit/>
          </a:bodyPr>
          <a:lstStyle/>
          <a:p>
            <a:pPr algn="l"/>
            <a:r>
              <a:rPr sz="1800" b="1">
                <a:solidFill>
                  <a:srgbClr val="CADCFC"/>
                </a:solidFill>
                <a:latin typeface="Calibri"/>
              </a:rPr>
              <a:t>Decide</a:t>
            </a:r>
          </a:p>
        </p:txBody>
      </p:sp>
      <p:sp>
        <p:nvSpPr>
          <p:cNvPr id="27" name="TextBox 26"/>
          <p:cNvSpPr txBox="1"/>
          <p:nvPr/>
        </p:nvSpPr>
        <p:spPr>
          <a:xfrm>
            <a:off x="8275319" y="4343400"/>
            <a:ext cx="3291840" cy="777240"/>
          </a:xfrm>
          <a:prstGeom prst="rect">
            <a:avLst/>
          </a:prstGeom>
          <a:noFill/>
        </p:spPr>
        <p:txBody>
          <a:bodyPr wrap="square">
            <a:spAutoFit/>
          </a:bodyPr>
          <a:lstStyle/>
          <a:p>
            <a:pPr algn="l"/>
            <a:r>
              <a:rPr sz="1400" b="0">
                <a:solidFill>
                  <a:srgbClr val="FFFFFF"/>
                </a:solidFill>
                <a:latin typeface="Calibri"/>
              </a:rPr>
              <a:t>The dispatcher accepts or rejects. The vehicle is not self-driving.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461665"/>
          </a:xfrm>
          <a:prstGeom prst="rect">
            <a:avLst/>
          </a:prstGeom>
          <a:noFill/>
        </p:spPr>
        <p:txBody>
          <a:bodyPr wrap="square">
            <a:spAutoFit/>
          </a:bodyPr>
          <a:lstStyle/>
          <a:p>
            <a:pPr algn="l"/>
            <a:r>
              <a:rPr lang="en-US" sz="2400" b="1" dirty="0">
                <a:solidFill>
                  <a:srgbClr val="FFFFFF"/>
                </a:solidFill>
                <a:latin typeface="Cambria"/>
              </a:rPr>
              <a:t>Experimental Design and Internal Validity</a:t>
            </a:r>
            <a:endParaRPr sz="2400" b="1" dirty="0">
              <a:solidFill>
                <a:srgbClr val="FFFFFF"/>
              </a:solidFill>
              <a:latin typeface="Cambria"/>
            </a:endParaRPr>
          </a:p>
        </p:txBody>
      </p:sp>
      <p:sp>
        <p:nvSpPr>
          <p:cNvPr id="4" name="Rounded Rectangle 3"/>
          <p:cNvSpPr/>
          <p:nvPr/>
        </p:nvSpPr>
        <p:spPr>
          <a:xfrm>
            <a:off x="411480" y="1325880"/>
            <a:ext cx="5577840" cy="4480560"/>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59191" y="1760220"/>
            <a:ext cx="5120640" cy="338554"/>
          </a:xfrm>
          <a:prstGeom prst="rect">
            <a:avLst/>
          </a:prstGeom>
          <a:noFill/>
        </p:spPr>
        <p:txBody>
          <a:bodyPr wrap="square">
            <a:spAutoFit/>
          </a:bodyPr>
          <a:lstStyle/>
          <a:p>
            <a:pPr algn="l"/>
            <a:r>
              <a:rPr lang="en-US" sz="1600" b="1" dirty="0">
                <a:solidFill>
                  <a:srgbClr val="E8A838"/>
                </a:solidFill>
                <a:latin typeface="Calibri"/>
              </a:rPr>
              <a:t>Simulation design (N = 900 journeys)</a:t>
            </a:r>
            <a:endParaRPr sz="1600" b="1" dirty="0">
              <a:solidFill>
                <a:srgbClr val="E8A838"/>
              </a:solidFill>
              <a:latin typeface="Calibri"/>
            </a:endParaRPr>
          </a:p>
        </p:txBody>
      </p:sp>
      <p:sp>
        <p:nvSpPr>
          <p:cNvPr id="6" name="TextBox 5"/>
          <p:cNvSpPr txBox="1"/>
          <p:nvPr/>
        </p:nvSpPr>
        <p:spPr>
          <a:xfrm>
            <a:off x="640080" y="2432304"/>
            <a:ext cx="4958862" cy="2503249"/>
          </a:xfrm>
          <a:prstGeom prst="rect">
            <a:avLst/>
          </a:prstGeom>
          <a:noFill/>
        </p:spPr>
        <p:txBody>
          <a:bodyPr wrap="square">
            <a:spAutoFit/>
          </a:bodyPr>
          <a:lstStyle/>
          <a:p>
            <a:pPr algn="l">
              <a:spcAft>
                <a:spcPts val="800"/>
              </a:spcAft>
            </a:pPr>
            <a:r>
              <a:rPr sz="1300" dirty="0">
                <a:solidFill>
                  <a:srgbClr val="FFFFFF"/>
                </a:solidFill>
                <a:latin typeface="Calibri"/>
              </a:rPr>
              <a:t>•  </a:t>
            </a:r>
            <a:r>
              <a:rPr lang="en-US" sz="1300" dirty="0">
                <a:solidFill>
                  <a:srgbClr val="FFFFFF"/>
                </a:solidFill>
                <a:latin typeface="Calibri"/>
              </a:rPr>
              <a:t>METR-LA: 207 detectors, 34,272 five-minute speed frames. This is the routing graph: 207 nodes, 1,515 edges, a measured speed on every edge (100% instrumented).</a:t>
            </a:r>
          </a:p>
          <a:p>
            <a:pPr algn="l">
              <a:spcAft>
                <a:spcPts val="800"/>
              </a:spcAft>
            </a:pPr>
            <a:r>
              <a:rPr sz="1300" dirty="0">
                <a:solidFill>
                  <a:srgbClr val="FFFFFF"/>
                </a:solidFill>
                <a:latin typeface="Calibri"/>
              </a:rPr>
              <a:t>•  </a:t>
            </a:r>
            <a:r>
              <a:rPr lang="en-US" sz="1300" dirty="0">
                <a:solidFill>
                  <a:srgbClr val="FFFFFF"/>
                </a:solidFill>
                <a:latin typeface="Calibri"/>
              </a:rPr>
              <a:t>PEMS-</a:t>
            </a:r>
            <a:r>
              <a:rPr sz="1300" dirty="0">
                <a:solidFill>
                  <a:srgbClr val="FFFFFF"/>
                </a:solidFill>
                <a:latin typeface="Calibri"/>
              </a:rPr>
              <a:t>BAY</a:t>
            </a:r>
            <a:r>
              <a:rPr lang="en-KE" sz="1300" dirty="0">
                <a:solidFill>
                  <a:srgbClr val="FFFFFF"/>
                </a:solidFill>
                <a:latin typeface="Calibri"/>
              </a:rPr>
              <a:t>: </a:t>
            </a:r>
            <a:r>
              <a:rPr sz="1300" dirty="0">
                <a:solidFill>
                  <a:srgbClr val="FFFFFF"/>
                </a:solidFill>
                <a:latin typeface="Calibri"/>
              </a:rPr>
              <a:t>325</a:t>
            </a:r>
            <a:r>
              <a:rPr lang="en-US" sz="1300" dirty="0">
                <a:solidFill>
                  <a:srgbClr val="FFFFFF"/>
                </a:solidFill>
                <a:latin typeface="Calibri"/>
              </a:rPr>
              <a:t> detectors</a:t>
            </a:r>
            <a:r>
              <a:rPr sz="1300" dirty="0">
                <a:solidFill>
                  <a:srgbClr val="FFFFFF"/>
                </a:solidFill>
                <a:latin typeface="Calibri"/>
              </a:rPr>
              <a:t>, 52,116 frames. A second GRU only — not a second routing city.</a:t>
            </a:r>
          </a:p>
          <a:p>
            <a:pPr algn="l">
              <a:spcAft>
                <a:spcPts val="800"/>
              </a:spcAft>
            </a:pPr>
            <a:r>
              <a:rPr sz="1300" dirty="0">
                <a:solidFill>
                  <a:srgbClr val="FFFFFF"/>
                </a:solidFill>
                <a:latin typeface="Calibri"/>
              </a:rPr>
              <a:t>•  75 origin–destination pairs × 3 traffic scenarios × 4 values of δ = 900 journeys.</a:t>
            </a:r>
          </a:p>
          <a:p>
            <a:pPr algn="l">
              <a:spcAft>
                <a:spcPts val="800"/>
              </a:spcAft>
            </a:pPr>
            <a:r>
              <a:rPr sz="1300" dirty="0">
                <a:solidFill>
                  <a:srgbClr val="FFFFFF"/>
                </a:solidFill>
                <a:latin typeface="Calibri"/>
              </a:rPr>
              <a:t>•  Scenarios: peak (slowest quartile of test windows), off-peak (fastest quartile), incident (corridor speeds cut to 40% of observed, after 20% of B1 travel time).</a:t>
            </a:r>
          </a:p>
          <a:p>
            <a:pPr algn="l">
              <a:spcAft>
                <a:spcPts val="800"/>
              </a:spcAft>
            </a:pPr>
            <a:r>
              <a:rPr sz="1300" dirty="0">
                <a:solidFill>
                  <a:srgbClr val="FFFFFF"/>
                </a:solidFill>
                <a:latin typeface="Calibri"/>
              </a:rPr>
              <a:t>•  Four baselines: B1 current Dijkstra; B2 historical static A*; B3 reactive A* (one replan once the jam is visible); B4 oracle (actual future speeds).</a:t>
            </a:r>
          </a:p>
        </p:txBody>
      </p:sp>
      <p:sp>
        <p:nvSpPr>
          <p:cNvPr id="7" name="Rounded Rectangle 6"/>
          <p:cNvSpPr/>
          <p:nvPr/>
        </p:nvSpPr>
        <p:spPr>
          <a:xfrm>
            <a:off x="6217920" y="1325880"/>
            <a:ext cx="5577840" cy="4480560"/>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12169" y="1760220"/>
            <a:ext cx="5120640" cy="320040"/>
          </a:xfrm>
          <a:prstGeom prst="rect">
            <a:avLst/>
          </a:prstGeom>
          <a:noFill/>
        </p:spPr>
        <p:txBody>
          <a:bodyPr wrap="square">
            <a:spAutoFit/>
          </a:bodyPr>
          <a:lstStyle/>
          <a:p>
            <a:pPr algn="l"/>
            <a:r>
              <a:rPr sz="1600" b="1" dirty="0">
                <a:solidFill>
                  <a:srgbClr val="E8A838"/>
                </a:solidFill>
                <a:latin typeface="Calibri"/>
              </a:rPr>
              <a:t>What I did so the comparison is fair</a:t>
            </a:r>
          </a:p>
        </p:txBody>
      </p:sp>
      <p:sp>
        <p:nvSpPr>
          <p:cNvPr id="9" name="TextBox 8"/>
          <p:cNvSpPr txBox="1"/>
          <p:nvPr/>
        </p:nvSpPr>
        <p:spPr>
          <a:xfrm>
            <a:off x="6446520" y="2432304"/>
            <a:ext cx="4983480" cy="2503249"/>
          </a:xfrm>
          <a:prstGeom prst="rect">
            <a:avLst/>
          </a:prstGeom>
          <a:noFill/>
        </p:spPr>
        <p:txBody>
          <a:bodyPr wrap="square">
            <a:spAutoFit/>
          </a:bodyPr>
          <a:lstStyle/>
          <a:p>
            <a:pPr algn="l">
              <a:spcAft>
                <a:spcPts val="800"/>
              </a:spcAft>
            </a:pPr>
            <a:r>
              <a:rPr sz="1300" dirty="0">
                <a:solidFill>
                  <a:srgbClr val="FFFFFF"/>
                </a:solidFill>
                <a:latin typeface="Calibri"/>
              </a:rPr>
              <a:t>•  Split time 70 / 15 / 15 before windowing. Scaler fitted on training rows only — no leakage from later weeks.</a:t>
            </a:r>
          </a:p>
          <a:p>
            <a:pPr algn="l">
              <a:spcAft>
                <a:spcPts val="800"/>
              </a:spcAft>
            </a:pPr>
            <a:r>
              <a:rPr sz="1300" dirty="0">
                <a:solidFill>
                  <a:srgbClr val="FFFFFF"/>
                </a:solidFill>
                <a:latin typeface="Calibri"/>
              </a:rPr>
              <a:t>•  The forecast chooses the path. Journey time is then walked on actual future speeds. We do not score a method on its own predictions.</a:t>
            </a:r>
          </a:p>
          <a:p>
            <a:pPr algn="l">
              <a:spcAft>
                <a:spcPts val="800"/>
              </a:spcAft>
            </a:pPr>
            <a:r>
              <a:rPr sz="1300" dirty="0">
                <a:solidFill>
                  <a:srgbClr val="FFFFFF"/>
                </a:solidFill>
                <a:latin typeface="Calibri"/>
              </a:rPr>
              <a:t>•  Same origin, destination, and clock for every method. That is what N will mean on the result figures.</a:t>
            </a:r>
          </a:p>
          <a:p>
            <a:pPr algn="l">
              <a:spcAft>
                <a:spcPts val="800"/>
              </a:spcAft>
            </a:pPr>
            <a:r>
              <a:rPr sz="1300" dirty="0">
                <a:solidFill>
                  <a:srgbClr val="FFFFFF"/>
                </a:solidFill>
                <a:latin typeface="Calibri"/>
              </a:rPr>
              <a:t>•  Incidents sit on Dijkstra’s planned corridor, so the vehicle actually meets the disruption.</a:t>
            </a:r>
          </a:p>
          <a:p>
            <a:pPr algn="l">
              <a:spcAft>
                <a:spcPts val="800"/>
              </a:spcAft>
            </a:pPr>
            <a:r>
              <a:rPr sz="1300" dirty="0">
                <a:solidFill>
                  <a:srgbClr val="FFFFFF"/>
                </a:solidFill>
                <a:latin typeface="Calibri"/>
              </a:rPr>
              <a:t>•  I used the fully instrumented detector graph, not a sparse street map with guessed speeds. Percentages describe that graph.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01168"/>
            <a:ext cx="10972800" cy="461665"/>
          </a:xfrm>
          <a:prstGeom prst="rect">
            <a:avLst/>
          </a:prstGeom>
          <a:noFill/>
        </p:spPr>
        <p:txBody>
          <a:bodyPr wrap="square">
            <a:spAutoFit/>
          </a:bodyPr>
          <a:lstStyle/>
          <a:p>
            <a:pPr algn="l"/>
            <a:r>
              <a:rPr sz="2400" b="1" dirty="0">
                <a:solidFill>
                  <a:srgbClr val="FFFFFF"/>
                </a:solidFill>
                <a:latin typeface="Cambria"/>
              </a:rPr>
              <a:t>Objective 2 — </a:t>
            </a:r>
            <a:r>
              <a:rPr lang="en-US" sz="2400" b="1" dirty="0">
                <a:solidFill>
                  <a:srgbClr val="FFFFFF"/>
                </a:solidFill>
                <a:latin typeface="Cambria"/>
              </a:rPr>
              <a:t>GRU forecast accuracy</a:t>
            </a:r>
            <a:endParaRPr sz="2400" b="1" dirty="0">
              <a:solidFill>
                <a:srgbClr val="FFFFFF"/>
              </a:solidFill>
              <a:latin typeface="Cambria"/>
            </a:endParaRPr>
          </a:p>
        </p:txBody>
      </p:sp>
      <p:sp>
        <p:nvSpPr>
          <p:cNvPr id="4" name="Rounded Rectangle 3"/>
          <p:cNvSpPr/>
          <p:nvPr/>
        </p:nvSpPr>
        <p:spPr>
          <a:xfrm>
            <a:off x="411480" y="731520"/>
            <a:ext cx="3657600" cy="16916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868680"/>
            <a:ext cx="3474720" cy="640080"/>
          </a:xfrm>
          <a:prstGeom prst="rect">
            <a:avLst/>
          </a:prstGeom>
          <a:noFill/>
        </p:spPr>
        <p:txBody>
          <a:bodyPr wrap="square">
            <a:spAutoFit/>
          </a:bodyPr>
          <a:lstStyle/>
          <a:p>
            <a:pPr algn="ctr"/>
            <a:r>
              <a:rPr sz="2600" b="1" dirty="0">
                <a:solidFill>
                  <a:srgbClr val="E8A838"/>
                </a:solidFill>
                <a:latin typeface="Cambria"/>
              </a:rPr>
              <a:t>3.48 mph</a:t>
            </a:r>
          </a:p>
        </p:txBody>
      </p:sp>
      <p:sp>
        <p:nvSpPr>
          <p:cNvPr id="6" name="TextBox 5"/>
          <p:cNvSpPr txBox="1"/>
          <p:nvPr/>
        </p:nvSpPr>
        <p:spPr>
          <a:xfrm>
            <a:off x="457200" y="1394460"/>
            <a:ext cx="3474720" cy="685800"/>
          </a:xfrm>
          <a:prstGeom prst="rect">
            <a:avLst/>
          </a:prstGeom>
          <a:noFill/>
        </p:spPr>
        <p:txBody>
          <a:bodyPr wrap="square">
            <a:spAutoFit/>
          </a:bodyPr>
          <a:lstStyle/>
          <a:p>
            <a:pPr algn="ctr"/>
            <a:r>
              <a:rPr sz="1300" b="0" dirty="0">
                <a:solidFill>
                  <a:srgbClr val="FFFFFF"/>
                </a:solidFill>
                <a:latin typeface="Calibri"/>
              </a:rPr>
              <a:t>METR-LA test MAE</a:t>
            </a:r>
            <a:endParaRPr lang="en-US" sz="1300" b="0" dirty="0">
              <a:solidFill>
                <a:srgbClr val="FFFFFF"/>
              </a:solidFill>
              <a:latin typeface="Calibri"/>
            </a:endParaRPr>
          </a:p>
          <a:p>
            <a:pPr algn="ctr"/>
            <a:r>
              <a:rPr sz="1300" b="0" dirty="0">
                <a:solidFill>
                  <a:srgbClr val="FFFFFF"/>
                </a:solidFill>
                <a:latin typeface="Calibri"/>
              </a:rPr>
              <a:t>
RMSE 6.04 mph  ·  27 epochs</a:t>
            </a:r>
          </a:p>
        </p:txBody>
      </p:sp>
      <p:sp>
        <p:nvSpPr>
          <p:cNvPr id="7" name="Rounded Rectangle 6"/>
          <p:cNvSpPr/>
          <p:nvPr/>
        </p:nvSpPr>
        <p:spPr>
          <a:xfrm>
            <a:off x="4251960" y="731520"/>
            <a:ext cx="3657600" cy="16916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43400" y="868680"/>
            <a:ext cx="3474720" cy="640080"/>
          </a:xfrm>
          <a:prstGeom prst="rect">
            <a:avLst/>
          </a:prstGeom>
          <a:noFill/>
        </p:spPr>
        <p:txBody>
          <a:bodyPr wrap="square">
            <a:spAutoFit/>
          </a:bodyPr>
          <a:lstStyle/>
          <a:p>
            <a:pPr algn="ctr"/>
            <a:r>
              <a:rPr sz="2600" b="1">
                <a:solidFill>
                  <a:srgbClr val="E8A838"/>
                </a:solidFill>
                <a:latin typeface="Cambria"/>
              </a:rPr>
              <a:t>2.38 mph</a:t>
            </a:r>
          </a:p>
        </p:txBody>
      </p:sp>
      <p:sp>
        <p:nvSpPr>
          <p:cNvPr id="9" name="TextBox 8"/>
          <p:cNvSpPr txBox="1"/>
          <p:nvPr/>
        </p:nvSpPr>
        <p:spPr>
          <a:xfrm>
            <a:off x="4343400" y="1440382"/>
            <a:ext cx="3474720" cy="685800"/>
          </a:xfrm>
          <a:prstGeom prst="rect">
            <a:avLst/>
          </a:prstGeom>
          <a:noFill/>
        </p:spPr>
        <p:txBody>
          <a:bodyPr wrap="square">
            <a:spAutoFit/>
          </a:bodyPr>
          <a:lstStyle/>
          <a:p>
            <a:pPr algn="ctr"/>
            <a:r>
              <a:rPr sz="1300" b="0" dirty="0">
                <a:solidFill>
                  <a:srgbClr val="FFFFFF"/>
                </a:solidFill>
                <a:latin typeface="Calibri"/>
              </a:rPr>
              <a:t>PEMS-BAY test MAE</a:t>
            </a:r>
            <a:br>
              <a:rPr sz="1300" b="0" dirty="0">
                <a:solidFill>
                  <a:srgbClr val="FFFFFF"/>
                </a:solidFill>
                <a:latin typeface="Calibri"/>
              </a:rPr>
            </a:br>
            <a:r>
              <a:rPr sz="1300" b="0" dirty="0">
                <a:solidFill>
                  <a:srgbClr val="FFFFFF"/>
                </a:solidFill>
                <a:latin typeface="Calibri"/>
              </a:rPr>
              <a:t>RMSE 4.49 mph  ·  79 epochs</a:t>
            </a:r>
            <a:endParaRPr lang="en-US" sz="1300" b="0" dirty="0">
              <a:solidFill>
                <a:srgbClr val="FFFFFF"/>
              </a:solidFill>
              <a:latin typeface="Calibri"/>
            </a:endParaRPr>
          </a:p>
        </p:txBody>
      </p:sp>
      <p:sp>
        <p:nvSpPr>
          <p:cNvPr id="10" name="Rounded Rectangle 9"/>
          <p:cNvSpPr/>
          <p:nvPr/>
        </p:nvSpPr>
        <p:spPr>
          <a:xfrm>
            <a:off x="8092440" y="731520"/>
            <a:ext cx="3657600" cy="169164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80" y="868680"/>
            <a:ext cx="3474720" cy="640080"/>
          </a:xfrm>
          <a:prstGeom prst="rect">
            <a:avLst/>
          </a:prstGeom>
          <a:noFill/>
        </p:spPr>
        <p:txBody>
          <a:bodyPr wrap="square">
            <a:spAutoFit/>
          </a:bodyPr>
          <a:lstStyle/>
          <a:p>
            <a:pPr algn="ctr"/>
            <a:r>
              <a:rPr sz="2600" b="1">
                <a:solidFill>
                  <a:srgbClr val="E8A838"/>
                </a:solidFill>
                <a:latin typeface="Cambria"/>
              </a:rPr>
              <a:t>60 → 30 min</a:t>
            </a:r>
          </a:p>
        </p:txBody>
      </p:sp>
      <p:sp>
        <p:nvSpPr>
          <p:cNvPr id="12" name="TextBox 11"/>
          <p:cNvSpPr txBox="1"/>
          <p:nvPr/>
        </p:nvSpPr>
        <p:spPr>
          <a:xfrm>
            <a:off x="8214360" y="1470923"/>
            <a:ext cx="3474720" cy="685800"/>
          </a:xfrm>
          <a:prstGeom prst="rect">
            <a:avLst/>
          </a:prstGeom>
          <a:noFill/>
        </p:spPr>
        <p:txBody>
          <a:bodyPr wrap="square">
            <a:spAutoFit/>
          </a:bodyPr>
          <a:lstStyle/>
          <a:p>
            <a:pPr algn="ctr"/>
            <a:r>
              <a:rPr sz="1300" b="0" dirty="0">
                <a:solidFill>
                  <a:srgbClr val="FFFFFF"/>
                </a:solidFill>
                <a:latin typeface="Calibri"/>
              </a:rPr>
              <a:t>Input 12 steps  ·  output 6 steps</a:t>
            </a:r>
            <a:endParaRPr lang="en-KE" sz="1300" b="0" dirty="0">
              <a:solidFill>
                <a:srgbClr val="FFFFFF"/>
              </a:solidFill>
              <a:latin typeface="Calibri"/>
            </a:endParaRPr>
          </a:p>
          <a:p>
            <a:pPr algn="ctr"/>
            <a:r>
              <a:rPr lang="en-US" sz="1300" b="0" dirty="0">
                <a:solidFill>
                  <a:srgbClr val="FFFFFF"/>
                </a:solidFill>
                <a:latin typeface="Calibri"/>
              </a:rPr>
              <a:t>
matched to a typical response</a:t>
            </a:r>
          </a:p>
        </p:txBody>
      </p:sp>
      <p:sp>
        <p:nvSpPr>
          <p:cNvPr id="13" name="Rounded Rectangle 12"/>
          <p:cNvSpPr/>
          <p:nvPr/>
        </p:nvSpPr>
        <p:spPr>
          <a:xfrm>
            <a:off x="411480" y="2651760"/>
            <a:ext cx="11338560" cy="31546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834640"/>
            <a:ext cx="10972800" cy="338554"/>
          </a:xfrm>
          <a:prstGeom prst="rect">
            <a:avLst/>
          </a:prstGeom>
          <a:noFill/>
        </p:spPr>
        <p:txBody>
          <a:bodyPr wrap="square">
            <a:spAutoFit/>
          </a:bodyPr>
          <a:lstStyle/>
          <a:p>
            <a:pPr algn="l"/>
            <a:r>
              <a:rPr lang="en-US" sz="1600" b="1" dirty="0">
                <a:solidFill>
                  <a:srgbClr val="E8A838"/>
                </a:solidFill>
                <a:latin typeface="Calibri"/>
              </a:rPr>
              <a:t>Interpretation of error</a:t>
            </a:r>
            <a:endParaRPr sz="1600" b="1" dirty="0">
              <a:solidFill>
                <a:srgbClr val="E8A838"/>
              </a:solidFill>
              <a:latin typeface="Calibri"/>
            </a:endParaRPr>
          </a:p>
        </p:txBody>
      </p:sp>
      <p:sp>
        <p:nvSpPr>
          <p:cNvPr id="15" name="TextBox 14"/>
          <p:cNvSpPr txBox="1"/>
          <p:nvPr/>
        </p:nvSpPr>
        <p:spPr>
          <a:xfrm>
            <a:off x="640080" y="3246120"/>
            <a:ext cx="10881360" cy="1451679"/>
          </a:xfrm>
          <a:prstGeom prst="rect">
            <a:avLst/>
          </a:prstGeom>
          <a:noFill/>
        </p:spPr>
        <p:txBody>
          <a:bodyPr wrap="square">
            <a:spAutoFit/>
          </a:bodyPr>
          <a:lstStyle/>
          <a:p>
            <a:pPr algn="l">
              <a:spcAft>
                <a:spcPts val="800"/>
              </a:spcAft>
            </a:pPr>
            <a:r>
              <a:rPr sz="1500" dirty="0">
                <a:solidFill>
                  <a:srgbClr val="FFFFFF"/>
                </a:solidFill>
                <a:latin typeface="Calibri"/>
              </a:rPr>
              <a:t>•  MAE is mean absolute error: on average the forecast is 3.48 miles per hour off on held-out Los Angeles detectors </a:t>
            </a:r>
            <a:endParaRPr lang="en-US" sz="1500" dirty="0">
              <a:solidFill>
                <a:srgbClr val="FFFFFF"/>
              </a:solidFill>
              <a:latin typeface="Calibri"/>
            </a:endParaRPr>
          </a:p>
          <a:p>
            <a:pPr algn="l">
              <a:spcAft>
                <a:spcPts val="800"/>
              </a:spcAft>
            </a:pPr>
            <a:r>
              <a:rPr sz="1500" dirty="0">
                <a:solidFill>
                  <a:srgbClr val="FFFFFF"/>
                </a:solidFill>
                <a:latin typeface="Calibri"/>
              </a:rPr>
              <a:t>•  The Bay model is a second-city check of the same architecture. Its lower MAE reflects smoother Bay Area speeds, not a failed Los Angeles model. Bay speeds were never routed on Los Angeles edges.</a:t>
            </a:r>
            <a:endParaRPr lang="en-KE" sz="1500" dirty="0">
              <a:solidFill>
                <a:srgbClr val="FFFFFF"/>
              </a:solidFill>
              <a:latin typeface="Calibri"/>
            </a:endParaRPr>
          </a:p>
          <a:p>
            <a:pPr algn="l">
              <a:spcAft>
                <a:spcPts val="800"/>
              </a:spcAft>
            </a:pPr>
            <a:r>
              <a:rPr lang="en-US" sz="1500" dirty="0">
                <a:solidFill>
                  <a:srgbClr val="FFFFFF"/>
                </a:solidFill>
                <a:latin typeface="Calibri"/>
              </a:rPr>
              <a:t>•  This accuracy is sufficient to serve as time-dependent edge cost for TD-A*, and the GRU delivers it at lower parameter count and 39.3 </a:t>
            </a:r>
            <a:r>
              <a:rPr lang="en-US" sz="1500" dirty="0" err="1">
                <a:solidFill>
                  <a:srgbClr val="FFFFFF"/>
                </a:solidFill>
                <a:latin typeface="Calibri"/>
              </a:rPr>
              <a:t>ms</a:t>
            </a:r>
            <a:r>
              <a:rPr lang="en-US" sz="1500" dirty="0">
                <a:solidFill>
                  <a:srgbClr val="FFFFFF"/>
                </a:solidFill>
                <a:latin typeface="Calibri"/>
              </a:rPr>
              <a:t> inference — keeping the whole loop at ≈40 </a:t>
            </a:r>
            <a:r>
              <a:rPr lang="en-US" sz="1500" dirty="0" err="1">
                <a:solidFill>
                  <a:srgbClr val="FFFFFF"/>
                </a:solidFill>
                <a:latin typeface="Calibri"/>
              </a:rPr>
              <a:t>ms</a:t>
            </a:r>
            <a:r>
              <a:rPr lang="en-US" sz="1500" dirty="0">
                <a:solidFill>
                  <a:srgbClr val="FFFFFF"/>
                </a:solidFill>
                <a:latin typeface="Calibri"/>
              </a:rPr>
              <a:t> against the 1,000 </a:t>
            </a:r>
            <a:r>
              <a:rPr lang="en-US" sz="1500" dirty="0" err="1">
                <a:solidFill>
                  <a:srgbClr val="FFFFFF"/>
                </a:solidFill>
                <a:latin typeface="Calibri"/>
              </a:rPr>
              <a:t>ms</a:t>
            </a:r>
            <a:r>
              <a:rPr lang="en-US" sz="1500" dirty="0">
                <a:solidFill>
                  <a:srgbClr val="FFFFFF"/>
                </a:solidFill>
                <a:latin typeface="Calibri"/>
              </a:rPr>
              <a:t> dispatch cap.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430887"/>
          </a:xfrm>
          <a:prstGeom prst="rect">
            <a:avLst/>
          </a:prstGeom>
          <a:noFill/>
        </p:spPr>
        <p:txBody>
          <a:bodyPr wrap="square">
            <a:spAutoFit/>
          </a:bodyPr>
          <a:lstStyle/>
          <a:p>
            <a:pPr algn="l"/>
            <a:r>
              <a:rPr lang="en-US" sz="2200" b="1" dirty="0">
                <a:solidFill>
                  <a:srgbClr val="FFFFFF"/>
                </a:solidFill>
                <a:latin typeface="Cambria"/>
              </a:rPr>
              <a:t>Objective 3:  Effect of threshold δ on travel time and replans</a:t>
            </a:r>
          </a:p>
        </p:txBody>
      </p:sp>
      <p:pic>
        <p:nvPicPr>
          <p:cNvPr id="5" name="Picture 4" descr="fig3_delta_sensitivity.png"/>
          <p:cNvPicPr>
            <a:picLocks noChangeAspect="1"/>
          </p:cNvPicPr>
          <p:nvPr/>
        </p:nvPicPr>
        <p:blipFill>
          <a:blip r:embed="rId3"/>
          <a:srcRect t="6816"/>
          <a:stretch>
            <a:fillRect/>
          </a:stretch>
        </p:blipFill>
        <p:spPr>
          <a:xfrm>
            <a:off x="564466" y="659413"/>
            <a:ext cx="8565466" cy="3329435"/>
          </a:xfrm>
          <a:prstGeom prst="rect">
            <a:avLst/>
          </a:prstGeom>
        </p:spPr>
      </p:pic>
      <p:graphicFrame>
        <p:nvGraphicFramePr>
          <p:cNvPr id="12" name="Table 11">
            <a:extLst>
              <a:ext uri="{FF2B5EF4-FFF2-40B4-BE49-F238E27FC236}">
                <a16:creationId xmlns:a16="http://schemas.microsoft.com/office/drawing/2014/main" id="{C7530CE5-FD36-9CE9-7F90-FF31245EF2BC}"/>
              </a:ext>
            </a:extLst>
          </p:cNvPr>
          <p:cNvGraphicFramePr>
            <a:graphicFrameLocks noGrp="1"/>
          </p:cNvGraphicFramePr>
          <p:nvPr>
            <p:extLst>
              <p:ext uri="{D42A27DB-BD31-4B8C-83A1-F6EECF244321}">
                <p14:modId xmlns:p14="http://schemas.microsoft.com/office/powerpoint/2010/main" val="2221169042"/>
              </p:ext>
            </p:extLst>
          </p:nvPr>
        </p:nvGraphicFramePr>
        <p:xfrm>
          <a:off x="564466" y="5486527"/>
          <a:ext cx="5272746" cy="1078865"/>
        </p:xfrm>
        <a:graphic>
          <a:graphicData uri="http://schemas.openxmlformats.org/drawingml/2006/table">
            <a:tbl>
              <a:tblPr>
                <a:tableStyleId>{5C22544A-7EE6-4342-B048-85BDC9FD1C3A}</a:tableStyleId>
              </a:tblPr>
              <a:tblGrid>
                <a:gridCol w="1757582">
                  <a:extLst>
                    <a:ext uri="{9D8B030D-6E8A-4147-A177-3AD203B41FA5}">
                      <a16:colId xmlns:a16="http://schemas.microsoft.com/office/drawing/2014/main" val="3564266569"/>
                    </a:ext>
                  </a:extLst>
                </a:gridCol>
                <a:gridCol w="1757582">
                  <a:extLst>
                    <a:ext uri="{9D8B030D-6E8A-4147-A177-3AD203B41FA5}">
                      <a16:colId xmlns:a16="http://schemas.microsoft.com/office/drawing/2014/main" val="210120335"/>
                    </a:ext>
                  </a:extLst>
                </a:gridCol>
                <a:gridCol w="1757582">
                  <a:extLst>
                    <a:ext uri="{9D8B030D-6E8A-4147-A177-3AD203B41FA5}">
                      <a16:colId xmlns:a16="http://schemas.microsoft.com/office/drawing/2014/main" val="1937328066"/>
                    </a:ext>
                  </a:extLst>
                </a:gridCol>
              </a:tblGrid>
              <a:tr h="0">
                <a:tc>
                  <a:txBody>
                    <a:bodyPr/>
                    <a:lstStyle/>
                    <a:p>
                      <a:pPr marL="0" marR="0" indent="0" algn="l" fontAlgn="t">
                        <a:lnSpc>
                          <a:spcPct val="111111"/>
                        </a:lnSpc>
                        <a:buNone/>
                      </a:pPr>
                      <a:r>
                        <a:rPr lang="en-KE" sz="900">
                          <a:effectLst/>
                        </a:rPr>
                        <a:t>δ</a:t>
                      </a:r>
                      <a:endParaRPr lang="en-KE" sz="900" b="1"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Mean vs Dijkstra</a:t>
                      </a:r>
                      <a:endParaRPr lang="en-KE" sz="900" b="1"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Replans / journey</a:t>
                      </a:r>
                      <a:endParaRPr lang="en-KE" sz="900" b="1" i="0">
                        <a:solidFill>
                          <a:srgbClr val="F0F0F0"/>
                        </a:solidFill>
                        <a:effectLst/>
                        <a:latin typeface="system-ui"/>
                      </a:endParaRPr>
                    </a:p>
                  </a:txBody>
                  <a:tcPr marL="57150" marR="57150" marT="31750" marB="31750"/>
                </a:tc>
                <a:extLst>
                  <a:ext uri="{0D108BD9-81ED-4DB2-BD59-A6C34878D82A}">
                    <a16:rowId xmlns:a16="http://schemas.microsoft.com/office/drawing/2014/main" val="3011518051"/>
                  </a:ext>
                </a:extLst>
              </a:tr>
              <a:tr h="0">
                <a:tc>
                  <a:txBody>
                    <a:bodyPr/>
                    <a:lstStyle/>
                    <a:p>
                      <a:pPr marL="0" marR="0" indent="0" algn="l" fontAlgn="t">
                        <a:lnSpc>
                          <a:spcPct val="111111"/>
                        </a:lnSpc>
                        <a:buNone/>
                      </a:pPr>
                      <a:r>
                        <a:rPr lang="en-KE" sz="900">
                          <a:effectLst/>
                        </a:rPr>
                        <a:t>0.05</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+5.726%</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dirty="0">
                          <a:effectLst/>
                        </a:rPr>
                        <a:t>0.45</a:t>
                      </a:r>
                      <a:endParaRPr lang="en-KE" sz="900" b="0" i="0" dirty="0">
                        <a:solidFill>
                          <a:srgbClr val="F0F0F0"/>
                        </a:solidFill>
                        <a:effectLst/>
                        <a:latin typeface="system-ui"/>
                      </a:endParaRPr>
                    </a:p>
                  </a:txBody>
                  <a:tcPr marL="57150" marR="57150" marT="31750" marB="31750"/>
                </a:tc>
                <a:extLst>
                  <a:ext uri="{0D108BD9-81ED-4DB2-BD59-A6C34878D82A}">
                    <a16:rowId xmlns:a16="http://schemas.microsoft.com/office/drawing/2014/main" val="3749882008"/>
                  </a:ext>
                </a:extLst>
              </a:tr>
              <a:tr h="0">
                <a:tc>
                  <a:txBody>
                    <a:bodyPr/>
                    <a:lstStyle/>
                    <a:p>
                      <a:pPr marL="0" marR="0" indent="0" algn="l" fontAlgn="t">
                        <a:lnSpc>
                          <a:spcPct val="111111"/>
                        </a:lnSpc>
                        <a:buNone/>
                      </a:pPr>
                      <a:r>
                        <a:rPr lang="en-KE" sz="900">
                          <a:effectLst/>
                        </a:rPr>
                        <a:t>0.10</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+5.748%</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dirty="0">
                          <a:effectLst/>
                        </a:rPr>
                        <a:t>0.44</a:t>
                      </a:r>
                      <a:endParaRPr lang="en-KE" sz="900" b="0" i="0" dirty="0">
                        <a:solidFill>
                          <a:srgbClr val="F0F0F0"/>
                        </a:solidFill>
                        <a:effectLst/>
                        <a:latin typeface="system-ui"/>
                      </a:endParaRPr>
                    </a:p>
                  </a:txBody>
                  <a:tcPr marL="57150" marR="57150" marT="31750" marB="31750"/>
                </a:tc>
                <a:extLst>
                  <a:ext uri="{0D108BD9-81ED-4DB2-BD59-A6C34878D82A}">
                    <a16:rowId xmlns:a16="http://schemas.microsoft.com/office/drawing/2014/main" val="3976637728"/>
                  </a:ext>
                </a:extLst>
              </a:tr>
              <a:tr h="0">
                <a:tc>
                  <a:txBody>
                    <a:bodyPr/>
                    <a:lstStyle/>
                    <a:p>
                      <a:pPr marL="0" marR="0" indent="0" algn="l" fontAlgn="t">
                        <a:lnSpc>
                          <a:spcPct val="111111"/>
                        </a:lnSpc>
                        <a:buNone/>
                      </a:pPr>
                      <a:r>
                        <a:rPr lang="en-KE" sz="900">
                          <a:effectLst/>
                        </a:rPr>
                        <a:t>0.15</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+5.726%</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0.43</a:t>
                      </a:r>
                      <a:endParaRPr lang="en-KE" sz="900" b="0" i="0">
                        <a:solidFill>
                          <a:srgbClr val="F0F0F0"/>
                        </a:solidFill>
                        <a:effectLst/>
                        <a:latin typeface="system-ui"/>
                      </a:endParaRPr>
                    </a:p>
                  </a:txBody>
                  <a:tcPr marL="57150" marR="57150" marT="31750" marB="31750"/>
                </a:tc>
                <a:extLst>
                  <a:ext uri="{0D108BD9-81ED-4DB2-BD59-A6C34878D82A}">
                    <a16:rowId xmlns:a16="http://schemas.microsoft.com/office/drawing/2014/main" val="4137435305"/>
                  </a:ext>
                </a:extLst>
              </a:tr>
              <a:tr h="0">
                <a:tc>
                  <a:txBody>
                    <a:bodyPr/>
                    <a:lstStyle/>
                    <a:p>
                      <a:pPr marL="0" marR="0" indent="0" algn="l" fontAlgn="t">
                        <a:lnSpc>
                          <a:spcPct val="111111"/>
                        </a:lnSpc>
                        <a:buNone/>
                      </a:pPr>
                      <a:r>
                        <a:rPr lang="en-KE" sz="900">
                          <a:effectLst/>
                        </a:rPr>
                        <a:t>0.20</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+5.767%</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dirty="0">
                          <a:effectLst/>
                        </a:rPr>
                        <a:t>0.39</a:t>
                      </a:r>
                      <a:endParaRPr lang="en-KE" sz="900" b="0" i="0" dirty="0">
                        <a:solidFill>
                          <a:srgbClr val="F0F0F0"/>
                        </a:solidFill>
                        <a:effectLst/>
                        <a:latin typeface="system-ui"/>
                      </a:endParaRPr>
                    </a:p>
                  </a:txBody>
                  <a:tcPr marL="57150" marR="57150" marT="31750" marB="31750"/>
                </a:tc>
                <a:extLst>
                  <a:ext uri="{0D108BD9-81ED-4DB2-BD59-A6C34878D82A}">
                    <a16:rowId xmlns:a16="http://schemas.microsoft.com/office/drawing/2014/main" val="2675670858"/>
                  </a:ext>
                </a:extLst>
              </a:tr>
            </a:tbl>
          </a:graphicData>
        </a:graphic>
      </p:graphicFrame>
      <p:sp>
        <p:nvSpPr>
          <p:cNvPr id="16" name="TextBox 15">
            <a:extLst>
              <a:ext uri="{FF2B5EF4-FFF2-40B4-BE49-F238E27FC236}">
                <a16:creationId xmlns:a16="http://schemas.microsoft.com/office/drawing/2014/main" id="{12CD5ABB-E1C7-5EBA-6C21-463F2F2537D4}"/>
              </a:ext>
            </a:extLst>
          </p:cNvPr>
          <p:cNvSpPr txBox="1"/>
          <p:nvPr/>
        </p:nvSpPr>
        <p:spPr>
          <a:xfrm>
            <a:off x="457200" y="4052782"/>
            <a:ext cx="11570677" cy="923330"/>
          </a:xfrm>
          <a:prstGeom prst="rect">
            <a:avLst/>
          </a:prstGeom>
          <a:noFill/>
        </p:spPr>
        <p:txBody>
          <a:bodyPr wrap="square">
            <a:spAutoFit/>
          </a:bodyPr>
          <a:lstStyle/>
          <a:p>
            <a:r>
              <a:rPr lang="en-US" i="1" dirty="0">
                <a:solidFill>
                  <a:schemeClr val="bg1"/>
                </a:solidFill>
              </a:rPr>
              <a:t>Figure 3. Travel-time reduction relative to current-map Dijkstra (left panel) and mean replans per journey (right panel) by remaining-time threshold </a:t>
            </a:r>
            <a:r>
              <a:rPr lang="el-GR" i="1" dirty="0">
                <a:solidFill>
                  <a:schemeClr val="bg1"/>
                </a:solidFill>
              </a:rPr>
              <a:t>δ. </a:t>
            </a:r>
            <a:r>
              <a:rPr lang="en-US" i="1" dirty="0">
                <a:solidFill>
                  <a:schemeClr val="bg1"/>
                </a:solidFill>
              </a:rPr>
              <a:t>N = 225 per </a:t>
            </a:r>
            <a:r>
              <a:rPr lang="el-GR" i="1" dirty="0">
                <a:solidFill>
                  <a:schemeClr val="bg1"/>
                </a:solidFill>
              </a:rPr>
              <a:t>δ (75 </a:t>
            </a:r>
            <a:r>
              <a:rPr lang="en-US" i="1" dirty="0">
                <a:solidFill>
                  <a:schemeClr val="bg1"/>
                </a:solidFill>
              </a:rPr>
              <a:t>origin–destination pairs × 3 traffic scenarios). ANOVA: F ≈ 0.001, p = 1.00. Recommended operational default: </a:t>
            </a:r>
            <a:r>
              <a:rPr lang="el-GR" i="1" dirty="0">
                <a:solidFill>
                  <a:schemeClr val="bg1"/>
                </a:solidFill>
              </a:rPr>
              <a:t>δ = 0.20.</a:t>
            </a:r>
            <a:endParaRPr lang="en-KE" i="1" dirty="0">
              <a:solidFill>
                <a:schemeClr val="bg1"/>
              </a:solidFill>
            </a:endParaRPr>
          </a:p>
        </p:txBody>
      </p:sp>
      <p:sp>
        <p:nvSpPr>
          <p:cNvPr id="18" name="TextBox 17">
            <a:extLst>
              <a:ext uri="{FF2B5EF4-FFF2-40B4-BE49-F238E27FC236}">
                <a16:creationId xmlns:a16="http://schemas.microsoft.com/office/drawing/2014/main" id="{7D5C6983-2CD9-38ED-7A07-A53CB78CA2D0}"/>
              </a:ext>
            </a:extLst>
          </p:cNvPr>
          <p:cNvSpPr txBox="1"/>
          <p:nvPr/>
        </p:nvSpPr>
        <p:spPr>
          <a:xfrm>
            <a:off x="471267" y="5085043"/>
            <a:ext cx="9845626" cy="369332"/>
          </a:xfrm>
          <a:prstGeom prst="rect">
            <a:avLst/>
          </a:prstGeom>
          <a:noFill/>
        </p:spPr>
        <p:txBody>
          <a:bodyPr wrap="square">
            <a:spAutoFit/>
          </a:bodyPr>
          <a:lstStyle/>
          <a:p>
            <a:r>
              <a:rPr lang="en-KE" dirty="0">
                <a:solidFill>
                  <a:schemeClr val="bg1"/>
                </a:solidFill>
              </a:rPr>
              <a:t>Table 3. Threshold sensitivity: mean reduction versus Dijkstra and replans per journey.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430887"/>
          </a:xfrm>
          <a:prstGeom prst="rect">
            <a:avLst/>
          </a:prstGeom>
          <a:noFill/>
        </p:spPr>
        <p:txBody>
          <a:bodyPr wrap="square">
            <a:spAutoFit/>
          </a:bodyPr>
          <a:lstStyle/>
          <a:p>
            <a:pPr algn="l"/>
            <a:r>
              <a:rPr sz="2200" b="1" dirty="0">
                <a:solidFill>
                  <a:srgbClr val="FFFFFF"/>
                </a:solidFill>
                <a:latin typeface="Cambria"/>
              </a:rPr>
              <a:t>Objective 4 </a:t>
            </a:r>
            <a:r>
              <a:rPr lang="en-US" sz="2200" b="1" dirty="0">
                <a:solidFill>
                  <a:srgbClr val="FFFFFF"/>
                </a:solidFill>
                <a:latin typeface="Cambria"/>
              </a:rPr>
              <a:t>: Mean Journey Time by Traffic Scenario</a:t>
            </a:r>
            <a:endParaRPr sz="2200" b="1" dirty="0">
              <a:solidFill>
                <a:srgbClr val="FFFFFF"/>
              </a:solidFill>
              <a:latin typeface="Cambria"/>
            </a:endParaRPr>
          </a:p>
        </p:txBody>
      </p:sp>
      <p:sp>
        <p:nvSpPr>
          <p:cNvPr id="4" name="TextBox 3"/>
          <p:cNvSpPr txBox="1"/>
          <p:nvPr/>
        </p:nvSpPr>
        <p:spPr>
          <a:xfrm>
            <a:off x="457200" y="5236586"/>
            <a:ext cx="11247120" cy="307777"/>
          </a:xfrm>
          <a:prstGeom prst="rect">
            <a:avLst/>
          </a:prstGeom>
          <a:noFill/>
        </p:spPr>
        <p:txBody>
          <a:bodyPr wrap="square">
            <a:spAutoFit/>
          </a:bodyPr>
          <a:lstStyle/>
          <a:p>
            <a:pPr algn="l"/>
            <a:r>
              <a:rPr sz="1400" b="0" i="1" dirty="0">
                <a:solidFill>
                  <a:srgbClr val="CADCFC"/>
                </a:solidFill>
                <a:latin typeface="Calibri"/>
              </a:rPr>
              <a:t>Figure: mean travel time (seconds). Same 75 pairs and clock for every method. Incident, peak, and off-peak are separate groups.</a:t>
            </a:r>
          </a:p>
        </p:txBody>
      </p:sp>
      <p:pic>
        <p:nvPicPr>
          <p:cNvPr id="5" name="Picture 4" descr="fig1_travel_time_comparison.png"/>
          <p:cNvPicPr>
            <a:picLocks noChangeAspect="1"/>
          </p:cNvPicPr>
          <p:nvPr/>
        </p:nvPicPr>
        <p:blipFill>
          <a:blip r:embed="rId3"/>
          <a:srcRect t="5806"/>
          <a:stretch>
            <a:fillRect/>
          </a:stretch>
        </p:blipFill>
        <p:spPr>
          <a:xfrm>
            <a:off x="541020" y="1313637"/>
            <a:ext cx="7452360" cy="3855816"/>
          </a:xfrm>
          <a:prstGeom prst="rect">
            <a:avLst/>
          </a:prstGeom>
        </p:spPr>
      </p:pic>
      <p:sp>
        <p:nvSpPr>
          <p:cNvPr id="7" name="TextBox 6"/>
          <p:cNvSpPr txBox="1"/>
          <p:nvPr/>
        </p:nvSpPr>
        <p:spPr>
          <a:xfrm>
            <a:off x="8321038" y="1406613"/>
            <a:ext cx="3749039" cy="323165"/>
          </a:xfrm>
          <a:prstGeom prst="rect">
            <a:avLst/>
          </a:prstGeom>
          <a:noFill/>
        </p:spPr>
        <p:txBody>
          <a:bodyPr wrap="square">
            <a:spAutoFit/>
          </a:bodyPr>
          <a:lstStyle/>
          <a:p>
            <a:pPr algn="l"/>
            <a:r>
              <a:rPr lang="en-US" sz="1500" b="1" dirty="0">
                <a:solidFill>
                  <a:srgbClr val="E8A838"/>
                </a:solidFill>
                <a:latin typeface="Calibri"/>
              </a:rPr>
              <a:t>Summary of main results</a:t>
            </a:r>
            <a:endParaRPr sz="1500" b="1" dirty="0">
              <a:solidFill>
                <a:srgbClr val="E8A838"/>
              </a:solidFill>
              <a:latin typeface="Calibri"/>
            </a:endParaRPr>
          </a:p>
        </p:txBody>
      </p:sp>
      <p:sp>
        <p:nvSpPr>
          <p:cNvPr id="8" name="TextBox 7"/>
          <p:cNvSpPr txBox="1"/>
          <p:nvPr/>
        </p:nvSpPr>
        <p:spPr>
          <a:xfrm>
            <a:off x="8321039" y="1729778"/>
            <a:ext cx="3749039" cy="3093154"/>
          </a:xfrm>
          <a:prstGeom prst="rect">
            <a:avLst/>
          </a:prstGeom>
          <a:noFill/>
        </p:spPr>
        <p:txBody>
          <a:bodyPr wrap="square">
            <a:spAutoFit/>
          </a:bodyPr>
          <a:lstStyle/>
          <a:p>
            <a:pPr algn="l"/>
            <a:r>
              <a:rPr sz="1200" b="0" dirty="0">
                <a:solidFill>
                  <a:srgbClr val="FFFFFF"/>
                </a:solidFill>
                <a:latin typeface="Consolas"/>
              </a:rPr>
              <a:t>INCIDENT — the operational result</a:t>
            </a:r>
            <a:br>
              <a:rPr sz="1300" b="0" dirty="0">
                <a:solidFill>
                  <a:srgbClr val="FFFFFF"/>
                </a:solidFill>
                <a:latin typeface="Calibri"/>
              </a:rPr>
            </a:br>
            <a:r>
              <a:rPr sz="1200" b="0" dirty="0">
                <a:solidFill>
                  <a:srgbClr val="FFFFFF"/>
                </a:solidFill>
                <a:latin typeface="Consolas"/>
              </a:rPr>
              <a:t>  Dijkstra      B1    727.5 s</a:t>
            </a:r>
            <a:br>
              <a:rPr sz="1300" b="0" dirty="0">
                <a:solidFill>
                  <a:srgbClr val="FFFFFF"/>
                </a:solidFill>
                <a:latin typeface="Calibri"/>
              </a:rPr>
            </a:br>
            <a:r>
              <a:rPr sz="1200" b="0" dirty="0">
                <a:solidFill>
                  <a:srgbClr val="FFFFFF"/>
                </a:solidFill>
                <a:latin typeface="Consolas"/>
              </a:rPr>
              <a:t>  Static A*     B2    723.2 s</a:t>
            </a:r>
            <a:br>
              <a:rPr sz="1300" b="0" dirty="0">
                <a:solidFill>
                  <a:srgbClr val="FFFFFF"/>
                </a:solidFill>
                <a:latin typeface="Calibri"/>
              </a:rPr>
            </a:br>
            <a:r>
              <a:rPr sz="1200" b="0" dirty="0">
                <a:solidFill>
                  <a:srgbClr val="FFFFFF"/>
                </a:solidFill>
                <a:latin typeface="Consolas"/>
              </a:rPr>
              <a:t>  Reactive A*   B3    603.7 s</a:t>
            </a:r>
            <a:br>
              <a:rPr sz="1300" b="0" dirty="0">
                <a:solidFill>
                  <a:srgbClr val="FFFFFF"/>
                </a:solidFill>
                <a:latin typeface="Calibri"/>
              </a:rPr>
            </a:br>
            <a:r>
              <a:rPr sz="1200" b="0" dirty="0">
                <a:solidFill>
                  <a:srgbClr val="FFFFFF"/>
                </a:solidFill>
                <a:latin typeface="Consolas"/>
              </a:rPr>
              <a:t>  Framework           598.9 s</a:t>
            </a:r>
            <a:br>
              <a:rPr sz="1300" b="0" dirty="0">
                <a:solidFill>
                  <a:srgbClr val="FFFFFF"/>
                </a:solidFill>
                <a:latin typeface="Calibri"/>
              </a:rPr>
            </a:br>
            <a:r>
              <a:rPr sz="1200" b="0" dirty="0">
                <a:solidFill>
                  <a:srgbClr val="FFFFFF"/>
                </a:solidFill>
                <a:latin typeface="Consolas"/>
              </a:rPr>
              <a:t>  Oracle        B4    580.5 s</a:t>
            </a:r>
            <a:br>
              <a:rPr sz="1300" b="0" dirty="0">
                <a:solidFill>
                  <a:srgbClr val="FFFFFF"/>
                </a:solidFill>
                <a:latin typeface="Calibri"/>
              </a:rPr>
            </a:br>
            <a:br>
              <a:rPr sz="1300" b="0" dirty="0">
                <a:solidFill>
                  <a:srgbClr val="FFFFFF"/>
                </a:solidFill>
                <a:latin typeface="Calibri"/>
              </a:rPr>
            </a:br>
            <a:r>
              <a:rPr sz="1200" b="0" dirty="0">
                <a:solidFill>
                  <a:srgbClr val="FFFFFF"/>
                </a:solidFill>
                <a:latin typeface="Consolas"/>
              </a:rPr>
              <a:t>PEAK — small but significant</a:t>
            </a:r>
            <a:br>
              <a:rPr sz="1300" b="0" dirty="0">
                <a:solidFill>
                  <a:srgbClr val="FFFFFF"/>
                </a:solidFill>
                <a:latin typeface="Calibri"/>
              </a:rPr>
            </a:br>
            <a:r>
              <a:rPr sz="1200" b="0" dirty="0">
                <a:solidFill>
                  <a:srgbClr val="FFFFFF"/>
                </a:solidFill>
                <a:latin typeface="Consolas"/>
              </a:rPr>
              <a:t>  Dijkstra      B1    513.1 s</a:t>
            </a:r>
            <a:br>
              <a:rPr sz="1300" b="0" dirty="0">
                <a:solidFill>
                  <a:srgbClr val="FFFFFF"/>
                </a:solidFill>
                <a:latin typeface="Calibri"/>
              </a:rPr>
            </a:br>
            <a:r>
              <a:rPr sz="1200" b="0" dirty="0">
                <a:solidFill>
                  <a:srgbClr val="FFFFFF"/>
                </a:solidFill>
                <a:latin typeface="Consolas"/>
              </a:rPr>
              <a:t>  Framework           506.3 s</a:t>
            </a:r>
            <a:br>
              <a:rPr sz="1300" b="0" dirty="0">
                <a:solidFill>
                  <a:srgbClr val="FFFFFF"/>
                </a:solidFill>
                <a:latin typeface="Calibri"/>
              </a:rPr>
            </a:br>
            <a:br>
              <a:rPr sz="1300" b="0" dirty="0">
                <a:solidFill>
                  <a:srgbClr val="FFFFFF"/>
                </a:solidFill>
                <a:latin typeface="Calibri"/>
              </a:rPr>
            </a:br>
            <a:r>
              <a:rPr sz="1200" b="0" dirty="0">
                <a:solidFill>
                  <a:srgbClr val="FFFFFF"/>
                </a:solidFill>
                <a:latin typeface="Consolas"/>
              </a:rPr>
              <a:t>OFF-PEAK — negative control</a:t>
            </a:r>
            <a:br>
              <a:rPr sz="1300" b="0" dirty="0">
                <a:solidFill>
                  <a:srgbClr val="FFFFFF"/>
                </a:solidFill>
                <a:latin typeface="Calibri"/>
              </a:rPr>
            </a:br>
            <a:r>
              <a:rPr sz="1200" b="0" dirty="0">
                <a:solidFill>
                  <a:srgbClr val="FFFFFF"/>
                </a:solidFill>
                <a:latin typeface="Consolas"/>
              </a:rPr>
              <a:t>  All methods         ~403.4 s</a:t>
            </a:r>
            <a:br>
              <a:rPr sz="1300" b="0" dirty="0">
                <a:solidFill>
                  <a:srgbClr val="FFFFFF"/>
                </a:solidFill>
                <a:latin typeface="Calibri"/>
              </a:rPr>
            </a:br>
            <a:br>
              <a:rPr sz="1300" b="0" dirty="0">
                <a:solidFill>
                  <a:srgbClr val="FFFFFF"/>
                </a:solidFill>
                <a:latin typeface="Calibri"/>
              </a:rPr>
            </a:br>
            <a:r>
              <a:rPr sz="1200" b="0" dirty="0">
                <a:solidFill>
                  <a:srgbClr val="FFFFFF"/>
                </a:solidFill>
                <a:latin typeface="Consolas"/>
              </a:rPr>
              <a:t>Framework stays above the oracle</a:t>
            </a:r>
            <a:br>
              <a:rPr sz="1300" b="0" dirty="0">
                <a:solidFill>
                  <a:srgbClr val="FFFFFF"/>
                </a:solidFill>
                <a:latin typeface="Calibri"/>
              </a:rPr>
            </a:br>
            <a:r>
              <a:rPr sz="1200" b="0" dirty="0">
                <a:solidFill>
                  <a:srgbClr val="FFFFFF"/>
                </a:solidFill>
                <a:latin typeface="Consolas"/>
              </a:rPr>
              <a:t>(-1.69% overall). That is what an</a:t>
            </a:r>
            <a:br>
              <a:rPr sz="1300" b="0" dirty="0">
                <a:solidFill>
                  <a:srgbClr val="FFFFFF"/>
                </a:solidFill>
                <a:latin typeface="Calibri"/>
              </a:rPr>
            </a:br>
            <a:r>
              <a:rPr sz="1200" b="0" dirty="0">
                <a:solidFill>
                  <a:srgbClr val="FFFFFF"/>
                </a:solidFill>
                <a:latin typeface="Consolas"/>
              </a:rPr>
              <a:t>honest ceiling looks like.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430887"/>
          </a:xfrm>
          <a:prstGeom prst="rect">
            <a:avLst/>
          </a:prstGeom>
          <a:noFill/>
        </p:spPr>
        <p:txBody>
          <a:bodyPr wrap="square">
            <a:spAutoFit/>
          </a:bodyPr>
          <a:lstStyle/>
          <a:p>
            <a:pPr algn="l"/>
            <a:r>
              <a:rPr lang="en-US" sz="2200" b="1" dirty="0">
                <a:solidFill>
                  <a:srgbClr val="FFFFFF"/>
                </a:solidFill>
                <a:latin typeface="Cambria"/>
              </a:rPr>
              <a:t>Objective 4: Percentage reduction versus baseline B1</a:t>
            </a:r>
            <a:endParaRPr sz="2200" b="1" dirty="0">
              <a:solidFill>
                <a:srgbClr val="FFFFFF"/>
              </a:solidFill>
              <a:latin typeface="Cambria"/>
            </a:endParaRPr>
          </a:p>
        </p:txBody>
      </p:sp>
      <p:sp>
        <p:nvSpPr>
          <p:cNvPr id="4" name="TextBox 3"/>
          <p:cNvSpPr txBox="1"/>
          <p:nvPr/>
        </p:nvSpPr>
        <p:spPr>
          <a:xfrm>
            <a:off x="537253" y="4204013"/>
            <a:ext cx="11247120" cy="292388"/>
          </a:xfrm>
          <a:prstGeom prst="rect">
            <a:avLst/>
          </a:prstGeom>
          <a:noFill/>
        </p:spPr>
        <p:txBody>
          <a:bodyPr wrap="square">
            <a:spAutoFit/>
          </a:bodyPr>
          <a:lstStyle/>
          <a:p>
            <a:pPr algn="l"/>
            <a:r>
              <a:rPr sz="1300" b="0" dirty="0">
                <a:solidFill>
                  <a:srgbClr val="CADCFC"/>
                </a:solidFill>
                <a:latin typeface="Calibri"/>
              </a:rPr>
              <a:t>Figure: mean % reduction </a:t>
            </a:r>
            <a:r>
              <a:rPr sz="1300" b="0" i="1" dirty="0">
                <a:solidFill>
                  <a:srgbClr val="CADCFC"/>
                </a:solidFill>
                <a:latin typeface="Calibri"/>
              </a:rPr>
              <a:t>versus</a:t>
            </a:r>
            <a:r>
              <a:rPr sz="1300" b="0" dirty="0">
                <a:solidFill>
                  <a:srgbClr val="CADCFC"/>
                </a:solidFill>
                <a:latin typeface="Calibri"/>
              </a:rPr>
              <a:t> Dijkstra.  N = 300 per </a:t>
            </a:r>
            <a:r>
              <a:rPr lang="en-US" sz="1300" b="0" dirty="0">
                <a:solidFill>
                  <a:srgbClr val="CADCFC"/>
                </a:solidFill>
                <a:latin typeface="Calibri"/>
              </a:rPr>
              <a:t>traffic scenario</a:t>
            </a:r>
            <a:r>
              <a:rPr sz="1300" b="0" dirty="0">
                <a:solidFill>
                  <a:srgbClr val="CADCFC"/>
                </a:solidFill>
                <a:latin typeface="Calibri"/>
              </a:rPr>
              <a:t>  (75 pairs × 4 values of δ).  Positive = faster than current-map dispatch.</a:t>
            </a:r>
          </a:p>
        </p:txBody>
      </p:sp>
      <p:pic>
        <p:nvPicPr>
          <p:cNvPr id="5" name="Picture 4" descr="fig2_reduction_by_scenario.png"/>
          <p:cNvPicPr>
            <a:picLocks noChangeAspect="1"/>
          </p:cNvPicPr>
          <p:nvPr/>
        </p:nvPicPr>
        <p:blipFill>
          <a:blip r:embed="rId3"/>
          <a:srcRect t="7850"/>
          <a:stretch>
            <a:fillRect/>
          </a:stretch>
        </p:blipFill>
        <p:spPr>
          <a:xfrm>
            <a:off x="596022" y="605745"/>
            <a:ext cx="9569644" cy="3483903"/>
          </a:xfrm>
          <a:prstGeom prst="rect">
            <a:avLst/>
          </a:prstGeom>
        </p:spPr>
      </p:pic>
      <p:sp>
        <p:nvSpPr>
          <p:cNvPr id="8" name="TextBox 7"/>
          <p:cNvSpPr txBox="1"/>
          <p:nvPr/>
        </p:nvSpPr>
        <p:spPr>
          <a:xfrm>
            <a:off x="596022" y="4609725"/>
            <a:ext cx="9766495" cy="292388"/>
          </a:xfrm>
          <a:prstGeom prst="rect">
            <a:avLst/>
          </a:prstGeom>
          <a:noFill/>
        </p:spPr>
        <p:txBody>
          <a:bodyPr wrap="square">
            <a:spAutoFit/>
          </a:bodyPr>
          <a:lstStyle/>
          <a:p>
            <a:r>
              <a:rPr lang="en-US" sz="1300" b="1" dirty="0">
                <a:solidFill>
                  <a:srgbClr val="E8A838"/>
                </a:solidFill>
              </a:rPr>
              <a:t>Statistical summary</a:t>
            </a:r>
          </a:p>
        </p:txBody>
      </p:sp>
      <p:graphicFrame>
        <p:nvGraphicFramePr>
          <p:cNvPr id="12" name="Table 11">
            <a:extLst>
              <a:ext uri="{FF2B5EF4-FFF2-40B4-BE49-F238E27FC236}">
                <a16:creationId xmlns:a16="http://schemas.microsoft.com/office/drawing/2014/main" id="{5F9CEF6C-5074-C8CA-CEAD-CD4CAE61BF4C}"/>
              </a:ext>
            </a:extLst>
          </p:cNvPr>
          <p:cNvGraphicFramePr>
            <a:graphicFrameLocks noGrp="1"/>
          </p:cNvGraphicFramePr>
          <p:nvPr>
            <p:extLst>
              <p:ext uri="{D42A27DB-BD31-4B8C-83A1-F6EECF244321}">
                <p14:modId xmlns:p14="http://schemas.microsoft.com/office/powerpoint/2010/main" val="322246548"/>
              </p:ext>
            </p:extLst>
          </p:nvPr>
        </p:nvGraphicFramePr>
        <p:xfrm>
          <a:off x="596022" y="5015437"/>
          <a:ext cx="8229600" cy="863092"/>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3658909363"/>
                    </a:ext>
                  </a:extLst>
                </a:gridCol>
                <a:gridCol w="2743200">
                  <a:extLst>
                    <a:ext uri="{9D8B030D-6E8A-4147-A177-3AD203B41FA5}">
                      <a16:colId xmlns:a16="http://schemas.microsoft.com/office/drawing/2014/main" val="36735644"/>
                    </a:ext>
                  </a:extLst>
                </a:gridCol>
                <a:gridCol w="2743200">
                  <a:extLst>
                    <a:ext uri="{9D8B030D-6E8A-4147-A177-3AD203B41FA5}">
                      <a16:colId xmlns:a16="http://schemas.microsoft.com/office/drawing/2014/main" val="3753591391"/>
                    </a:ext>
                  </a:extLst>
                </a:gridCol>
              </a:tblGrid>
              <a:tr h="0">
                <a:tc>
                  <a:txBody>
                    <a:bodyPr/>
                    <a:lstStyle/>
                    <a:p>
                      <a:pPr marL="0" marR="0" indent="0" algn="l" fontAlgn="t">
                        <a:lnSpc>
                          <a:spcPct val="111111"/>
                        </a:lnSpc>
                        <a:buNone/>
                      </a:pPr>
                      <a:r>
                        <a:rPr lang="en-KE" sz="900">
                          <a:effectLst/>
                        </a:rPr>
                        <a:t>Traffic scenario</a:t>
                      </a:r>
                      <a:endParaRPr lang="en-KE" sz="900" b="1"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vs B1</a:t>
                      </a:r>
                      <a:endParaRPr lang="en-KE" sz="900" b="1"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Significance</a:t>
                      </a:r>
                      <a:endParaRPr lang="en-KE" sz="900" b="1" i="0">
                        <a:solidFill>
                          <a:srgbClr val="F0F0F0"/>
                        </a:solidFill>
                        <a:effectLst/>
                        <a:latin typeface="system-ui"/>
                      </a:endParaRPr>
                    </a:p>
                  </a:txBody>
                  <a:tcPr marL="57150" marR="57150" marT="31750" marB="31750"/>
                </a:tc>
                <a:extLst>
                  <a:ext uri="{0D108BD9-81ED-4DB2-BD59-A6C34878D82A}">
                    <a16:rowId xmlns:a16="http://schemas.microsoft.com/office/drawing/2014/main" val="1714829649"/>
                  </a:ext>
                </a:extLst>
              </a:tr>
              <a:tr h="0">
                <a:tc>
                  <a:txBody>
                    <a:bodyPr/>
                    <a:lstStyle/>
                    <a:p>
                      <a:pPr marL="0" marR="0" indent="0" algn="l" fontAlgn="t">
                        <a:lnSpc>
                          <a:spcPct val="111111"/>
                        </a:lnSpc>
                        <a:buNone/>
                      </a:pPr>
                      <a:r>
                        <a:rPr lang="en-KE" sz="900">
                          <a:effectLst/>
                        </a:rPr>
                        <a:t>Incident</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+16.19%</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t = 26.43, p &lt; .001</a:t>
                      </a:r>
                      <a:endParaRPr lang="en-KE" sz="900" b="0" i="0">
                        <a:solidFill>
                          <a:srgbClr val="F0F0F0"/>
                        </a:solidFill>
                        <a:effectLst/>
                        <a:latin typeface="system-ui"/>
                      </a:endParaRPr>
                    </a:p>
                  </a:txBody>
                  <a:tcPr marL="57150" marR="57150" marT="31750" marB="31750"/>
                </a:tc>
                <a:extLst>
                  <a:ext uri="{0D108BD9-81ED-4DB2-BD59-A6C34878D82A}">
                    <a16:rowId xmlns:a16="http://schemas.microsoft.com/office/drawing/2014/main" val="1063887982"/>
                  </a:ext>
                </a:extLst>
              </a:tr>
              <a:tr h="0">
                <a:tc>
                  <a:txBody>
                    <a:bodyPr/>
                    <a:lstStyle/>
                    <a:p>
                      <a:pPr marL="0" marR="0" indent="0" algn="l" fontAlgn="t">
                        <a:lnSpc>
                          <a:spcPct val="111111"/>
                        </a:lnSpc>
                        <a:buNone/>
                      </a:pPr>
                      <a:r>
                        <a:rPr lang="en-KE" sz="900">
                          <a:effectLst/>
                        </a:rPr>
                        <a:t>Peak hour</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+1.03%</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t = 3.81, p = .0002</a:t>
                      </a:r>
                      <a:endParaRPr lang="en-KE" sz="900" b="0" i="0">
                        <a:solidFill>
                          <a:srgbClr val="F0F0F0"/>
                        </a:solidFill>
                        <a:effectLst/>
                        <a:latin typeface="system-ui"/>
                      </a:endParaRPr>
                    </a:p>
                  </a:txBody>
                  <a:tcPr marL="57150" marR="57150" marT="31750" marB="31750"/>
                </a:tc>
                <a:extLst>
                  <a:ext uri="{0D108BD9-81ED-4DB2-BD59-A6C34878D82A}">
                    <a16:rowId xmlns:a16="http://schemas.microsoft.com/office/drawing/2014/main" val="1480329626"/>
                  </a:ext>
                </a:extLst>
              </a:tr>
              <a:tr h="0">
                <a:tc>
                  <a:txBody>
                    <a:bodyPr/>
                    <a:lstStyle/>
                    <a:p>
                      <a:pPr marL="0" marR="0" indent="0" algn="l" fontAlgn="t">
                        <a:lnSpc>
                          <a:spcPct val="111111"/>
                        </a:lnSpc>
                        <a:buNone/>
                      </a:pPr>
                      <a:r>
                        <a:rPr lang="en-KE" sz="900">
                          <a:effectLst/>
                        </a:rPr>
                        <a:t>Off-peak</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a:effectLst/>
                        </a:rPr>
                        <a:t>+0.01%</a:t>
                      </a:r>
                      <a:endParaRPr lang="en-KE" sz="900" b="0" i="0">
                        <a:solidFill>
                          <a:srgbClr val="F0F0F0"/>
                        </a:solidFill>
                        <a:effectLst/>
                        <a:latin typeface="system-ui"/>
                      </a:endParaRPr>
                    </a:p>
                  </a:txBody>
                  <a:tcPr marL="57150" marR="57150" marT="31750" marB="31750"/>
                </a:tc>
                <a:tc>
                  <a:txBody>
                    <a:bodyPr/>
                    <a:lstStyle/>
                    <a:p>
                      <a:pPr marL="0" marR="0" indent="0" algn="l" fontAlgn="t">
                        <a:lnSpc>
                          <a:spcPct val="111111"/>
                        </a:lnSpc>
                        <a:buNone/>
                      </a:pPr>
                      <a:r>
                        <a:rPr lang="en-KE" sz="900" dirty="0">
                          <a:effectLst/>
                        </a:rPr>
                        <a:t>t = 0.12, p = .90 (n.s.)</a:t>
                      </a:r>
                      <a:endParaRPr lang="en-KE" sz="900" b="0" i="0" dirty="0">
                        <a:solidFill>
                          <a:srgbClr val="F0F0F0"/>
                        </a:solidFill>
                        <a:effectLst/>
                        <a:latin typeface="system-ui"/>
                      </a:endParaRPr>
                    </a:p>
                  </a:txBody>
                  <a:tcPr marL="57150" marR="57150" marT="31750" marB="31750"/>
                </a:tc>
                <a:extLst>
                  <a:ext uri="{0D108BD9-81ED-4DB2-BD59-A6C34878D82A}">
                    <a16:rowId xmlns:a16="http://schemas.microsoft.com/office/drawing/2014/main" val="3360243934"/>
                  </a:ext>
                </a:extLst>
              </a:tr>
            </a:tbl>
          </a:graphicData>
        </a:graphic>
      </p:graphicFrame>
      <p:sp>
        <p:nvSpPr>
          <p:cNvPr id="14" name="TextBox 13">
            <a:extLst>
              <a:ext uri="{FF2B5EF4-FFF2-40B4-BE49-F238E27FC236}">
                <a16:creationId xmlns:a16="http://schemas.microsoft.com/office/drawing/2014/main" id="{27FF229A-6EE7-4163-A1FD-F704C2CC797F}"/>
              </a:ext>
            </a:extLst>
          </p:cNvPr>
          <p:cNvSpPr txBox="1"/>
          <p:nvPr/>
        </p:nvSpPr>
        <p:spPr>
          <a:xfrm>
            <a:off x="497548" y="6072949"/>
            <a:ext cx="10109492" cy="292388"/>
          </a:xfrm>
          <a:prstGeom prst="rect">
            <a:avLst/>
          </a:prstGeom>
          <a:noFill/>
        </p:spPr>
        <p:txBody>
          <a:bodyPr wrap="square">
            <a:spAutoFit/>
          </a:bodyPr>
          <a:lstStyle/>
          <a:p>
            <a:r>
              <a:rPr lang="en-US" sz="1300" b="0" dirty="0">
                <a:solidFill>
                  <a:srgbClr val="FFFFFF"/>
                </a:solidFill>
                <a:latin typeface="Calibri"/>
              </a:rPr>
              <a:t>Overall</a:t>
            </a:r>
            <a:r>
              <a:rPr lang="en-US" sz="1300" dirty="0">
                <a:solidFill>
                  <a:srgbClr val="FFFFFF"/>
                </a:solidFill>
                <a:latin typeface="Calibri"/>
              </a:rPr>
              <a:t>:	</a:t>
            </a:r>
            <a:r>
              <a:rPr lang="en-US" sz="1300" b="0" dirty="0">
                <a:solidFill>
                  <a:srgbClr val="FFFFFF"/>
                </a:solidFill>
                <a:latin typeface="Calibri"/>
              </a:rPr>
              <a:t>versus Dijkstra  +5.74%	versus historical A*  +7.39%  	versus reactive A*  +0.61% 		versus oracle  −1.69%</a:t>
            </a:r>
            <a:endParaRPr lang="en-K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
            <a:ext cx="10972800" cy="430887"/>
          </a:xfrm>
          <a:prstGeom prst="rect">
            <a:avLst/>
          </a:prstGeom>
          <a:noFill/>
        </p:spPr>
        <p:txBody>
          <a:bodyPr wrap="square">
            <a:spAutoFit/>
          </a:bodyPr>
          <a:lstStyle/>
          <a:p>
            <a:pPr algn="l"/>
            <a:r>
              <a:rPr sz="2200" b="1" dirty="0">
                <a:solidFill>
                  <a:srgbClr val="FFFFFF"/>
                </a:solidFill>
                <a:latin typeface="Cambria"/>
              </a:rPr>
              <a:t>Objective 4 — </a:t>
            </a:r>
            <a:r>
              <a:rPr lang="en-US" sz="2200" b="1" dirty="0">
                <a:solidFill>
                  <a:srgbClr val="FFFFFF"/>
                </a:solidFill>
                <a:latin typeface="Cambria"/>
              </a:rPr>
              <a:t>Computational Latency Analysis</a:t>
            </a:r>
            <a:endParaRPr sz="2200" b="1" dirty="0">
              <a:solidFill>
                <a:srgbClr val="FFFFFF"/>
              </a:solidFill>
              <a:latin typeface="Cambria"/>
            </a:endParaRPr>
          </a:p>
        </p:txBody>
      </p:sp>
      <p:sp>
        <p:nvSpPr>
          <p:cNvPr id="4" name="TextBox 3"/>
          <p:cNvSpPr txBox="1"/>
          <p:nvPr/>
        </p:nvSpPr>
        <p:spPr>
          <a:xfrm>
            <a:off x="472286" y="4998019"/>
            <a:ext cx="11247120" cy="292388"/>
          </a:xfrm>
          <a:prstGeom prst="rect">
            <a:avLst/>
          </a:prstGeom>
          <a:noFill/>
        </p:spPr>
        <p:txBody>
          <a:bodyPr wrap="square">
            <a:spAutoFit/>
          </a:bodyPr>
          <a:lstStyle/>
          <a:p>
            <a:pPr algn="l"/>
            <a:r>
              <a:rPr sz="1300" b="0" dirty="0">
                <a:solidFill>
                  <a:srgbClr val="CADCFC"/>
                </a:solidFill>
                <a:latin typeface="Calibri"/>
              </a:rPr>
              <a:t>Figure: </a:t>
            </a:r>
            <a:r>
              <a:rPr sz="1300" b="0" i="1" dirty="0">
                <a:solidFill>
                  <a:srgbClr val="CADCFC"/>
                </a:solidFill>
                <a:latin typeface="Calibri"/>
              </a:rPr>
              <a:t>time-dependent</a:t>
            </a:r>
            <a:r>
              <a:rPr sz="1300" b="0" dirty="0">
                <a:solidFill>
                  <a:srgbClr val="CADCFC"/>
                </a:solidFill>
                <a:latin typeface="Calibri"/>
              </a:rPr>
              <a:t> A* search time and GRU inference time. Target is 1,000 milliseconds.</a:t>
            </a:r>
          </a:p>
        </p:txBody>
      </p:sp>
      <p:pic>
        <p:nvPicPr>
          <p:cNvPr id="5" name="Picture 4" descr="fig4_computational_performance.png"/>
          <p:cNvPicPr>
            <a:picLocks noChangeAspect="1"/>
          </p:cNvPicPr>
          <p:nvPr/>
        </p:nvPicPr>
        <p:blipFill>
          <a:blip r:embed="rId3"/>
          <a:srcRect t="6847"/>
          <a:stretch>
            <a:fillRect/>
          </a:stretch>
        </p:blipFill>
        <p:spPr>
          <a:xfrm>
            <a:off x="609446" y="740089"/>
            <a:ext cx="10972801" cy="4248211"/>
          </a:xfrm>
          <a:prstGeom prst="rect">
            <a:avLst/>
          </a:prstGeom>
        </p:spPr>
      </p:pic>
      <p:sp>
        <p:nvSpPr>
          <p:cNvPr id="7" name="TextBox 6"/>
          <p:cNvSpPr txBox="1"/>
          <p:nvPr/>
        </p:nvSpPr>
        <p:spPr>
          <a:xfrm>
            <a:off x="609446" y="5296958"/>
            <a:ext cx="3703320" cy="323165"/>
          </a:xfrm>
          <a:prstGeom prst="rect">
            <a:avLst/>
          </a:prstGeom>
          <a:noFill/>
        </p:spPr>
        <p:txBody>
          <a:bodyPr wrap="square">
            <a:spAutoFit/>
          </a:bodyPr>
          <a:lstStyle/>
          <a:p>
            <a:pPr algn="l"/>
            <a:r>
              <a:rPr lang="en-US" sz="1500" b="1" dirty="0">
                <a:solidFill>
                  <a:srgbClr val="E8A838"/>
                </a:solidFill>
                <a:latin typeface="Calibri"/>
              </a:rPr>
              <a:t>Measured response time</a:t>
            </a:r>
            <a:endParaRPr sz="1500" b="1" dirty="0">
              <a:solidFill>
                <a:srgbClr val="E8A838"/>
              </a:solidFill>
              <a:latin typeface="Calibri"/>
            </a:endParaRPr>
          </a:p>
        </p:txBody>
      </p:sp>
      <p:sp>
        <p:nvSpPr>
          <p:cNvPr id="8" name="TextBox 7"/>
          <p:cNvSpPr txBox="1"/>
          <p:nvPr/>
        </p:nvSpPr>
        <p:spPr>
          <a:xfrm>
            <a:off x="609446" y="5629842"/>
            <a:ext cx="7642274" cy="954107"/>
          </a:xfrm>
          <a:prstGeom prst="rect">
            <a:avLst/>
          </a:prstGeom>
          <a:noFill/>
        </p:spPr>
        <p:txBody>
          <a:bodyPr wrap="square">
            <a:spAutoFit/>
          </a:bodyPr>
          <a:lstStyle/>
          <a:p>
            <a:pPr algn="l"/>
            <a:r>
              <a:rPr sz="1400" b="0" dirty="0">
                <a:solidFill>
                  <a:srgbClr val="FFFFFF"/>
                </a:solidFill>
                <a:latin typeface="Calibri"/>
              </a:rPr>
              <a:t>Time-dependent A*   </a:t>
            </a:r>
            <a:r>
              <a:rPr lang="en-US" sz="1400" b="0" dirty="0">
                <a:solidFill>
                  <a:srgbClr val="FFFFFF"/>
                </a:solidFill>
                <a:latin typeface="Calibri"/>
              </a:rPr>
              <a:t>		</a:t>
            </a:r>
            <a:r>
              <a:rPr sz="1400" b="0" dirty="0">
                <a:solidFill>
                  <a:srgbClr val="FFFFFF"/>
                </a:solidFill>
                <a:latin typeface="Calibri"/>
              </a:rPr>
              <a:t> 0.37 </a:t>
            </a:r>
            <a:r>
              <a:rPr sz="1400" b="0" dirty="0" err="1">
                <a:solidFill>
                  <a:srgbClr val="FFFFFF"/>
                </a:solidFill>
                <a:latin typeface="Calibri"/>
              </a:rPr>
              <a:t>ms</a:t>
            </a:r>
            <a:r>
              <a:rPr sz="1400" b="0" dirty="0">
                <a:solidFill>
                  <a:srgbClr val="FFFFFF"/>
                </a:solidFill>
                <a:latin typeface="Calibri"/>
              </a:rPr>
              <a:t>
GRU inference         </a:t>
            </a:r>
            <a:r>
              <a:rPr lang="en-US" sz="1400" b="0" dirty="0">
                <a:solidFill>
                  <a:srgbClr val="FFFFFF"/>
                </a:solidFill>
                <a:latin typeface="Calibri"/>
              </a:rPr>
              <a:t>		</a:t>
            </a:r>
            <a:r>
              <a:rPr sz="1400" b="0" dirty="0">
                <a:solidFill>
                  <a:srgbClr val="FFFFFF"/>
                </a:solidFill>
                <a:latin typeface="Calibri"/>
              </a:rPr>
              <a:t>39.3 </a:t>
            </a:r>
            <a:r>
              <a:rPr sz="1400" b="0" dirty="0" err="1">
                <a:solidFill>
                  <a:srgbClr val="FFFFFF"/>
                </a:solidFill>
                <a:latin typeface="Calibri"/>
              </a:rPr>
              <a:t>ms</a:t>
            </a:r>
            <a:r>
              <a:rPr sz="1400" b="0" dirty="0">
                <a:solidFill>
                  <a:srgbClr val="FFFFFF"/>
                </a:solidFill>
                <a:latin typeface="Calibri"/>
              </a:rPr>
              <a:t>
</a:t>
            </a:r>
            <a:r>
              <a:rPr lang="en-US" sz="1400" b="0" dirty="0">
                <a:solidFill>
                  <a:srgbClr val="FFFFFF"/>
                </a:solidFill>
                <a:latin typeface="Calibri"/>
              </a:rPr>
              <a:t>Combined system response</a:t>
            </a:r>
            <a:r>
              <a:rPr sz="1400" b="0" dirty="0">
                <a:solidFill>
                  <a:srgbClr val="FFFFFF"/>
                </a:solidFill>
                <a:latin typeface="Calibri"/>
              </a:rPr>
              <a:t>         ≈ 40 </a:t>
            </a:r>
            <a:r>
              <a:rPr sz="1400" b="0" dirty="0" err="1">
                <a:solidFill>
                  <a:srgbClr val="FFFFFF"/>
                </a:solidFill>
                <a:latin typeface="Calibri"/>
              </a:rPr>
              <a:t>ms</a:t>
            </a:r>
            <a:r>
              <a:rPr sz="1400" b="0" dirty="0">
                <a:solidFill>
                  <a:srgbClr val="FFFFFF"/>
                </a:solidFill>
                <a:latin typeface="Calibri"/>
              </a:rPr>
              <a:t>
</a:t>
            </a:r>
            <a:r>
              <a:rPr lang="en-US" sz="1400" b="0" dirty="0">
                <a:solidFill>
                  <a:srgbClr val="FFFFFF"/>
                </a:solidFill>
                <a:latin typeface="Calibri"/>
              </a:rPr>
              <a:t>One-second response limit	</a:t>
            </a:r>
            <a:r>
              <a:rPr sz="1400" b="0" dirty="0">
                <a:solidFill>
                  <a:srgbClr val="FFFFFF"/>
                </a:solidFill>
                <a:latin typeface="Calibri"/>
              </a:rPr>
              <a:t>1,000 </a:t>
            </a:r>
            <a:r>
              <a:rPr sz="1400" b="0" dirty="0" err="1">
                <a:solidFill>
                  <a:srgbClr val="FFFFFF"/>
                </a:solidFill>
                <a:latin typeface="Calibri"/>
              </a:rPr>
              <a:t>ms</a:t>
            </a:r>
            <a:endParaRPr sz="1400" b="0" dirty="0">
              <a:solidFill>
                <a:srgbClr val="FFFFFF"/>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430887"/>
          </a:xfrm>
          <a:prstGeom prst="rect">
            <a:avLst/>
          </a:prstGeom>
          <a:noFill/>
        </p:spPr>
        <p:txBody>
          <a:bodyPr wrap="square">
            <a:spAutoFit/>
          </a:bodyPr>
          <a:lstStyle/>
          <a:p>
            <a:pPr algn="l"/>
            <a:r>
              <a:rPr lang="en-US" sz="2200" b="1" dirty="0">
                <a:solidFill>
                  <a:srgbClr val="FFFFFF"/>
                </a:solidFill>
                <a:latin typeface="Cambria"/>
              </a:rPr>
              <a:t>Study Limitations and Mitigations</a:t>
            </a:r>
            <a:endParaRPr sz="2200" b="1" dirty="0">
              <a:solidFill>
                <a:srgbClr val="FFFFFF"/>
              </a:solidFill>
              <a:latin typeface="Cambria"/>
            </a:endParaRPr>
          </a:p>
        </p:txBody>
      </p:sp>
      <p:sp>
        <p:nvSpPr>
          <p:cNvPr id="4" name="Rounded Rectangle 3"/>
          <p:cNvSpPr/>
          <p:nvPr/>
        </p:nvSpPr>
        <p:spPr>
          <a:xfrm>
            <a:off x="411480" y="731520"/>
            <a:ext cx="5577840" cy="5074920"/>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96112"/>
            <a:ext cx="5120640" cy="338554"/>
          </a:xfrm>
          <a:prstGeom prst="rect">
            <a:avLst/>
          </a:prstGeom>
          <a:noFill/>
        </p:spPr>
        <p:txBody>
          <a:bodyPr wrap="square">
            <a:spAutoFit/>
          </a:bodyPr>
          <a:lstStyle/>
          <a:p>
            <a:pPr algn="l"/>
            <a:r>
              <a:rPr lang="en-US" sz="1600" b="1" dirty="0">
                <a:solidFill>
                  <a:srgbClr val="E8A838"/>
                </a:solidFill>
                <a:latin typeface="Calibri"/>
              </a:rPr>
              <a:t>Scope limitations</a:t>
            </a:r>
            <a:endParaRPr sz="1600" b="1" dirty="0">
              <a:solidFill>
                <a:srgbClr val="E8A838"/>
              </a:solidFill>
              <a:latin typeface="Calibri"/>
            </a:endParaRPr>
          </a:p>
        </p:txBody>
      </p:sp>
      <p:sp>
        <p:nvSpPr>
          <p:cNvPr id="6" name="TextBox 5"/>
          <p:cNvSpPr txBox="1"/>
          <p:nvPr/>
        </p:nvSpPr>
        <p:spPr>
          <a:xfrm>
            <a:off x="624840" y="1482313"/>
            <a:ext cx="5120640" cy="1946687"/>
          </a:xfrm>
          <a:prstGeom prst="rect">
            <a:avLst/>
          </a:prstGeom>
          <a:noFill/>
        </p:spPr>
        <p:txBody>
          <a:bodyPr wrap="square">
            <a:spAutoFit/>
          </a:bodyPr>
          <a:lstStyle/>
          <a:p>
            <a:pPr algn="l">
              <a:spcAft>
                <a:spcPts val="900"/>
              </a:spcAft>
            </a:pPr>
            <a:r>
              <a:rPr sz="1400" dirty="0">
                <a:solidFill>
                  <a:srgbClr val="FFFFFF"/>
                </a:solidFill>
                <a:latin typeface="Calibri"/>
              </a:rPr>
              <a:t>•  METR-LA and PEMS-BAY are United States freeway detectors. They are not Nairobi mixed traffic.</a:t>
            </a:r>
          </a:p>
          <a:p>
            <a:pPr algn="l">
              <a:spcAft>
                <a:spcPts val="900"/>
              </a:spcAft>
            </a:pPr>
            <a:r>
              <a:rPr sz="1400" dirty="0">
                <a:solidFill>
                  <a:srgbClr val="FFFFFF"/>
                </a:solidFill>
                <a:latin typeface="Calibri"/>
              </a:rPr>
              <a:t>•  The 900 journeys used 100% detector coverage. The percentages describe that graph. </a:t>
            </a:r>
            <a:endParaRPr lang="en-US" sz="1400" dirty="0">
              <a:solidFill>
                <a:srgbClr val="FFFFFF"/>
              </a:solidFill>
              <a:latin typeface="Calibri"/>
            </a:endParaRPr>
          </a:p>
          <a:p>
            <a:pPr algn="l">
              <a:spcAft>
                <a:spcPts val="900"/>
              </a:spcAft>
            </a:pPr>
            <a:r>
              <a:rPr sz="1400" dirty="0">
                <a:solidFill>
                  <a:srgbClr val="FFFFFF"/>
                </a:solidFill>
                <a:latin typeface="Calibri"/>
              </a:rPr>
              <a:t>•  A 10–30% coverage run, as a sparse-sensor analogue, was not executed.</a:t>
            </a:r>
          </a:p>
          <a:p>
            <a:pPr algn="l">
              <a:spcAft>
                <a:spcPts val="900"/>
              </a:spcAft>
            </a:pPr>
            <a:r>
              <a:rPr sz="1400" dirty="0">
                <a:solidFill>
                  <a:srgbClr val="FFFFFF"/>
                </a:solidFill>
                <a:latin typeface="Calibri"/>
              </a:rPr>
              <a:t>•  One vehicle. Multi-unit interference was not modelled.</a:t>
            </a:r>
          </a:p>
        </p:txBody>
      </p:sp>
      <p:sp>
        <p:nvSpPr>
          <p:cNvPr id="7" name="Rounded Rectangle 6"/>
          <p:cNvSpPr/>
          <p:nvPr/>
        </p:nvSpPr>
        <p:spPr>
          <a:xfrm>
            <a:off x="6217920" y="731520"/>
            <a:ext cx="5577840" cy="5074920"/>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896112"/>
            <a:ext cx="5120640" cy="338554"/>
          </a:xfrm>
          <a:prstGeom prst="rect">
            <a:avLst/>
          </a:prstGeom>
          <a:noFill/>
        </p:spPr>
        <p:txBody>
          <a:bodyPr wrap="square">
            <a:spAutoFit/>
          </a:bodyPr>
          <a:lstStyle/>
          <a:p>
            <a:pPr algn="l"/>
            <a:r>
              <a:rPr lang="en-US" sz="1600" b="1" dirty="0">
                <a:solidFill>
                  <a:srgbClr val="E8A838"/>
                </a:solidFill>
                <a:latin typeface="Calibri"/>
              </a:rPr>
              <a:t>Validity controls applied in this study</a:t>
            </a:r>
            <a:endParaRPr sz="1600" b="1" dirty="0">
              <a:solidFill>
                <a:srgbClr val="E8A838"/>
              </a:solidFill>
              <a:latin typeface="Calibri"/>
            </a:endParaRPr>
          </a:p>
        </p:txBody>
      </p:sp>
      <p:sp>
        <p:nvSpPr>
          <p:cNvPr id="9" name="TextBox 8"/>
          <p:cNvSpPr txBox="1"/>
          <p:nvPr/>
        </p:nvSpPr>
        <p:spPr>
          <a:xfrm>
            <a:off x="6446520" y="1371600"/>
            <a:ext cx="5120640" cy="2492990"/>
          </a:xfrm>
          <a:prstGeom prst="rect">
            <a:avLst/>
          </a:prstGeom>
          <a:noFill/>
        </p:spPr>
        <p:txBody>
          <a:bodyPr wrap="square">
            <a:spAutoFit/>
          </a:bodyPr>
          <a:lstStyle/>
          <a:p>
            <a:pPr algn="l">
              <a:spcAft>
                <a:spcPts val="900"/>
              </a:spcAft>
            </a:pPr>
            <a:r>
              <a:rPr sz="1400" dirty="0">
                <a:solidFill>
                  <a:srgbClr val="FFFFFF"/>
                </a:solidFill>
                <a:latin typeface="Calibri"/>
              </a:rPr>
              <a:t>•  Did not invent speeds on unmapped streets: routed only on fully instrumented detector links.</a:t>
            </a:r>
          </a:p>
          <a:p>
            <a:pPr algn="l">
              <a:spcAft>
                <a:spcPts val="900"/>
              </a:spcAft>
            </a:pPr>
            <a:r>
              <a:rPr sz="1400" dirty="0">
                <a:solidFill>
                  <a:srgbClr val="FFFFFF"/>
                </a:solidFill>
                <a:latin typeface="Calibri"/>
              </a:rPr>
              <a:t>•  Did not leak the future into training: chronological split; scaler on train only.</a:t>
            </a:r>
          </a:p>
          <a:p>
            <a:pPr algn="l">
              <a:spcAft>
                <a:spcPts val="900"/>
              </a:spcAft>
            </a:pPr>
            <a:r>
              <a:rPr sz="1400" dirty="0">
                <a:solidFill>
                  <a:srgbClr val="FFFFFF"/>
                </a:solidFill>
                <a:latin typeface="Calibri"/>
              </a:rPr>
              <a:t>•  Did not mark paths with predicted time: scored every method on actual future speeds.</a:t>
            </a:r>
          </a:p>
          <a:p>
            <a:pPr algn="l">
              <a:spcAft>
                <a:spcPts val="900"/>
              </a:spcAft>
            </a:pPr>
            <a:r>
              <a:rPr sz="1400" dirty="0">
                <a:solidFill>
                  <a:srgbClr val="FFFFFF"/>
                </a:solidFill>
                <a:latin typeface="Calibri"/>
              </a:rPr>
              <a:t>•  Did not compare only with weak dispatch: included reactive A* and an oracle.</a:t>
            </a:r>
          </a:p>
          <a:p>
            <a:pPr algn="l">
              <a:spcAft>
                <a:spcPts val="900"/>
              </a:spcAft>
            </a:pPr>
            <a:r>
              <a:rPr sz="1400" dirty="0">
                <a:solidFill>
                  <a:srgbClr val="FFFFFF"/>
                </a:solidFill>
                <a:latin typeface="Calibri"/>
              </a:rPr>
              <a:t>•  Did not assume delta: swept 5–20% and let travel time decide.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0972800" cy="457200"/>
          </a:xfrm>
          <a:prstGeom prst="rect">
            <a:avLst/>
          </a:prstGeom>
          <a:noFill/>
        </p:spPr>
        <p:txBody>
          <a:bodyPr wrap="square">
            <a:spAutoFit/>
          </a:bodyPr>
          <a:lstStyle/>
          <a:p>
            <a:pPr algn="l"/>
            <a:r>
              <a:rPr lang="en-US" sz="2400" b="1" dirty="0">
                <a:solidFill>
                  <a:srgbClr val="FFFFFF"/>
                </a:solidFill>
                <a:latin typeface="Cambria"/>
              </a:rPr>
              <a:t>Summary of Principal Findings</a:t>
            </a:r>
            <a:endParaRPr sz="2400" b="1" dirty="0">
              <a:solidFill>
                <a:srgbClr val="FFFFFF"/>
              </a:solidFill>
              <a:latin typeface="Cambria"/>
            </a:endParaRPr>
          </a:p>
        </p:txBody>
      </p:sp>
      <p:sp>
        <p:nvSpPr>
          <p:cNvPr id="4" name="Rounded Rectangle 3"/>
          <p:cNvSpPr/>
          <p:nvPr/>
        </p:nvSpPr>
        <p:spPr>
          <a:xfrm>
            <a:off x="457200" y="960120"/>
            <a:ext cx="11247120" cy="10972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34440"/>
            <a:ext cx="640080" cy="502920"/>
          </a:xfrm>
          <a:prstGeom prst="rect">
            <a:avLst/>
          </a:prstGeom>
          <a:noFill/>
        </p:spPr>
        <p:txBody>
          <a:bodyPr wrap="square">
            <a:spAutoFit/>
          </a:bodyPr>
          <a:lstStyle/>
          <a:p>
            <a:pPr algn="l"/>
            <a:r>
              <a:rPr sz="2800" b="1">
                <a:solidFill>
                  <a:srgbClr val="E8A838"/>
                </a:solidFill>
                <a:latin typeface="Cambria"/>
              </a:rPr>
              <a:t>1</a:t>
            </a:r>
          </a:p>
        </p:txBody>
      </p:sp>
      <p:sp>
        <p:nvSpPr>
          <p:cNvPr id="6" name="TextBox 5"/>
          <p:cNvSpPr txBox="1"/>
          <p:nvPr/>
        </p:nvSpPr>
        <p:spPr>
          <a:xfrm>
            <a:off x="1463040" y="1161288"/>
            <a:ext cx="9875520" cy="338554"/>
          </a:xfrm>
          <a:prstGeom prst="rect">
            <a:avLst/>
          </a:prstGeom>
          <a:noFill/>
        </p:spPr>
        <p:txBody>
          <a:bodyPr wrap="square">
            <a:spAutoFit/>
          </a:bodyPr>
          <a:lstStyle/>
          <a:p>
            <a:pPr algn="l"/>
            <a:r>
              <a:rPr lang="en-US" sz="1600" b="0" dirty="0">
                <a:solidFill>
                  <a:srgbClr val="FFFFFF"/>
                </a:solidFill>
                <a:latin typeface="Calibri"/>
              </a:rPr>
              <a:t>Under incidents, mean time falls from 727.5 s to 598.9 s versus current-map Dijkstra — 16.19%, about one replan.</a:t>
            </a:r>
            <a:endParaRPr sz="1600" b="0" dirty="0">
              <a:solidFill>
                <a:srgbClr val="FFFFFF"/>
              </a:solidFill>
              <a:latin typeface="Calibri"/>
            </a:endParaRPr>
          </a:p>
        </p:txBody>
      </p:sp>
      <p:sp>
        <p:nvSpPr>
          <p:cNvPr id="7" name="Rounded Rectangle 6"/>
          <p:cNvSpPr/>
          <p:nvPr/>
        </p:nvSpPr>
        <p:spPr>
          <a:xfrm>
            <a:off x="457200" y="2194560"/>
            <a:ext cx="11247120" cy="10972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468880"/>
            <a:ext cx="640080" cy="502920"/>
          </a:xfrm>
          <a:prstGeom prst="rect">
            <a:avLst/>
          </a:prstGeom>
          <a:noFill/>
        </p:spPr>
        <p:txBody>
          <a:bodyPr wrap="square">
            <a:spAutoFit/>
          </a:bodyPr>
          <a:lstStyle/>
          <a:p>
            <a:pPr algn="l"/>
            <a:r>
              <a:rPr sz="2800" b="1">
                <a:solidFill>
                  <a:srgbClr val="E8A838"/>
                </a:solidFill>
                <a:latin typeface="Cambria"/>
              </a:rPr>
              <a:t>2</a:t>
            </a:r>
          </a:p>
        </p:txBody>
      </p:sp>
      <p:sp>
        <p:nvSpPr>
          <p:cNvPr id="9" name="TextBox 8"/>
          <p:cNvSpPr txBox="1"/>
          <p:nvPr/>
        </p:nvSpPr>
        <p:spPr>
          <a:xfrm>
            <a:off x="1463040" y="2395728"/>
            <a:ext cx="9875520" cy="731520"/>
          </a:xfrm>
          <a:prstGeom prst="rect">
            <a:avLst/>
          </a:prstGeom>
          <a:noFill/>
        </p:spPr>
        <p:txBody>
          <a:bodyPr wrap="square">
            <a:spAutoFit/>
          </a:bodyPr>
          <a:lstStyle/>
          <a:p>
            <a:pPr algn="l"/>
            <a:r>
              <a:rPr sz="1600" b="0">
                <a:solidFill>
                  <a:srgbClr val="FFFFFF"/>
                </a:solidFill>
                <a:latin typeface="Calibri"/>
              </a:rPr>
              <a:t>Travel time does not depend on which δ in 5–20% we pick. The operational default is 0.20: same time, quieter alerts.</a:t>
            </a:r>
          </a:p>
        </p:txBody>
      </p:sp>
      <p:sp>
        <p:nvSpPr>
          <p:cNvPr id="10" name="Rounded Rectangle 9"/>
          <p:cNvSpPr/>
          <p:nvPr/>
        </p:nvSpPr>
        <p:spPr>
          <a:xfrm>
            <a:off x="457200" y="3429000"/>
            <a:ext cx="11247120" cy="1097280"/>
          </a:xfrm>
          <a:prstGeom prst="round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3703320"/>
            <a:ext cx="640080" cy="502920"/>
          </a:xfrm>
          <a:prstGeom prst="rect">
            <a:avLst/>
          </a:prstGeom>
          <a:noFill/>
        </p:spPr>
        <p:txBody>
          <a:bodyPr wrap="square">
            <a:spAutoFit/>
          </a:bodyPr>
          <a:lstStyle/>
          <a:p>
            <a:pPr algn="l"/>
            <a:r>
              <a:rPr sz="2800" b="1">
                <a:solidFill>
                  <a:srgbClr val="E8A838"/>
                </a:solidFill>
                <a:latin typeface="Cambria"/>
              </a:rPr>
              <a:t>3</a:t>
            </a:r>
          </a:p>
        </p:txBody>
      </p:sp>
      <p:sp>
        <p:nvSpPr>
          <p:cNvPr id="12" name="TextBox 11"/>
          <p:cNvSpPr txBox="1"/>
          <p:nvPr/>
        </p:nvSpPr>
        <p:spPr>
          <a:xfrm>
            <a:off x="1463040" y="3630168"/>
            <a:ext cx="9875520" cy="338554"/>
          </a:xfrm>
          <a:prstGeom prst="rect">
            <a:avLst/>
          </a:prstGeom>
          <a:noFill/>
        </p:spPr>
        <p:txBody>
          <a:bodyPr wrap="square">
            <a:spAutoFit/>
          </a:bodyPr>
          <a:lstStyle/>
          <a:p>
            <a:pPr algn="l"/>
            <a:r>
              <a:rPr lang="en-US" sz="1600" b="0" dirty="0">
                <a:solidFill>
                  <a:srgbClr val="FFFFFF"/>
                </a:solidFill>
                <a:latin typeface="Calibri"/>
              </a:rPr>
              <a:t>Combined latency is about 40 </a:t>
            </a:r>
            <a:r>
              <a:rPr lang="en-US" sz="1600" b="0" dirty="0" err="1">
                <a:solidFill>
                  <a:srgbClr val="FFFFFF"/>
                </a:solidFill>
                <a:latin typeface="Calibri"/>
              </a:rPr>
              <a:t>ms.</a:t>
            </a:r>
            <a:r>
              <a:rPr lang="en-US" sz="1600" b="0" dirty="0">
                <a:solidFill>
                  <a:srgbClr val="FFFFFF"/>
                </a:solidFill>
                <a:latin typeface="Calibri"/>
              </a:rPr>
              <a:t> The binding constraint for deployment is local sensor coverage, not compute.</a:t>
            </a:r>
            <a:endParaRPr sz="1600" b="0" dirty="0">
              <a:solidFill>
                <a:srgbClr val="FFFFFF"/>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E8A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10972800" cy="430887"/>
          </a:xfrm>
          <a:prstGeom prst="rect">
            <a:avLst/>
          </a:prstGeom>
          <a:noFill/>
        </p:spPr>
        <p:txBody>
          <a:bodyPr wrap="square">
            <a:spAutoFit/>
          </a:bodyPr>
          <a:lstStyle/>
          <a:p>
            <a:pPr algn="l"/>
            <a:r>
              <a:rPr lang="en-US" sz="2200" b="1" dirty="0">
                <a:solidFill>
                  <a:srgbClr val="FFFFFF"/>
                </a:solidFill>
                <a:latin typeface="Cambria"/>
              </a:rPr>
              <a:t>Conclusions and Recommendations</a:t>
            </a:r>
            <a:endParaRPr sz="2200" b="1" dirty="0">
              <a:solidFill>
                <a:srgbClr val="FFFFFF"/>
              </a:solidFill>
              <a:latin typeface="Cambria"/>
            </a:endParaRPr>
          </a:p>
        </p:txBody>
      </p:sp>
      <p:sp>
        <p:nvSpPr>
          <p:cNvPr id="4" name="Rounded Rectangle 3"/>
          <p:cNvSpPr/>
          <p:nvPr/>
        </p:nvSpPr>
        <p:spPr>
          <a:xfrm>
            <a:off x="411480" y="731520"/>
            <a:ext cx="5577840" cy="5074920"/>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896112"/>
            <a:ext cx="5120640" cy="338554"/>
          </a:xfrm>
          <a:prstGeom prst="rect">
            <a:avLst/>
          </a:prstGeom>
          <a:noFill/>
        </p:spPr>
        <p:txBody>
          <a:bodyPr wrap="square">
            <a:spAutoFit/>
          </a:bodyPr>
          <a:lstStyle/>
          <a:p>
            <a:pPr algn="l"/>
            <a:r>
              <a:rPr lang="en-US" sz="1600" b="1" dirty="0">
                <a:solidFill>
                  <a:srgbClr val="E8A838"/>
                </a:solidFill>
                <a:latin typeface="Calibri"/>
              </a:rPr>
              <a:t>Conclusions mapped to the objectives</a:t>
            </a:r>
            <a:endParaRPr sz="1600" b="1" dirty="0">
              <a:solidFill>
                <a:srgbClr val="E8A838"/>
              </a:solidFill>
              <a:latin typeface="Calibri"/>
            </a:endParaRPr>
          </a:p>
        </p:txBody>
      </p:sp>
      <p:sp>
        <p:nvSpPr>
          <p:cNvPr id="6" name="TextBox 5"/>
          <p:cNvSpPr txBox="1"/>
          <p:nvPr/>
        </p:nvSpPr>
        <p:spPr>
          <a:xfrm>
            <a:off x="640080" y="1371600"/>
            <a:ext cx="5120640" cy="4016484"/>
          </a:xfrm>
          <a:prstGeom prst="rect">
            <a:avLst/>
          </a:prstGeom>
          <a:noFill/>
        </p:spPr>
        <p:txBody>
          <a:bodyPr wrap="square">
            <a:spAutoFit/>
          </a:bodyPr>
          <a:lstStyle/>
          <a:p>
            <a:pPr algn="l">
              <a:spcAft>
                <a:spcPts val="900"/>
              </a:spcAft>
            </a:pPr>
            <a:r>
              <a:rPr sz="1400" dirty="0">
                <a:solidFill>
                  <a:srgbClr val="FFFFFF"/>
                </a:solidFill>
                <a:latin typeface="Calibri"/>
              </a:rPr>
              <a:t>•  Obj 1 — The prediction and time-dependent search</a:t>
            </a:r>
            <a:r>
              <a:rPr lang="en-US" sz="1400" dirty="0">
                <a:solidFill>
                  <a:srgbClr val="FFFFFF"/>
                </a:solidFill>
                <a:latin typeface="Calibri"/>
              </a:rPr>
              <a:t> gap was confirmed, and needed </a:t>
            </a:r>
            <a:r>
              <a:rPr sz="1400" dirty="0">
                <a:solidFill>
                  <a:srgbClr val="FFFFFF"/>
                </a:solidFill>
                <a:latin typeface="Calibri"/>
              </a:rPr>
              <a:t>emergency loop with a tested remaining-time trigger inside a one-second budget.</a:t>
            </a:r>
            <a:endParaRPr lang="en-US" sz="1400" dirty="0">
              <a:solidFill>
                <a:srgbClr val="FFFFFF"/>
              </a:solidFill>
              <a:latin typeface="Calibri"/>
            </a:endParaRPr>
          </a:p>
          <a:p>
            <a:pPr algn="l">
              <a:spcAft>
                <a:spcPts val="900"/>
              </a:spcAft>
            </a:pPr>
            <a:endParaRPr sz="1400" dirty="0">
              <a:solidFill>
                <a:srgbClr val="FFFFFF"/>
              </a:solidFill>
              <a:latin typeface="Calibri"/>
            </a:endParaRPr>
          </a:p>
          <a:p>
            <a:pPr algn="l">
              <a:spcAft>
                <a:spcPts val="900"/>
              </a:spcAft>
            </a:pPr>
            <a:r>
              <a:rPr sz="1400" dirty="0">
                <a:solidFill>
                  <a:srgbClr val="FFFFFF"/>
                </a:solidFill>
                <a:latin typeface="Calibri"/>
              </a:rPr>
              <a:t>•  Obj 2 — The three components integrate and run in ≈40 </a:t>
            </a:r>
            <a:r>
              <a:rPr sz="1400" dirty="0" err="1">
                <a:solidFill>
                  <a:srgbClr val="FFFFFF"/>
                </a:solidFill>
                <a:latin typeface="Calibri"/>
              </a:rPr>
              <a:t>ms</a:t>
            </a:r>
            <a:r>
              <a:rPr sz="1400" dirty="0">
                <a:solidFill>
                  <a:srgbClr val="FFFFFF"/>
                </a:solidFill>
                <a:latin typeface="Calibri"/>
              </a:rPr>
              <a:t> on the 207-node, 1,515-edge detector graph. GRU test MAE 3.48 mph (METR-LA), 2.38 mph (PEMS-BAY).</a:t>
            </a:r>
            <a:endParaRPr lang="en-US" sz="1400" dirty="0">
              <a:solidFill>
                <a:srgbClr val="FFFFFF"/>
              </a:solidFill>
              <a:latin typeface="Calibri"/>
            </a:endParaRPr>
          </a:p>
          <a:p>
            <a:pPr algn="l">
              <a:spcAft>
                <a:spcPts val="900"/>
              </a:spcAft>
            </a:pPr>
            <a:endParaRPr sz="1400" dirty="0">
              <a:solidFill>
                <a:srgbClr val="FFFFFF"/>
              </a:solidFill>
              <a:latin typeface="Calibri"/>
            </a:endParaRPr>
          </a:p>
          <a:p>
            <a:pPr algn="l">
              <a:spcAft>
                <a:spcPts val="900"/>
              </a:spcAft>
            </a:pPr>
            <a:r>
              <a:rPr sz="1400" dirty="0">
                <a:solidFill>
                  <a:srgbClr val="FFFFFF"/>
                </a:solidFill>
                <a:latin typeface="Calibri"/>
              </a:rPr>
              <a:t>•  Obj 3 — Route quality is statistically equivalent across δ ∈ {5, 10, 15, 20}% (F ≈ 0.001, p = 1.00). δ = 0.20 is the measured operational default.</a:t>
            </a:r>
            <a:endParaRPr lang="en-US" sz="1400" dirty="0">
              <a:solidFill>
                <a:srgbClr val="FFFFFF"/>
              </a:solidFill>
              <a:latin typeface="Calibri"/>
            </a:endParaRPr>
          </a:p>
          <a:p>
            <a:pPr algn="l">
              <a:spcAft>
                <a:spcPts val="900"/>
              </a:spcAft>
            </a:pPr>
            <a:endParaRPr sz="1400" dirty="0">
              <a:solidFill>
                <a:srgbClr val="FFFFFF"/>
              </a:solidFill>
              <a:latin typeface="Calibri"/>
            </a:endParaRPr>
          </a:p>
          <a:p>
            <a:pPr algn="l">
              <a:spcAft>
                <a:spcPts val="900"/>
              </a:spcAft>
            </a:pPr>
            <a:r>
              <a:rPr sz="1400" dirty="0">
                <a:solidFill>
                  <a:srgbClr val="FFFFFF"/>
                </a:solidFill>
                <a:latin typeface="Calibri"/>
              </a:rPr>
              <a:t>•  Obj 4 — The reduction versus Dijkstra is regime-specific: +16.19% incident, +1.03% peak, +0.01% off-peak; −1.69% versus the oracle ceiling.</a:t>
            </a:r>
          </a:p>
        </p:txBody>
      </p:sp>
      <p:sp>
        <p:nvSpPr>
          <p:cNvPr id="7" name="Rounded Rectangle 6"/>
          <p:cNvSpPr/>
          <p:nvPr/>
        </p:nvSpPr>
        <p:spPr>
          <a:xfrm>
            <a:off x="6217920" y="731520"/>
            <a:ext cx="5577840" cy="5074920"/>
          </a:xfrm>
          <a:prstGeom prst="rect">
            <a:avLst/>
          </a:prstGeom>
          <a:solidFill>
            <a:srgbClr val="2A3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896112"/>
            <a:ext cx="5120640" cy="338554"/>
          </a:xfrm>
          <a:prstGeom prst="rect">
            <a:avLst/>
          </a:prstGeom>
          <a:noFill/>
        </p:spPr>
        <p:txBody>
          <a:bodyPr wrap="square">
            <a:spAutoFit/>
          </a:bodyPr>
          <a:lstStyle/>
          <a:p>
            <a:pPr algn="l"/>
            <a:r>
              <a:rPr lang="en-US" sz="1600" b="1" dirty="0">
                <a:solidFill>
                  <a:srgbClr val="E8A838"/>
                </a:solidFill>
                <a:latin typeface="Calibri"/>
              </a:rPr>
              <a:t>Recommendations and further research</a:t>
            </a:r>
            <a:endParaRPr sz="1600" b="1" dirty="0">
              <a:solidFill>
                <a:srgbClr val="E8A838"/>
              </a:solidFill>
              <a:latin typeface="Calibri"/>
            </a:endParaRPr>
          </a:p>
        </p:txBody>
      </p:sp>
      <p:sp>
        <p:nvSpPr>
          <p:cNvPr id="9" name="TextBox 8"/>
          <p:cNvSpPr txBox="1"/>
          <p:nvPr/>
        </p:nvSpPr>
        <p:spPr>
          <a:xfrm>
            <a:off x="6446520" y="1371600"/>
            <a:ext cx="5120640" cy="2492990"/>
          </a:xfrm>
          <a:prstGeom prst="rect">
            <a:avLst/>
          </a:prstGeom>
          <a:noFill/>
        </p:spPr>
        <p:txBody>
          <a:bodyPr wrap="square">
            <a:spAutoFit/>
          </a:bodyPr>
          <a:lstStyle/>
          <a:p>
            <a:pPr algn="l">
              <a:spcAft>
                <a:spcPts val="900"/>
              </a:spcAft>
            </a:pPr>
            <a:r>
              <a:rPr sz="1400" dirty="0">
                <a:solidFill>
                  <a:srgbClr val="FFFFFF"/>
                </a:solidFill>
                <a:latin typeface="Calibri"/>
              </a:rPr>
              <a:t>•  Deploy where detectors already exist. At 40 </a:t>
            </a:r>
            <a:r>
              <a:rPr sz="1400" dirty="0" err="1">
                <a:solidFill>
                  <a:srgbClr val="FFFFFF"/>
                </a:solidFill>
                <a:latin typeface="Calibri"/>
              </a:rPr>
              <a:t>ms</a:t>
            </a:r>
            <a:r>
              <a:rPr sz="1400" dirty="0">
                <a:solidFill>
                  <a:srgbClr val="FFFFFF"/>
                </a:solidFill>
                <a:latin typeface="Calibri"/>
              </a:rPr>
              <a:t> against a 1,000 </a:t>
            </a:r>
            <a:r>
              <a:rPr sz="1400" dirty="0" err="1">
                <a:solidFill>
                  <a:srgbClr val="FFFFFF"/>
                </a:solidFill>
                <a:latin typeface="Calibri"/>
              </a:rPr>
              <a:t>ms</a:t>
            </a:r>
            <a:r>
              <a:rPr sz="1400" dirty="0">
                <a:solidFill>
                  <a:srgbClr val="FFFFFF"/>
                </a:solidFill>
                <a:latin typeface="Calibri"/>
              </a:rPr>
              <a:t> budget, compute is not the constraint — sensor coverage is.</a:t>
            </a:r>
            <a:endParaRPr lang="en-US" sz="1400" dirty="0">
              <a:solidFill>
                <a:srgbClr val="FFFFFF"/>
              </a:solidFill>
              <a:latin typeface="Calibri"/>
            </a:endParaRPr>
          </a:p>
          <a:p>
            <a:pPr algn="l">
              <a:spcAft>
                <a:spcPts val="900"/>
              </a:spcAft>
            </a:pPr>
            <a:endParaRPr sz="1400" dirty="0">
              <a:solidFill>
                <a:srgbClr val="FFFFFF"/>
              </a:solidFill>
              <a:latin typeface="Calibri"/>
            </a:endParaRPr>
          </a:p>
          <a:p>
            <a:pPr algn="l">
              <a:spcAft>
                <a:spcPts val="900"/>
              </a:spcAft>
            </a:pPr>
            <a:r>
              <a:rPr sz="1400" dirty="0">
                <a:solidFill>
                  <a:srgbClr val="FFFFFF"/>
                </a:solidFill>
                <a:latin typeface="Calibri"/>
              </a:rPr>
              <a:t>•  Nairobi Metropolitan Services and </a:t>
            </a:r>
            <a:r>
              <a:rPr sz="1400" dirty="0" err="1">
                <a:solidFill>
                  <a:srgbClr val="FFFFFF"/>
                </a:solidFill>
                <a:latin typeface="Calibri"/>
              </a:rPr>
              <a:t>KeNHA</a:t>
            </a:r>
            <a:r>
              <a:rPr sz="1400" dirty="0">
                <a:solidFill>
                  <a:srgbClr val="FFFFFF"/>
                </a:solidFill>
                <a:latin typeface="Calibri"/>
              </a:rPr>
              <a:t> should build METR-LA-compatible speed archives; NACOSTI should lead a national ITS data-sharing strategy.</a:t>
            </a:r>
            <a:endParaRPr lang="en-US" sz="1400" dirty="0">
              <a:solidFill>
                <a:srgbClr val="FFFFFF"/>
              </a:solidFill>
              <a:latin typeface="Calibri"/>
            </a:endParaRPr>
          </a:p>
          <a:p>
            <a:pPr algn="l">
              <a:spcAft>
                <a:spcPts val="900"/>
              </a:spcAft>
            </a:pPr>
            <a:endParaRPr sz="1400" dirty="0">
              <a:solidFill>
                <a:srgbClr val="FFFFFF"/>
              </a:solidFill>
              <a:latin typeface="Calibri"/>
            </a:endParaRPr>
          </a:p>
          <a:p>
            <a:pPr algn="l">
              <a:spcAft>
                <a:spcPts val="900"/>
              </a:spcAft>
            </a:pPr>
            <a:r>
              <a:rPr sz="1400" dirty="0">
                <a:solidFill>
                  <a:srgbClr val="FFFFFF"/>
                </a:solidFill>
                <a:latin typeface="Calibri"/>
              </a:rPr>
              <a:t>•  Then: multi-vehicle coordination, live feed integration, and field validation with Nairobi dispatch operators.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469</TotalTime>
  <Words>4130</Words>
  <Application>Microsoft Office PowerPoint</Application>
  <PresentationFormat>Widescreen</PresentationFormat>
  <Paragraphs>279</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Cambria</vt:lpstr>
      <vt:lpstr>Consolas</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Freshia Njoki</cp:lastModifiedBy>
  <cp:revision>14</cp:revision>
  <dcterms:created xsi:type="dcterms:W3CDTF">2013-01-27T09:14:16Z</dcterms:created>
  <dcterms:modified xsi:type="dcterms:W3CDTF">2026-08-27T19:54:16Z</dcterms:modified>
  <cp:category/>
</cp:coreProperties>
</file>