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Chair, supervisors, examiners — thank you. I am Freshia Njoki Macharia.</a:t>
            </a:r>
          </a:p>
          <a:p/>
          <a:p>
            <a:r>
              <a:t>This seminar reports a dispatcher-support system for emergency routing. It forecasts traffic speeds for the next 30 minutes, computes a time-dependent path, and offers a new path only when remaining travel time has truly worsened. The dispatcher keeps final authority.</a:t>
            </a:r>
          </a:p>
          <a:p/>
          <a:p>
            <a:r>
              <a:t>Before I go to the results, I should mention that the design and evaluation of this framework is reported in my first journal article — Design and Evaluation of a GRU-Based Predictive Routing Framework for Emergency Vehicles. I am grateful for the opportunity to present the defended findings here, especially Objectives 3 and 4.</a:t>
            </a:r>
          </a:p>
          <a:p/>
          <a:p>
            <a:r>
              <a:t>Evidence: 900 matched journeys on the METR-LA detector graph. Most of this talk focuses on the threshold test and journey-time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straightforward. At dispatch we compute a shortest path from the speeds on the map right now. That path is optimal only for those speeds. If a corridor slows 15–30 minutes later, the vehicle is already committed.</a:t>
            </a:r>
          </a:p>
          <a:p/>
          <a:p>
            <a:r>
              <a:t>That is how most computer-aided dispatch still works: Dijkstra, or A*, on a current snapshot.</a:t>
            </a:r>
          </a:p>
          <a:p/>
          <a:p>
            <a:r>
              <a:t>The literature has strong predictors and strong time-dependent routers, but they are usually published separately. What was missing is one emergency loop — forecast, time-dependent search, and a tested remaining-time trigger — all inside one second.</a:t>
            </a:r>
          </a:p>
          <a:p/>
          <a:p>
            <a:r>
              <a:t>I measured on public loop-detector archives so the run can be repeated. METR-LA is the routing city. PEMS-BAY checks the same predictor in a second city only.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 was to design and evaluate that loop as dispatcher support — not as an autonomous vehicle.</a:t>
            </a:r>
          </a:p>
          <a:p/>
          <a:p>
            <a:r>
              <a:t>Four objectives. One maps the gap. Two builds the three parts. Three chooses the remaining-time threshold, delta. Four measures journey time and system response time against four baselines.</a:t>
            </a:r>
          </a:p>
          <a:p/>
          <a:p>
            <a:r>
              <a:t>This talk focuses on Objectives 3 and 4.</a:t>
            </a:r>
          </a:p>
          <a:p/>
          <a:p>
            <a:r>
              <a:t>Delta is a policy: if remaining time from where the vehicle is now grows by more than delta, we offer a new path. Alpha = 0.05 is the significance level for the t-tests. They share digits. They are not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 steps in order.</a:t>
            </a:r>
          </a:p>
          <a:p/>
          <a:p>
            <a:r>
              <a:t>One — observe the last 60 minutes of detector speeds.</a:t>
            </a:r>
          </a:p>
          <a:p>
            <a:r>
              <a:t>Two — a two-layer GRU forecasts the next 30 minutes.</a:t>
            </a:r>
          </a:p>
          <a:p>
            <a:r>
              <a:t>Three — predicted speeds become edge travel times.</a:t>
            </a:r>
          </a:p>
          <a:p>
            <a:r>
              <a:t>Four — time-dependent A* picks a path. Edge cost depends on when the vehicle would enter that road, not only on now.</a:t>
            </a:r>
          </a:p>
          <a:p>
            <a:r>
              <a:t>Five — if remaining time from the current position grows by more than delta, offer a new path.</a:t>
            </a:r>
          </a:p>
          <a:p>
            <a:r>
              <a:t>Six — a person accepts or rejects. This is decision support, not a self-driving ambulance.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experiment behind every result that follows.</a:t>
            </a:r>
          </a:p>
          <a:p/>
          <a:p>
            <a:r>
              <a:t>Think of it as 900 fair races on the same Los Angeles freeway detector map. Every method starts at the same place, ends at the same place, and leaves at the same clock time.</a:t>
            </a:r>
          </a:p>
          <a:p/>
          <a:p>
            <a:r>
              <a:t>Routing uses METR-LA only: 207 nodes and 1,515 links, all with real detector speeds. PEMS-BAY checks that the same GRU architecture works in a second city, but those Bay speeds were never used to route in Los Angeles.</a:t>
            </a:r>
          </a:p>
          <a:p/>
          <a:p>
            <a:r>
              <a:t>900 = 75 origin–destination pairs × 3 traffic scenarios × 4 threshold settings.</a:t>
            </a:r>
          </a:p>
          <a:p/>
          <a:p>
            <a:r>
              <a:t>Peak hour uses the slowest quarter of test windows. Off-peak uses the fastest quarter — our control. Incident slows the planned corridor to 40% of normal speed partway through the trip.</a:t>
            </a:r>
          </a:p>
          <a:p/>
          <a:p>
            <a:r>
              <a:t>Four baselines are included. B1 is what dispatch often does today. B4 is the oracle with perfect future knowledge. We must not beat B4; if we did, the test would be wrong.</a:t>
            </a:r>
          </a:p>
          <a:p/>
          <a:p>
            <a:r>
              <a:t>The forecast picks the route, but journey time is always scored on what actually happened on the road — not on the model's own prediction.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Objective 2 briefly, because Objectives 3 and 4 need a forecast that is good enough — not perfect.</a:t>
            </a:r>
          </a:p>
          <a:p/>
          <a:p>
            <a:r>
              <a:t>On held-out Los Angeles data, the GRU is wrong by about 3.48 mph on average. On freeways that is enough to tell a corridor that is still moving from one that is about to clog.</a:t>
            </a:r>
          </a:p>
          <a:p/>
          <a:p>
            <a:r>
              <a:t>The 60→30 box is not time saved on a trip. It means: read 1 hour of past speeds, predict the next 30 minutes — six 5-minute steps — and feed those speeds into the router.</a:t>
            </a:r>
          </a:p>
          <a:p/>
          <a:p>
            <a:r>
              <a:t>PEMS-BAY at 2.38 mph is a second-city check only. I kept this light GRU so inference stays near 39 ms and the whole system near 40 ms. Now we test the threshold and journey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Objective 3: which remaining-time threshold to recommend.</a:t>
            </a:r>
          </a:p>
          <a:p/>
          <a:p>
            <a:r>
              <a:t>What is δ? If remaining travel time from where the vehicle is now grows by more than δ, the system offers a new path. The dispatcher still decides.</a:t>
            </a:r>
          </a:p>
          <a:p/>
          <a:p>
            <a:r>
              <a:t>What is N here? For each δ value we ran 75 origin–destination pairs across 3 traffic scenarios — peak, off-peak, and incident. That is 75 × 3 = 225 journeys per δ. On this slide those scenarios are pooled because we ask one question: does δ change the outcome?</a:t>
            </a:r>
          </a:p>
          <a:p/>
          <a:p>
            <a:r>
              <a:t>Look at the table. Mean reduction versus Dijkstra is about 5.7% at every δ — from 5.726% to 5.767%. Replans fall from 0.45 to 0.39 as δ rises.</a:t>
            </a:r>
          </a:p>
          <a:p/>
          <a:p>
            <a:r>
              <a:t>What is ANOVA in this study? ANOVA asks: do these four threshold settings produce different travel times? We are not testing whether the framework beats Dijkstra here. We are testing whether 5% is better than 10%, 15%, or 20%.</a:t>
            </a:r>
          </a:p>
          <a:p/>
          <a:p>
            <a:r>
              <a:t>What is F? F is how different the four groups are compared with random noise. F ≈ 0.001 is extremely close to zero — the four groups look almost identical.</a:t>
            </a:r>
          </a:p>
          <a:p/>
          <a:p>
            <a:r>
              <a:t>What is p? p is the probability we would see this pattern if there were no real difference between thresholds. p = 1.00 means there is no evidence that any δ gives a different travel time. That is a valid result, not a failed experiment.</a:t>
            </a:r>
          </a:p>
          <a:p/>
          <a:p>
            <a:r>
              <a:t>So why δ = 0.20? When travel time is the same, decision support should minimise unnecessary alerts. δ = 0.20 gives the same 5.7% saving with the fewest replans — 0.39 versus 0.45 at δ = 0.05.</a:t>
            </a:r>
          </a:p>
          <a:p/>
          <a:p>
            <a:r>
              <a:t>Incidents still replan about once even at 20% because the corridor was cut to 40% speed. 0.10 was the pre-measurement mid-range candidate, not the operational default.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Objective 4 in seconds — clock time from start detector to end detector, after every method is driven on actual future speeds.</a:t>
            </a:r>
          </a:p>
          <a:p/>
          <a:p>
            <a:r>
              <a:t>N on this slide: each scenario uses 300 journeys — 75 pairs × 4 δ values. We can pool δ because Objective 3 showed δ does not change travel time.</a:t>
            </a:r>
          </a:p>
          <a:p/>
          <a:p>
            <a:r>
              <a:t>Start with incident — the main operational case. Dijkstra on the current map: 727.5 s. The framework: 598.9 s — about 129 s saved. Reactive A*: 603.7 s, close to us. Oracle: 580.5 s.</a:t>
            </a:r>
          </a:p>
          <a:p/>
          <a:p>
            <a:r>
              <a:t>We stay below the oracle on purpose. The oracle knows the true future speeds. No real dispatcher can beat that. If our framework were faster than the oracle, the evaluation would be wrong. Sitting at 598.9 s versus 580.5 s shows a valid upper bound.</a:t>
            </a:r>
          </a:p>
          <a:p/>
          <a:p>
            <a:r>
              <a:t>Peak hour: 506.3 s versus 513.1 s — a small but real gap when the network is congested everywhere.</a:t>
            </a:r>
          </a:p>
          <a:p/>
          <a:p>
            <a:r>
              <a:t>Off-peak: all methods near 403 s. Empty roads are the control — no large gain is expected. That is success.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headline statistics as percentages against baseline B1 — current-map Dijkstra.</a:t>
            </a:r>
          </a:p>
          <a:p/>
          <a:p>
            <a:r>
              <a:t>N = 300 means 75 origin–destination pairs, each tested at 4 δ values, within one traffic scenario. 900 is the whole study; 300 is one scenario.</a:t>
            </a:r>
          </a:p>
          <a:p/>
          <a:p>
            <a:r>
              <a:t>Incident: +16.19%, t = 26.43, p &lt; .001 — highly significant. About 1.03 replans per journey. This is the number to quote when you ask where the framework helps most.</a:t>
            </a:r>
          </a:p>
          <a:p/>
          <a:p>
            <a:r>
              <a:t>Peak hour: +1.03%, t = 3.81, p = .0002 — statistically detectable, operationally modest.</a:t>
            </a:r>
          </a:p>
          <a:p/>
          <a:p>
            <a:r>
              <a:t>Off-peak: +0.01%, p = .90 — not significant. The control worked.</a:t>
            </a:r>
          </a:p>
          <a:p/>
          <a:p>
            <a:r>
              <a:t>Overall +5.74% mixes all three scenarios — do not present it as every ambulance saves 16%.</a:t>
            </a:r>
          </a:p>
          <a:p/>
          <a:p>
            <a:r>
              <a:t>Versus historical A*: +7.39%. Versus reactive A*: +0.61% — once the jam is visible on the map, a 30-minute forecast adds little. Versus oracle: −1.69% — we must remain below perfect foresight.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compute time, not journey time.</a:t>
            </a:r>
          </a:p>
          <a:p/>
          <a:p>
            <a:r>
              <a:t>The one-second response limit (1,000 ms) is the maximum time allowed to return a route recommendation after a dispatcher request.</a:t>
            </a:r>
          </a:p>
          <a:p/>
          <a:p>
            <a:r>
              <a:t>Time-dependent A*: 0.37 ms. GRU inference: 39.3 ms. Combined: ≈40 ms — about 4% of the limit.</a:t>
            </a:r>
          </a:p>
          <a:p/>
          <a:p>
            <a:r>
              <a:t>Do not quote 0.37 ms alone; the dispatcher waits for the combined ≈40 ms. The predictor is the slower part, but both modules are far below one second in every traffic scenario.</a:t>
            </a:r>
          </a:p>
          <a:p/>
          <a:p>
            <a:r>
              <a:t>At 207 nodes, no heavy graph preprocessing was required, so edge weights can refresh every 5 minutes when a new forecast arrives.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percentages describe Los Angeles freeway detectors with a sensor on every edge. They are not Nairobi mixed-traffic numbers. Transfer needs local sensors.</a:t>
            </a:r>
          </a:p>
          <a:p/>
          <a:p>
            <a:r>
              <a:t>What I already did: no invented speeds on unmapped streets; no leakage into training; no scoring on own predictions; strong baselines included.</a:t>
            </a:r>
          </a:p>
          <a:p/>
          <a:p>
            <a:r>
              <a:t>The honest next step is to thin this same 100% graph to 10–30% coverage and repeat the 900-run.</a:t>
            </a:r>
          </a:p>
          <a:p/>
          <a:p>
            <a:r>
              <a:t>Single vehicle. Fleet interference is out of scope.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sentences.</a:t>
            </a:r>
          </a:p>
          <a:p/>
          <a:p>
            <a:r>
              <a:t>One — under incident conditions, mean time falls from 727.5 s to 598.9 s versus current-map Dijkstra — 16.19%, about one replan.</a:t>
            </a:r>
          </a:p>
          <a:p/>
          <a:p>
            <a:r>
              <a:t>Two — travel time does not depend on δ from 5% to 20%. I recommend δ = 0.20.</a:t>
            </a:r>
          </a:p>
          <a:p/>
          <a:p>
            <a:r>
              <a:t>Three — combined system response is about 40 ms. The main deployment constraint is sensor coverage, not compute.</a:t>
            </a:r>
          </a:p>
          <a:p/>
          <a:p>
            <a:r>
              <a:t>Thank you. I welcome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objective was met. The gap was confirmed and closed with a working loop. The threshold test showed δ does not change travel time; δ = 0.20 is the measured default. Journey-time gains are strongest under incident conditions — 16.19% versus current-map Dijkstra.</a:t>
            </a:r>
          </a:p>
          <a:p/>
          <a:p>
            <a:r>
              <a:t>Recommendations: deploy where sensors exist; build local archives before claiming Nairobi numbers; repeat the 900-run on thinned sensor coverage.</a:t>
            </a:r>
          </a:p>
          <a:p/>
          <a:p>
            <a:r>
              <a:t>The full design, baselines, and evaluation are documented in the companion journal article.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320040"/>
          </a:xfrm>
          <a:prstGeom prst="rect">
            <a:avLst/>
          </a:prstGeom>
          <a:noFill/>
        </p:spPr>
        <p:txBody>
          <a:bodyPr wrap="square">
            <a:spAutoFit/>
          </a:bodyPr>
          <a:lstStyle/>
          <a:p>
            <a:pPr algn="l"/>
            <a:r>
              <a:rPr sz="1400" b="0">
                <a:solidFill>
                  <a:srgbClr val="CADCFC"/>
                </a:solidFill>
                <a:latin typeface="Calibri"/>
              </a:rPr>
              <a:t>KIRINYAGA UNIVERSITY  ·  MSc COMPUTER SCIENCE</a:t>
            </a:r>
          </a:p>
        </p:txBody>
      </p:sp>
      <p:sp>
        <p:nvSpPr>
          <p:cNvPr id="4" name="TextBox 3"/>
          <p:cNvSpPr txBox="1"/>
          <p:nvPr/>
        </p:nvSpPr>
        <p:spPr>
          <a:xfrm>
            <a:off x="548640" y="914400"/>
            <a:ext cx="10972800" cy="1463040"/>
          </a:xfrm>
          <a:prstGeom prst="rect">
            <a:avLst/>
          </a:prstGeom>
          <a:noFill/>
        </p:spPr>
        <p:txBody>
          <a:bodyPr wrap="square">
            <a:spAutoFit/>
          </a:bodyPr>
          <a:lstStyle/>
          <a:p>
            <a:pPr algn="l"/>
            <a:r>
              <a:rPr sz="3200" b="1">
                <a:solidFill>
                  <a:srgbClr val="FFFFFF"/>
                </a:solidFill>
                <a:latin typeface="Cambria"/>
              </a:rPr>
              <a:t>GRU-Based Predictive Route Optimisation
for Emergency Vehicle Navigation</a:t>
            </a:r>
          </a:p>
        </p:txBody>
      </p:sp>
      <p:sp>
        <p:nvSpPr>
          <p:cNvPr id="5" name="Rectangle 4"/>
          <p:cNvSpPr/>
          <p:nvPr/>
        </p:nvSpPr>
        <p:spPr>
          <a:xfrm>
            <a:off x="548640" y="2514600"/>
            <a:ext cx="2743200" cy="54864"/>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88920"/>
            <a:ext cx="10972800" cy="320040"/>
          </a:xfrm>
          <a:prstGeom prst="rect">
            <a:avLst/>
          </a:prstGeom>
          <a:noFill/>
        </p:spPr>
        <p:txBody>
          <a:bodyPr wrap="square">
            <a:spAutoFit/>
          </a:bodyPr>
          <a:lstStyle/>
          <a:p>
            <a:pPr algn="l"/>
            <a:r>
              <a:rPr sz="1800" b="0">
                <a:solidFill>
                  <a:srgbClr val="FFFFFF"/>
                </a:solidFill>
                <a:latin typeface="Calibri"/>
              </a:rPr>
              <a:t>Freshia Njoki Macharia  ·  PA206/S/25427/24</a:t>
            </a:r>
          </a:p>
        </p:txBody>
      </p:sp>
      <p:sp>
        <p:nvSpPr>
          <p:cNvPr id="7" name="TextBox 6"/>
          <p:cNvSpPr txBox="1"/>
          <p:nvPr/>
        </p:nvSpPr>
        <p:spPr>
          <a:xfrm>
            <a:off x="548640" y="3200400"/>
            <a:ext cx="10972800" cy="320040"/>
          </a:xfrm>
          <a:prstGeom prst="rect">
            <a:avLst/>
          </a:prstGeom>
          <a:noFill/>
        </p:spPr>
        <p:txBody>
          <a:bodyPr wrap="square">
            <a:spAutoFit/>
          </a:bodyPr>
          <a:lstStyle/>
          <a:p>
            <a:pPr algn="l"/>
            <a:r>
              <a:rPr sz="1500" b="0">
                <a:solidFill>
                  <a:srgbClr val="A0B0D0"/>
                </a:solidFill>
                <a:latin typeface="Calibri"/>
              </a:rPr>
              <a:t>Supervisors: Dr Gilbert Langat  ·  Dr Stephen Mageto</a:t>
            </a:r>
          </a:p>
        </p:txBody>
      </p:sp>
      <p:sp>
        <p:nvSpPr>
          <p:cNvPr id="8" name="TextBox 7"/>
          <p:cNvSpPr txBox="1"/>
          <p:nvPr/>
        </p:nvSpPr>
        <p:spPr>
          <a:xfrm>
            <a:off x="548640" y="3840480"/>
            <a:ext cx="10972800" cy="502920"/>
          </a:xfrm>
          <a:prstGeom prst="rect">
            <a:avLst/>
          </a:prstGeom>
          <a:noFill/>
        </p:spPr>
        <p:txBody>
          <a:bodyPr wrap="square">
            <a:spAutoFit/>
          </a:bodyPr>
          <a:lstStyle/>
          <a:p>
            <a:pPr algn="l"/>
            <a:r>
              <a:rPr sz="1400" b="0">
                <a:solidFill>
                  <a:srgbClr val="E8A838"/>
                </a:solidFill>
                <a:latin typeface="Calibri"/>
              </a:rPr>
              <a:t>Design and evaluation reported in a companion journal article.</a:t>
            </a:r>
          </a:p>
        </p:txBody>
      </p:sp>
      <p:sp>
        <p:nvSpPr>
          <p:cNvPr id="9" name="TextBox 8"/>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Statement of the problem</a:t>
            </a:r>
          </a:p>
        </p:txBody>
      </p:sp>
      <p:sp>
        <p:nvSpPr>
          <p:cNvPr id="4" name="TextBox 3"/>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2 / 13</a:t>
            </a:r>
          </a:p>
        </p:txBody>
      </p:sp>
      <p:sp>
        <p:nvSpPr>
          <p:cNvPr id="5" name="Rounded Rectangle 4"/>
          <p:cNvSpPr/>
          <p:nvPr/>
        </p:nvSpPr>
        <p:spPr>
          <a:xfrm>
            <a:off x="457200" y="868680"/>
            <a:ext cx="11247120" cy="141732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051560"/>
            <a:ext cx="10789920" cy="1097280"/>
          </a:xfrm>
          <a:prstGeom prst="rect">
            <a:avLst/>
          </a:prstGeom>
          <a:noFill/>
        </p:spPr>
        <p:txBody>
          <a:bodyPr wrap="square">
            <a:spAutoFit/>
          </a:bodyPr>
          <a:lstStyle/>
          <a:p>
            <a:pPr algn="l"/>
            <a:r>
              <a:rPr sz="1600" b="0">
                <a:solidFill>
                  <a:srgbClr val="FFFFFF"/>
                </a:solidFill>
                <a:latin typeface="Calibri"/>
              </a:rPr>
              <a:t>A route that is shortest at dispatch is optimal only for the speeds seen at that moment. If a corridor slows 15–30 minutes later, the vehicle is already committed. That is the failure this study treats.</a:t>
            </a:r>
          </a:p>
        </p:txBody>
      </p:sp>
      <p:sp>
        <p:nvSpPr>
          <p:cNvPr id="7" name="Rounded Rectangle 6"/>
          <p:cNvSpPr/>
          <p:nvPr/>
        </p:nvSpPr>
        <p:spPr>
          <a:xfrm>
            <a:off x="457200" y="2423160"/>
            <a:ext cx="11247120" cy="111556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532888"/>
            <a:ext cx="10789920" cy="274320"/>
          </a:xfrm>
          <a:prstGeom prst="rect">
            <a:avLst/>
          </a:prstGeom>
          <a:noFill/>
        </p:spPr>
        <p:txBody>
          <a:bodyPr wrap="square">
            <a:spAutoFit/>
          </a:bodyPr>
          <a:lstStyle/>
          <a:p>
            <a:pPr algn="l"/>
            <a:r>
              <a:rPr sz="1500" b="1">
                <a:solidFill>
                  <a:srgbClr val="E8A838"/>
                </a:solidFill>
                <a:latin typeface="Calibri"/>
              </a:rPr>
              <a:t>Present dispatch practice</a:t>
            </a:r>
          </a:p>
        </p:txBody>
      </p:sp>
      <p:sp>
        <p:nvSpPr>
          <p:cNvPr id="9" name="TextBox 8"/>
          <p:cNvSpPr txBox="1"/>
          <p:nvPr/>
        </p:nvSpPr>
        <p:spPr>
          <a:xfrm>
            <a:off x="685800" y="2825496"/>
            <a:ext cx="10789920" cy="594360"/>
          </a:xfrm>
          <a:prstGeom prst="rect">
            <a:avLst/>
          </a:prstGeom>
          <a:noFill/>
        </p:spPr>
        <p:txBody>
          <a:bodyPr wrap="square">
            <a:spAutoFit/>
          </a:bodyPr>
          <a:lstStyle/>
          <a:p>
            <a:pPr algn="l"/>
            <a:r>
              <a:rPr sz="1400" b="0">
                <a:solidFill>
                  <a:srgbClr val="FFFFFF"/>
                </a:solidFill>
                <a:latin typeface="Calibri"/>
              </a:rPr>
              <a:t>A current-map shortest path — Dijkstra, or A* — using speeds available at departure.</a:t>
            </a:r>
          </a:p>
        </p:txBody>
      </p:sp>
      <p:sp>
        <p:nvSpPr>
          <p:cNvPr id="10" name="Rounded Rectangle 9"/>
          <p:cNvSpPr/>
          <p:nvPr/>
        </p:nvSpPr>
        <p:spPr>
          <a:xfrm>
            <a:off x="457200" y="3657600"/>
            <a:ext cx="11247120" cy="111556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767328"/>
            <a:ext cx="10789920" cy="274320"/>
          </a:xfrm>
          <a:prstGeom prst="rect">
            <a:avLst/>
          </a:prstGeom>
          <a:noFill/>
        </p:spPr>
        <p:txBody>
          <a:bodyPr wrap="square">
            <a:spAutoFit/>
          </a:bodyPr>
          <a:lstStyle/>
          <a:p>
            <a:pPr algn="l"/>
            <a:r>
              <a:rPr sz="1500" b="1">
                <a:solidFill>
                  <a:srgbClr val="E8A838"/>
                </a:solidFill>
                <a:latin typeface="Calibri"/>
              </a:rPr>
              <a:t>Research gap</a:t>
            </a:r>
          </a:p>
        </p:txBody>
      </p:sp>
      <p:sp>
        <p:nvSpPr>
          <p:cNvPr id="12" name="TextBox 11"/>
          <p:cNvSpPr txBox="1"/>
          <p:nvPr/>
        </p:nvSpPr>
        <p:spPr>
          <a:xfrm>
            <a:off x="685800" y="4059936"/>
            <a:ext cx="10789920" cy="594360"/>
          </a:xfrm>
          <a:prstGeom prst="rect">
            <a:avLst/>
          </a:prstGeom>
          <a:noFill/>
        </p:spPr>
        <p:txBody>
          <a:bodyPr wrap="square">
            <a:spAutoFit/>
          </a:bodyPr>
          <a:lstStyle/>
          <a:p>
            <a:pPr algn="l"/>
            <a:r>
              <a:rPr sz="1400" b="0">
                <a:solidFill>
                  <a:srgbClr val="FFFFFF"/>
                </a:solidFill>
                <a:latin typeface="Calibri"/>
              </a:rPr>
              <a:t>Strong predictors and strong time-dependent routers are usually published apart. An emergency loop that joins a learned forecast, time-dependent search, and a tested remaining-time trigger, inside one second, is missing.</a:t>
            </a:r>
          </a:p>
        </p:txBody>
      </p:sp>
      <p:sp>
        <p:nvSpPr>
          <p:cNvPr id="13" name="Rounded Rectangle 12"/>
          <p:cNvSpPr/>
          <p:nvPr/>
        </p:nvSpPr>
        <p:spPr>
          <a:xfrm>
            <a:off x="457200" y="4892040"/>
            <a:ext cx="11247120" cy="111556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001768"/>
            <a:ext cx="10789920" cy="274320"/>
          </a:xfrm>
          <a:prstGeom prst="rect">
            <a:avLst/>
          </a:prstGeom>
          <a:noFill/>
        </p:spPr>
        <p:txBody>
          <a:bodyPr wrap="square">
            <a:spAutoFit/>
          </a:bodyPr>
          <a:lstStyle/>
          <a:p>
            <a:pPr algn="l"/>
            <a:r>
              <a:rPr sz="1500" b="1">
                <a:solidFill>
                  <a:srgbClr val="E8A838"/>
                </a:solidFill>
                <a:latin typeface="Calibri"/>
              </a:rPr>
              <a:t>Data and test setting</a:t>
            </a:r>
          </a:p>
        </p:txBody>
      </p:sp>
      <p:sp>
        <p:nvSpPr>
          <p:cNvPr id="15" name="TextBox 14"/>
          <p:cNvSpPr txBox="1"/>
          <p:nvPr/>
        </p:nvSpPr>
        <p:spPr>
          <a:xfrm>
            <a:off x="685800" y="5294376"/>
            <a:ext cx="10789920" cy="594360"/>
          </a:xfrm>
          <a:prstGeom prst="rect">
            <a:avLst/>
          </a:prstGeom>
          <a:noFill/>
        </p:spPr>
        <p:txBody>
          <a:bodyPr wrap="square">
            <a:spAutoFit/>
          </a:bodyPr>
          <a:lstStyle/>
          <a:p>
            <a:pPr algn="l"/>
            <a:r>
              <a:rPr sz="1400" b="0">
                <a:solidFill>
                  <a:srgbClr val="FFFFFF"/>
                </a:solidFill>
                <a:latin typeface="Calibri"/>
              </a:rPr>
              <a:t>Public freeway detector archives (METR-LA; PEMS-BAY). Local mixed traffic is the next deployment step.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Study purpose and research objectives</a:t>
            </a:r>
          </a:p>
        </p:txBody>
      </p:sp>
      <p:sp>
        <p:nvSpPr>
          <p:cNvPr id="4" name="TextBox 3"/>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3 / 13</a:t>
            </a:r>
          </a:p>
        </p:txBody>
      </p:sp>
      <p:sp>
        <p:nvSpPr>
          <p:cNvPr id="5" name="Rounded Rectangle 4"/>
          <p:cNvSpPr/>
          <p:nvPr/>
        </p:nvSpPr>
        <p:spPr>
          <a:xfrm>
            <a:off x="457200" y="868680"/>
            <a:ext cx="11247120" cy="114300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960120"/>
            <a:ext cx="10789920" cy="228600"/>
          </a:xfrm>
          <a:prstGeom prst="rect">
            <a:avLst/>
          </a:prstGeom>
          <a:noFill/>
        </p:spPr>
        <p:txBody>
          <a:bodyPr wrap="square">
            <a:spAutoFit/>
          </a:bodyPr>
          <a:lstStyle/>
          <a:p>
            <a:pPr algn="l"/>
            <a:r>
              <a:rPr sz="1400" b="1">
                <a:solidFill>
                  <a:srgbClr val="E8A838"/>
                </a:solidFill>
                <a:latin typeface="Calibri"/>
              </a:rPr>
              <a:t>Purpose</a:t>
            </a:r>
          </a:p>
        </p:txBody>
      </p:sp>
      <p:sp>
        <p:nvSpPr>
          <p:cNvPr id="7" name="TextBox 6"/>
          <p:cNvSpPr txBox="1"/>
          <p:nvPr/>
        </p:nvSpPr>
        <p:spPr>
          <a:xfrm>
            <a:off x="685800" y="1207008"/>
            <a:ext cx="10789920" cy="685800"/>
          </a:xfrm>
          <a:prstGeom prst="rect">
            <a:avLst/>
          </a:prstGeom>
          <a:noFill/>
        </p:spPr>
        <p:txBody>
          <a:bodyPr wrap="square">
            <a:spAutoFit/>
          </a:bodyPr>
          <a:lstStyle/>
          <a:p>
            <a:pPr algn="l"/>
            <a:r>
              <a:rPr sz="1500" b="0">
                <a:solidFill>
                  <a:srgbClr val="FFFFFF"/>
                </a:solidFill>
                <a:latin typeface="Calibri"/>
              </a:rPr>
              <a:t>To design and evaluate a dispatcher-support framework that cuts realised emergency-vehicle travel time by joining GRU speed forecasts, time-dependent A*, and a remaining-time threshold.</a:t>
            </a:r>
          </a:p>
        </p:txBody>
      </p:sp>
      <p:sp>
        <p:nvSpPr>
          <p:cNvPr id="8" name="Rounded Rectangle 7"/>
          <p:cNvSpPr/>
          <p:nvPr/>
        </p:nvSpPr>
        <p:spPr>
          <a:xfrm>
            <a:off x="457200" y="2148840"/>
            <a:ext cx="11247120" cy="585216"/>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1234440" cy="320040"/>
          </a:xfrm>
          <a:prstGeom prst="rect">
            <a:avLst/>
          </a:prstGeom>
          <a:noFill/>
        </p:spPr>
        <p:txBody>
          <a:bodyPr wrap="square">
            <a:spAutoFit/>
          </a:bodyPr>
          <a:lstStyle/>
          <a:p>
            <a:pPr algn="l"/>
            <a:r>
              <a:rPr sz="1400" b="1">
                <a:solidFill>
                  <a:srgbClr val="E8A838"/>
                </a:solidFill>
                <a:latin typeface="Calibri"/>
              </a:rPr>
              <a:t>Obj. 1</a:t>
            </a:r>
          </a:p>
        </p:txBody>
      </p:sp>
      <p:sp>
        <p:nvSpPr>
          <p:cNvPr id="10" name="TextBox 9"/>
          <p:cNvSpPr txBox="1"/>
          <p:nvPr/>
        </p:nvSpPr>
        <p:spPr>
          <a:xfrm>
            <a:off x="1965960" y="2286000"/>
            <a:ext cx="9509760" cy="347472"/>
          </a:xfrm>
          <a:prstGeom prst="rect">
            <a:avLst/>
          </a:prstGeom>
          <a:noFill/>
        </p:spPr>
        <p:txBody>
          <a:bodyPr wrap="square">
            <a:spAutoFit/>
          </a:bodyPr>
          <a:lstStyle/>
          <a:p>
            <a:pPr algn="l"/>
            <a:r>
              <a:rPr sz="1400" b="0">
                <a:solidFill>
                  <a:srgbClr val="FFFFFF"/>
                </a:solidFill>
                <a:latin typeface="Calibri"/>
              </a:rPr>
              <a:t>Map the gaps among emergency routing, traffic prediction, and time-dependent pathfinding.</a:t>
            </a:r>
          </a:p>
        </p:txBody>
      </p:sp>
      <p:sp>
        <p:nvSpPr>
          <p:cNvPr id="11" name="Rounded Rectangle 10"/>
          <p:cNvSpPr/>
          <p:nvPr/>
        </p:nvSpPr>
        <p:spPr>
          <a:xfrm>
            <a:off x="457200" y="2807208"/>
            <a:ext cx="11247120" cy="585216"/>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944368"/>
            <a:ext cx="1234440" cy="320040"/>
          </a:xfrm>
          <a:prstGeom prst="rect">
            <a:avLst/>
          </a:prstGeom>
          <a:noFill/>
        </p:spPr>
        <p:txBody>
          <a:bodyPr wrap="square">
            <a:spAutoFit/>
          </a:bodyPr>
          <a:lstStyle/>
          <a:p>
            <a:pPr algn="l"/>
            <a:r>
              <a:rPr sz="1400" b="1">
                <a:solidFill>
                  <a:srgbClr val="E8A838"/>
                </a:solidFill>
                <a:latin typeface="Calibri"/>
              </a:rPr>
              <a:t>Obj. 2</a:t>
            </a:r>
          </a:p>
        </p:txBody>
      </p:sp>
      <p:sp>
        <p:nvSpPr>
          <p:cNvPr id="13" name="TextBox 12"/>
          <p:cNvSpPr txBox="1"/>
          <p:nvPr/>
        </p:nvSpPr>
        <p:spPr>
          <a:xfrm>
            <a:off x="1965960" y="2944368"/>
            <a:ext cx="9509760" cy="347472"/>
          </a:xfrm>
          <a:prstGeom prst="rect">
            <a:avLst/>
          </a:prstGeom>
          <a:noFill/>
        </p:spPr>
        <p:txBody>
          <a:bodyPr wrap="square">
            <a:spAutoFit/>
          </a:bodyPr>
          <a:lstStyle/>
          <a:p>
            <a:pPr algn="l"/>
            <a:r>
              <a:rPr sz="1400" b="0">
                <a:solidFill>
                  <a:srgbClr val="FFFFFF"/>
                </a:solidFill>
                <a:latin typeface="Calibri"/>
              </a:rPr>
              <a:t>Build the three-part system: GRU predictor, time-dependent A*, remaining-time controller.</a:t>
            </a:r>
          </a:p>
        </p:txBody>
      </p:sp>
      <p:sp>
        <p:nvSpPr>
          <p:cNvPr id="14" name="Rounded Rectangle 13"/>
          <p:cNvSpPr/>
          <p:nvPr/>
        </p:nvSpPr>
        <p:spPr>
          <a:xfrm>
            <a:off x="457200" y="3465576"/>
            <a:ext cx="11247120" cy="585216"/>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602736"/>
            <a:ext cx="1234440" cy="320040"/>
          </a:xfrm>
          <a:prstGeom prst="rect">
            <a:avLst/>
          </a:prstGeom>
          <a:noFill/>
        </p:spPr>
        <p:txBody>
          <a:bodyPr wrap="square">
            <a:spAutoFit/>
          </a:bodyPr>
          <a:lstStyle/>
          <a:p>
            <a:pPr algn="l"/>
            <a:r>
              <a:rPr sz="1400" b="1">
                <a:solidFill>
                  <a:srgbClr val="E8A838"/>
                </a:solidFill>
                <a:latin typeface="Calibri"/>
              </a:rPr>
              <a:t>Obj. 3</a:t>
            </a:r>
          </a:p>
        </p:txBody>
      </p:sp>
      <p:sp>
        <p:nvSpPr>
          <p:cNvPr id="16" name="TextBox 15"/>
          <p:cNvSpPr txBox="1"/>
          <p:nvPr/>
        </p:nvSpPr>
        <p:spPr>
          <a:xfrm>
            <a:off x="1965960" y="3602736"/>
            <a:ext cx="9509760" cy="347472"/>
          </a:xfrm>
          <a:prstGeom prst="rect">
            <a:avLst/>
          </a:prstGeom>
          <a:noFill/>
        </p:spPr>
        <p:txBody>
          <a:bodyPr wrap="square">
            <a:spAutoFit/>
          </a:bodyPr>
          <a:lstStyle/>
          <a:p>
            <a:pPr algn="l"/>
            <a:r>
              <a:rPr sz="1400" b="0">
                <a:solidFill>
                  <a:srgbClr val="FFFFFF"/>
                </a:solidFill>
                <a:latin typeface="Calibri"/>
              </a:rPr>
              <a:t>Which remaining-time threshold δ ∈ {5%, 10%, 15%, 20%} balances travel time against extra alerts.</a:t>
            </a:r>
          </a:p>
        </p:txBody>
      </p:sp>
      <p:sp>
        <p:nvSpPr>
          <p:cNvPr id="17" name="Rounded Rectangle 16"/>
          <p:cNvSpPr/>
          <p:nvPr/>
        </p:nvSpPr>
        <p:spPr>
          <a:xfrm>
            <a:off x="457200" y="4123944"/>
            <a:ext cx="11247120" cy="585216"/>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261104"/>
            <a:ext cx="1234440" cy="320040"/>
          </a:xfrm>
          <a:prstGeom prst="rect">
            <a:avLst/>
          </a:prstGeom>
          <a:noFill/>
        </p:spPr>
        <p:txBody>
          <a:bodyPr wrap="square">
            <a:spAutoFit/>
          </a:bodyPr>
          <a:lstStyle/>
          <a:p>
            <a:pPr algn="l"/>
            <a:r>
              <a:rPr sz="1400" b="1">
                <a:solidFill>
                  <a:srgbClr val="E8A838"/>
                </a:solidFill>
                <a:latin typeface="Calibri"/>
              </a:rPr>
              <a:t>Obj. 4</a:t>
            </a:r>
          </a:p>
        </p:txBody>
      </p:sp>
      <p:sp>
        <p:nvSpPr>
          <p:cNvPr id="19" name="TextBox 18"/>
          <p:cNvSpPr txBox="1"/>
          <p:nvPr/>
        </p:nvSpPr>
        <p:spPr>
          <a:xfrm>
            <a:off x="1965960" y="4261104"/>
            <a:ext cx="9509760" cy="347472"/>
          </a:xfrm>
          <a:prstGeom prst="rect">
            <a:avLst/>
          </a:prstGeom>
          <a:noFill/>
        </p:spPr>
        <p:txBody>
          <a:bodyPr wrap="square">
            <a:spAutoFit/>
          </a:bodyPr>
          <a:lstStyle/>
          <a:p>
            <a:pPr algn="l"/>
            <a:r>
              <a:rPr sz="1400" b="0">
                <a:solidFill>
                  <a:srgbClr val="FFFFFF"/>
                </a:solidFill>
                <a:latin typeface="Calibri"/>
              </a:rPr>
              <a:t>Whether the loop cuts realised travel time versus four baselines while answering inside one second.</a:t>
            </a:r>
          </a:p>
        </p:txBody>
      </p:sp>
      <p:sp>
        <p:nvSpPr>
          <p:cNvPr id="20" name="TextBox 19"/>
          <p:cNvSpPr txBox="1"/>
          <p:nvPr/>
        </p:nvSpPr>
        <p:spPr>
          <a:xfrm>
            <a:off x="457200" y="4892040"/>
            <a:ext cx="11247120" cy="320040"/>
          </a:xfrm>
          <a:prstGeom prst="rect">
            <a:avLst/>
          </a:prstGeom>
          <a:noFill/>
        </p:spPr>
        <p:txBody>
          <a:bodyPr wrap="square">
            <a:spAutoFit/>
          </a:bodyPr>
          <a:lstStyle/>
          <a:p>
            <a:pPr algn="l"/>
            <a:r>
              <a:rPr sz="1300" b="0">
                <a:solidFill>
                  <a:srgbClr val="CADCFC"/>
                </a:solidFill>
                <a:latin typeface="Calibri"/>
              </a:rPr>
              <a:t>Objectives 1–2 produce the artefact. Objectives 3–4 are the evaluation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Integrated routing framework</a:t>
            </a:r>
          </a:p>
        </p:txBody>
      </p:sp>
      <p:sp>
        <p:nvSpPr>
          <p:cNvPr id="4" name="TextBox 3"/>
          <p:cNvSpPr txBox="1"/>
          <p:nvPr/>
        </p:nvSpPr>
        <p:spPr>
          <a:xfrm>
            <a:off x="457200" y="566928"/>
            <a:ext cx="11247120" cy="320040"/>
          </a:xfrm>
          <a:prstGeom prst="rect">
            <a:avLst/>
          </a:prstGeom>
          <a:noFill/>
        </p:spPr>
        <p:txBody>
          <a:bodyPr wrap="square">
            <a:spAutoFit/>
          </a:bodyPr>
          <a:lstStyle/>
          <a:p>
            <a:pPr algn="l"/>
            <a:r>
              <a:rPr sz="1300" b="0">
                <a:solidFill>
                  <a:srgbClr val="CADCFC"/>
                </a:solidFill>
                <a:latin typeface="Calibri"/>
              </a:rPr>
              <a:t>Figure 1. End-to-end loop: observe, forecast, route, update — dispatcher retains authority.</a:t>
            </a:r>
          </a:p>
        </p:txBody>
      </p:sp>
      <p:sp>
        <p:nvSpPr>
          <p:cNvPr id="5" name="TextBox 4"/>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4 / 13</a:t>
            </a:r>
          </a:p>
        </p:txBody>
      </p:sp>
      <p:sp>
        <p:nvSpPr>
          <p:cNvPr id="6" name="Rounded Rectangle 5"/>
          <p:cNvSpPr/>
          <p:nvPr/>
        </p:nvSpPr>
        <p:spPr>
          <a:xfrm>
            <a:off x="411480" y="960120"/>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43000"/>
            <a:ext cx="3291840" cy="411480"/>
          </a:xfrm>
          <a:prstGeom prst="rect">
            <a:avLst/>
          </a:prstGeom>
          <a:noFill/>
        </p:spPr>
        <p:txBody>
          <a:bodyPr wrap="square">
            <a:spAutoFit/>
          </a:bodyPr>
          <a:lstStyle/>
          <a:p>
            <a:pPr algn="l"/>
            <a:r>
              <a:rPr sz="2800" b="1">
                <a:solidFill>
                  <a:srgbClr val="E8A838"/>
                </a:solidFill>
                <a:latin typeface="Cambria"/>
              </a:rPr>
              <a:t>1</a:t>
            </a:r>
          </a:p>
        </p:txBody>
      </p:sp>
      <p:sp>
        <p:nvSpPr>
          <p:cNvPr id="8" name="TextBox 7"/>
          <p:cNvSpPr txBox="1"/>
          <p:nvPr/>
        </p:nvSpPr>
        <p:spPr>
          <a:xfrm>
            <a:off x="594360" y="1645920"/>
            <a:ext cx="3291840" cy="365760"/>
          </a:xfrm>
          <a:prstGeom prst="rect">
            <a:avLst/>
          </a:prstGeom>
          <a:noFill/>
        </p:spPr>
        <p:txBody>
          <a:bodyPr wrap="square">
            <a:spAutoFit/>
          </a:bodyPr>
          <a:lstStyle/>
          <a:p>
            <a:pPr algn="l"/>
            <a:r>
              <a:rPr sz="1700" b="1">
                <a:solidFill>
                  <a:srgbClr val="CADCFC"/>
                </a:solidFill>
                <a:latin typeface="Calibri"/>
              </a:rPr>
              <a:t>Observe</a:t>
            </a:r>
          </a:p>
        </p:txBody>
      </p:sp>
      <p:sp>
        <p:nvSpPr>
          <p:cNvPr id="9" name="TextBox 8"/>
          <p:cNvSpPr txBox="1"/>
          <p:nvPr/>
        </p:nvSpPr>
        <p:spPr>
          <a:xfrm>
            <a:off x="594360" y="2103120"/>
            <a:ext cx="3291840" cy="777240"/>
          </a:xfrm>
          <a:prstGeom prst="rect">
            <a:avLst/>
          </a:prstGeom>
          <a:noFill/>
        </p:spPr>
        <p:txBody>
          <a:bodyPr wrap="square">
            <a:spAutoFit/>
          </a:bodyPr>
          <a:lstStyle/>
          <a:p>
            <a:pPr algn="l"/>
            <a:r>
              <a:rPr sz="1300" b="0">
                <a:solidFill>
                  <a:srgbClr val="FFFFFF"/>
                </a:solidFill>
                <a:latin typeface="Calibri"/>
              </a:rPr>
              <a:t>Last 60 minutes of detector speeds — 12 frames, five minutes each.</a:t>
            </a:r>
          </a:p>
        </p:txBody>
      </p:sp>
      <p:sp>
        <p:nvSpPr>
          <p:cNvPr id="10" name="Rounded Rectangle 9"/>
          <p:cNvSpPr/>
          <p:nvPr/>
        </p:nvSpPr>
        <p:spPr>
          <a:xfrm>
            <a:off x="4251960" y="960120"/>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143000"/>
            <a:ext cx="3291840" cy="411480"/>
          </a:xfrm>
          <a:prstGeom prst="rect">
            <a:avLst/>
          </a:prstGeom>
          <a:noFill/>
        </p:spPr>
        <p:txBody>
          <a:bodyPr wrap="square">
            <a:spAutoFit/>
          </a:bodyPr>
          <a:lstStyle/>
          <a:p>
            <a:pPr algn="l"/>
            <a:r>
              <a:rPr sz="2800" b="1">
                <a:solidFill>
                  <a:srgbClr val="E8A838"/>
                </a:solidFill>
                <a:latin typeface="Cambria"/>
              </a:rPr>
              <a:t>2</a:t>
            </a:r>
          </a:p>
        </p:txBody>
      </p:sp>
      <p:sp>
        <p:nvSpPr>
          <p:cNvPr id="12" name="TextBox 11"/>
          <p:cNvSpPr txBox="1"/>
          <p:nvPr/>
        </p:nvSpPr>
        <p:spPr>
          <a:xfrm>
            <a:off x="4434840" y="1645920"/>
            <a:ext cx="3291840" cy="365760"/>
          </a:xfrm>
          <a:prstGeom prst="rect">
            <a:avLst/>
          </a:prstGeom>
          <a:noFill/>
        </p:spPr>
        <p:txBody>
          <a:bodyPr wrap="square">
            <a:spAutoFit/>
          </a:bodyPr>
          <a:lstStyle/>
          <a:p>
            <a:pPr algn="l"/>
            <a:r>
              <a:rPr sz="1700" b="1">
                <a:solidFill>
                  <a:srgbClr val="CADCFC"/>
                </a:solidFill>
                <a:latin typeface="Calibri"/>
              </a:rPr>
              <a:t>Forecast</a:t>
            </a:r>
          </a:p>
        </p:txBody>
      </p:sp>
      <p:sp>
        <p:nvSpPr>
          <p:cNvPr id="13" name="TextBox 12"/>
          <p:cNvSpPr txBox="1"/>
          <p:nvPr/>
        </p:nvSpPr>
        <p:spPr>
          <a:xfrm>
            <a:off x="4434840" y="2103120"/>
            <a:ext cx="3291840" cy="777240"/>
          </a:xfrm>
          <a:prstGeom prst="rect">
            <a:avLst/>
          </a:prstGeom>
          <a:noFill/>
        </p:spPr>
        <p:txBody>
          <a:bodyPr wrap="square">
            <a:spAutoFit/>
          </a:bodyPr>
          <a:lstStyle/>
          <a:p>
            <a:pPr algn="l"/>
            <a:r>
              <a:rPr sz="1300" b="0">
                <a:solidFill>
                  <a:srgbClr val="FFFFFF"/>
                </a:solidFill>
                <a:latin typeface="Calibri"/>
              </a:rPr>
              <a:t>Two-layer GRU, 64 units, dropout 0.2. Next 30 minutes — 6 frames.</a:t>
            </a:r>
          </a:p>
        </p:txBody>
      </p:sp>
      <p:sp>
        <p:nvSpPr>
          <p:cNvPr id="14" name="Rounded Rectangle 13"/>
          <p:cNvSpPr/>
          <p:nvPr/>
        </p:nvSpPr>
        <p:spPr>
          <a:xfrm>
            <a:off x="8092440" y="960120"/>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143000"/>
            <a:ext cx="3291840" cy="411480"/>
          </a:xfrm>
          <a:prstGeom prst="rect">
            <a:avLst/>
          </a:prstGeom>
          <a:noFill/>
        </p:spPr>
        <p:txBody>
          <a:bodyPr wrap="square">
            <a:spAutoFit/>
          </a:bodyPr>
          <a:lstStyle/>
          <a:p>
            <a:pPr algn="l"/>
            <a:r>
              <a:rPr sz="2800" b="1">
                <a:solidFill>
                  <a:srgbClr val="E8A838"/>
                </a:solidFill>
                <a:latin typeface="Cambria"/>
              </a:rPr>
              <a:t>3</a:t>
            </a:r>
          </a:p>
        </p:txBody>
      </p:sp>
      <p:sp>
        <p:nvSpPr>
          <p:cNvPr id="16" name="TextBox 15"/>
          <p:cNvSpPr txBox="1"/>
          <p:nvPr/>
        </p:nvSpPr>
        <p:spPr>
          <a:xfrm>
            <a:off x="8275319" y="1645920"/>
            <a:ext cx="3291840" cy="365760"/>
          </a:xfrm>
          <a:prstGeom prst="rect">
            <a:avLst/>
          </a:prstGeom>
          <a:noFill/>
        </p:spPr>
        <p:txBody>
          <a:bodyPr wrap="square">
            <a:spAutoFit/>
          </a:bodyPr>
          <a:lstStyle/>
          <a:p>
            <a:pPr algn="l"/>
            <a:r>
              <a:rPr sz="1700" b="1">
                <a:solidFill>
                  <a:srgbClr val="CADCFC"/>
                </a:solidFill>
                <a:latin typeface="Calibri"/>
              </a:rPr>
              <a:t>Cost</a:t>
            </a:r>
          </a:p>
        </p:txBody>
      </p:sp>
      <p:sp>
        <p:nvSpPr>
          <p:cNvPr id="17" name="TextBox 16"/>
          <p:cNvSpPr txBox="1"/>
          <p:nvPr/>
        </p:nvSpPr>
        <p:spPr>
          <a:xfrm>
            <a:off x="8275319" y="2103120"/>
            <a:ext cx="3291840" cy="777240"/>
          </a:xfrm>
          <a:prstGeom prst="rect">
            <a:avLst/>
          </a:prstGeom>
          <a:noFill/>
        </p:spPr>
        <p:txBody>
          <a:bodyPr wrap="square">
            <a:spAutoFit/>
          </a:bodyPr>
          <a:lstStyle/>
          <a:p>
            <a:pPr algn="l"/>
            <a:r>
              <a:rPr sz="1300" b="0">
                <a:solidFill>
                  <a:srgbClr val="FFFFFF"/>
                </a:solidFill>
                <a:latin typeface="Calibri"/>
              </a:rPr>
              <a:t>Predicted mph become travel time on each detector-to-detector edge.</a:t>
            </a:r>
          </a:p>
        </p:txBody>
      </p:sp>
      <p:sp>
        <p:nvSpPr>
          <p:cNvPr id="18" name="Rounded Rectangle 17"/>
          <p:cNvSpPr/>
          <p:nvPr/>
        </p:nvSpPr>
        <p:spPr>
          <a:xfrm>
            <a:off x="411480" y="3291839"/>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474720"/>
            <a:ext cx="3291840" cy="411480"/>
          </a:xfrm>
          <a:prstGeom prst="rect">
            <a:avLst/>
          </a:prstGeom>
          <a:noFill/>
        </p:spPr>
        <p:txBody>
          <a:bodyPr wrap="square">
            <a:spAutoFit/>
          </a:bodyPr>
          <a:lstStyle/>
          <a:p>
            <a:pPr algn="l"/>
            <a:r>
              <a:rPr sz="2800" b="1">
                <a:solidFill>
                  <a:srgbClr val="E8A838"/>
                </a:solidFill>
                <a:latin typeface="Cambria"/>
              </a:rPr>
              <a:t>4</a:t>
            </a:r>
          </a:p>
        </p:txBody>
      </p:sp>
      <p:sp>
        <p:nvSpPr>
          <p:cNvPr id="20" name="TextBox 19"/>
          <p:cNvSpPr txBox="1"/>
          <p:nvPr/>
        </p:nvSpPr>
        <p:spPr>
          <a:xfrm>
            <a:off x="594360" y="3977639"/>
            <a:ext cx="3291840" cy="365760"/>
          </a:xfrm>
          <a:prstGeom prst="rect">
            <a:avLst/>
          </a:prstGeom>
          <a:noFill/>
        </p:spPr>
        <p:txBody>
          <a:bodyPr wrap="square">
            <a:spAutoFit/>
          </a:bodyPr>
          <a:lstStyle/>
          <a:p>
            <a:pPr algn="l"/>
            <a:r>
              <a:rPr sz="1700" b="1">
                <a:solidFill>
                  <a:srgbClr val="CADCFC"/>
                </a:solidFill>
                <a:latin typeface="Calibri"/>
              </a:rPr>
              <a:t>Route</a:t>
            </a:r>
          </a:p>
        </p:txBody>
      </p:sp>
      <p:sp>
        <p:nvSpPr>
          <p:cNvPr id="21" name="TextBox 20"/>
          <p:cNvSpPr txBox="1"/>
          <p:nvPr/>
        </p:nvSpPr>
        <p:spPr>
          <a:xfrm>
            <a:off x="594360" y="4434840"/>
            <a:ext cx="3291840" cy="777240"/>
          </a:xfrm>
          <a:prstGeom prst="rect">
            <a:avLst/>
          </a:prstGeom>
          <a:noFill/>
        </p:spPr>
        <p:txBody>
          <a:bodyPr wrap="square">
            <a:spAutoFit/>
          </a:bodyPr>
          <a:lstStyle/>
          <a:p>
            <a:pPr algn="l"/>
            <a:r>
              <a:rPr sz="1300" b="0">
                <a:solidFill>
                  <a:srgbClr val="FFFFFF"/>
                </a:solidFill>
                <a:latin typeface="Calibri"/>
              </a:rPr>
              <a:t>Time-dependent A* from origin to destination using those changing costs.</a:t>
            </a:r>
          </a:p>
        </p:txBody>
      </p:sp>
      <p:sp>
        <p:nvSpPr>
          <p:cNvPr id="22" name="Rounded Rectangle 21"/>
          <p:cNvSpPr/>
          <p:nvPr/>
        </p:nvSpPr>
        <p:spPr>
          <a:xfrm>
            <a:off x="4251960" y="3291839"/>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3474720"/>
            <a:ext cx="3291840" cy="411480"/>
          </a:xfrm>
          <a:prstGeom prst="rect">
            <a:avLst/>
          </a:prstGeom>
          <a:noFill/>
        </p:spPr>
        <p:txBody>
          <a:bodyPr wrap="square">
            <a:spAutoFit/>
          </a:bodyPr>
          <a:lstStyle/>
          <a:p>
            <a:pPr algn="l"/>
            <a:r>
              <a:rPr sz="2800" b="1">
                <a:solidFill>
                  <a:srgbClr val="E8A838"/>
                </a:solidFill>
                <a:latin typeface="Cambria"/>
              </a:rPr>
              <a:t>5</a:t>
            </a:r>
          </a:p>
        </p:txBody>
      </p:sp>
      <p:sp>
        <p:nvSpPr>
          <p:cNvPr id="24" name="TextBox 23"/>
          <p:cNvSpPr txBox="1"/>
          <p:nvPr/>
        </p:nvSpPr>
        <p:spPr>
          <a:xfrm>
            <a:off x="4434840" y="3977639"/>
            <a:ext cx="3291840" cy="365760"/>
          </a:xfrm>
          <a:prstGeom prst="rect">
            <a:avLst/>
          </a:prstGeom>
          <a:noFill/>
        </p:spPr>
        <p:txBody>
          <a:bodyPr wrap="square">
            <a:spAutoFit/>
          </a:bodyPr>
          <a:lstStyle/>
          <a:p>
            <a:pPr algn="l"/>
            <a:r>
              <a:rPr sz="1700" b="1">
                <a:solidFill>
                  <a:srgbClr val="CADCFC"/>
                </a:solidFill>
                <a:latin typeface="Calibri"/>
              </a:rPr>
              <a:t>Update</a:t>
            </a:r>
          </a:p>
        </p:txBody>
      </p:sp>
      <p:sp>
        <p:nvSpPr>
          <p:cNvPr id="25" name="TextBox 24"/>
          <p:cNvSpPr txBox="1"/>
          <p:nvPr/>
        </p:nvSpPr>
        <p:spPr>
          <a:xfrm>
            <a:off x="4434840" y="4434840"/>
            <a:ext cx="3291840" cy="777240"/>
          </a:xfrm>
          <a:prstGeom prst="rect">
            <a:avLst/>
          </a:prstGeom>
          <a:noFill/>
        </p:spPr>
        <p:txBody>
          <a:bodyPr wrap="square">
            <a:spAutoFit/>
          </a:bodyPr>
          <a:lstStyle/>
          <a:p>
            <a:pPr algn="l"/>
            <a:r>
              <a:rPr sz="1300" b="0">
                <a:solidFill>
                  <a:srgbClr val="FFFFFF"/>
                </a:solidFill>
                <a:latin typeface="Calibri"/>
              </a:rPr>
              <a:t>If remaining time from the current position grows by more than δ, offer a new path.</a:t>
            </a:r>
          </a:p>
        </p:txBody>
      </p:sp>
      <p:sp>
        <p:nvSpPr>
          <p:cNvPr id="26" name="Rounded Rectangle 25"/>
          <p:cNvSpPr/>
          <p:nvPr/>
        </p:nvSpPr>
        <p:spPr>
          <a:xfrm>
            <a:off x="8092440" y="3291839"/>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3474720"/>
            <a:ext cx="3291840" cy="411480"/>
          </a:xfrm>
          <a:prstGeom prst="rect">
            <a:avLst/>
          </a:prstGeom>
          <a:noFill/>
        </p:spPr>
        <p:txBody>
          <a:bodyPr wrap="square">
            <a:spAutoFit/>
          </a:bodyPr>
          <a:lstStyle/>
          <a:p>
            <a:pPr algn="l"/>
            <a:r>
              <a:rPr sz="2800" b="1">
                <a:solidFill>
                  <a:srgbClr val="E8A838"/>
                </a:solidFill>
                <a:latin typeface="Cambria"/>
              </a:rPr>
              <a:t>6</a:t>
            </a:r>
          </a:p>
        </p:txBody>
      </p:sp>
      <p:sp>
        <p:nvSpPr>
          <p:cNvPr id="28" name="TextBox 27"/>
          <p:cNvSpPr txBox="1"/>
          <p:nvPr/>
        </p:nvSpPr>
        <p:spPr>
          <a:xfrm>
            <a:off x="8275319" y="3977639"/>
            <a:ext cx="3291840" cy="365760"/>
          </a:xfrm>
          <a:prstGeom prst="rect">
            <a:avLst/>
          </a:prstGeom>
          <a:noFill/>
        </p:spPr>
        <p:txBody>
          <a:bodyPr wrap="square">
            <a:spAutoFit/>
          </a:bodyPr>
          <a:lstStyle/>
          <a:p>
            <a:pPr algn="l"/>
            <a:r>
              <a:rPr sz="1700" b="1">
                <a:solidFill>
                  <a:srgbClr val="CADCFC"/>
                </a:solidFill>
                <a:latin typeface="Calibri"/>
              </a:rPr>
              <a:t>Decide</a:t>
            </a:r>
          </a:p>
        </p:txBody>
      </p:sp>
      <p:sp>
        <p:nvSpPr>
          <p:cNvPr id="29" name="TextBox 28"/>
          <p:cNvSpPr txBox="1"/>
          <p:nvPr/>
        </p:nvSpPr>
        <p:spPr>
          <a:xfrm>
            <a:off x="8275319" y="4434840"/>
            <a:ext cx="3291840" cy="777240"/>
          </a:xfrm>
          <a:prstGeom prst="rect">
            <a:avLst/>
          </a:prstGeom>
          <a:noFill/>
        </p:spPr>
        <p:txBody>
          <a:bodyPr wrap="square">
            <a:spAutoFit/>
          </a:bodyPr>
          <a:lstStyle/>
          <a:p>
            <a:pPr algn="l"/>
            <a:r>
              <a:rPr sz="1300" b="0">
                <a:solidFill>
                  <a:srgbClr val="FFFFFF"/>
                </a:solidFill>
                <a:latin typeface="Calibri"/>
              </a:rPr>
              <a:t>The dispatcher accepts or rejects. The vehicle is not self-driving.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Research design and fair comparison</a:t>
            </a:r>
          </a:p>
        </p:txBody>
      </p:sp>
      <p:sp>
        <p:nvSpPr>
          <p:cNvPr id="4" name="TextBox 3"/>
          <p:cNvSpPr txBox="1"/>
          <p:nvPr/>
        </p:nvSpPr>
        <p:spPr>
          <a:xfrm>
            <a:off x="457200" y="566928"/>
            <a:ext cx="11247120" cy="320040"/>
          </a:xfrm>
          <a:prstGeom prst="rect">
            <a:avLst/>
          </a:prstGeom>
          <a:noFill/>
        </p:spPr>
        <p:txBody>
          <a:bodyPr wrap="square">
            <a:spAutoFit/>
          </a:bodyPr>
          <a:lstStyle/>
          <a:p>
            <a:pPr algn="l"/>
            <a:r>
              <a:rPr sz="1300" b="0">
                <a:solidFill>
                  <a:srgbClr val="CADCFC"/>
                </a:solidFill>
                <a:latin typeface="Calibri"/>
              </a:rPr>
              <a:t>This slide presents how the 900 journeys were built and why the comparison is fair.</a:t>
            </a:r>
          </a:p>
        </p:txBody>
      </p:sp>
      <p:sp>
        <p:nvSpPr>
          <p:cNvPr id="5" name="TextBox 4"/>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5 / 13</a:t>
            </a:r>
          </a:p>
        </p:txBody>
      </p:sp>
      <p:sp>
        <p:nvSpPr>
          <p:cNvPr id="6" name="Rounded Rectangle 5"/>
          <p:cNvSpPr/>
          <p:nvPr/>
        </p:nvSpPr>
        <p:spPr>
          <a:xfrm>
            <a:off x="411480" y="960120"/>
            <a:ext cx="5577840" cy="48920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97280"/>
            <a:ext cx="5120640" cy="292608"/>
          </a:xfrm>
          <a:prstGeom prst="rect">
            <a:avLst/>
          </a:prstGeom>
          <a:noFill/>
        </p:spPr>
        <p:txBody>
          <a:bodyPr wrap="square">
            <a:spAutoFit/>
          </a:bodyPr>
          <a:lstStyle/>
          <a:p>
            <a:pPr algn="l"/>
            <a:r>
              <a:rPr sz="1500" b="1">
                <a:solidFill>
                  <a:srgbClr val="E8A838"/>
                </a:solidFill>
                <a:latin typeface="Calibri"/>
              </a:rPr>
              <a:t>Simulation design (N = 900)</a:t>
            </a:r>
          </a:p>
        </p:txBody>
      </p:sp>
      <p:sp>
        <p:nvSpPr>
          <p:cNvPr id="8" name="TextBox 7"/>
          <p:cNvSpPr txBox="1"/>
          <p:nvPr/>
        </p:nvSpPr>
        <p:spPr>
          <a:xfrm>
            <a:off x="640080" y="1463040"/>
            <a:ext cx="5120640" cy="4206240"/>
          </a:xfrm>
          <a:prstGeom prst="rect">
            <a:avLst/>
          </a:prstGeom>
          <a:noFill/>
        </p:spPr>
        <p:txBody>
          <a:bodyPr wrap="square">
            <a:spAutoFit/>
          </a:bodyPr>
          <a:lstStyle/>
          <a:p>
            <a:pPr>
              <a:spcAft>
                <a:spcPts val="700"/>
              </a:spcAft>
            </a:pPr>
            <a:r>
              <a:rPr sz="1200">
                <a:solidFill>
                  <a:srgbClr val="FFFFFF"/>
                </a:solidFill>
                <a:latin typeface="Calibri"/>
              </a:rPr>
              <a:t>•  Routing city: METR-LA — 207 detectors, 1,515 links, speed on every link (100% instrumented).</a:t>
            </a:r>
          </a:p>
          <a:p>
            <a:pPr>
              <a:spcAft>
                <a:spcPts val="700"/>
              </a:spcAft>
            </a:pPr>
            <a:r>
              <a:rPr sz="1200">
                <a:solidFill>
                  <a:srgbClr val="FFFFFF"/>
                </a:solidFill>
                <a:latin typeface="Calibri"/>
              </a:rPr>
              <a:t>•  Second dataset: PEMS-BAY — 325 detectors; second GRU only, not a second routing city.</a:t>
            </a:r>
          </a:p>
          <a:p>
            <a:pPr>
              <a:spcAft>
                <a:spcPts val="700"/>
              </a:spcAft>
            </a:pPr>
            <a:r>
              <a:rPr sz="1200">
                <a:solidFill>
                  <a:srgbClr val="FFFFFF"/>
                </a:solidFill>
                <a:latin typeface="Calibri"/>
              </a:rPr>
              <a:t>•  Total: 75 origin–destination pairs × 3 traffic scenarios × 4 δ values = 900 journeys.</a:t>
            </a:r>
          </a:p>
          <a:p>
            <a:pPr>
              <a:spcAft>
                <a:spcPts val="700"/>
              </a:spcAft>
            </a:pPr>
            <a:r>
              <a:rPr sz="1200">
                <a:solidFill>
                  <a:srgbClr val="FFFFFF"/>
                </a:solidFill>
                <a:latin typeface="Calibri"/>
              </a:rPr>
              <a:t>•  Scenarios: peak hour (slowest 25%), off-peak (fastest 25%, control), incident (corridor cut to 40% after 20% of B1 time).</a:t>
            </a:r>
          </a:p>
          <a:p>
            <a:pPr>
              <a:spcAft>
                <a:spcPts val="700"/>
              </a:spcAft>
            </a:pPr>
            <a:r>
              <a:rPr sz="1200">
                <a:solidFill>
                  <a:srgbClr val="FFFFFF"/>
                </a:solidFill>
                <a:latin typeface="Calibri"/>
              </a:rPr>
              <a:t>•  Baselines: B1 current Dijkstra · B2 historical static A* · B3 reactive A* (one replan) · B4 oracle (actual future speeds).</a:t>
            </a:r>
          </a:p>
        </p:txBody>
      </p:sp>
      <p:sp>
        <p:nvSpPr>
          <p:cNvPr id="9" name="Rounded Rectangle 8"/>
          <p:cNvSpPr/>
          <p:nvPr/>
        </p:nvSpPr>
        <p:spPr>
          <a:xfrm>
            <a:off x="6217920" y="960120"/>
            <a:ext cx="5577840" cy="48920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097280"/>
            <a:ext cx="5120640" cy="292608"/>
          </a:xfrm>
          <a:prstGeom prst="rect">
            <a:avLst/>
          </a:prstGeom>
          <a:noFill/>
        </p:spPr>
        <p:txBody>
          <a:bodyPr wrap="square">
            <a:spAutoFit/>
          </a:bodyPr>
          <a:lstStyle/>
          <a:p>
            <a:pPr algn="l"/>
            <a:r>
              <a:rPr sz="1500" b="1">
                <a:solidFill>
                  <a:srgbClr val="E8A838"/>
                </a:solidFill>
                <a:latin typeface="Calibri"/>
              </a:rPr>
              <a:t>Steps taken for a fair test</a:t>
            </a:r>
          </a:p>
        </p:txBody>
      </p:sp>
      <p:sp>
        <p:nvSpPr>
          <p:cNvPr id="11" name="TextBox 10"/>
          <p:cNvSpPr txBox="1"/>
          <p:nvPr/>
        </p:nvSpPr>
        <p:spPr>
          <a:xfrm>
            <a:off x="6446520" y="1463040"/>
            <a:ext cx="5120640" cy="4206240"/>
          </a:xfrm>
          <a:prstGeom prst="rect">
            <a:avLst/>
          </a:prstGeom>
          <a:noFill/>
        </p:spPr>
        <p:txBody>
          <a:bodyPr wrap="square">
            <a:spAutoFit/>
          </a:bodyPr>
          <a:lstStyle/>
          <a:p>
            <a:pPr>
              <a:spcAft>
                <a:spcPts val="700"/>
              </a:spcAft>
            </a:pPr>
            <a:r>
              <a:rPr sz="1200">
                <a:solidFill>
                  <a:srgbClr val="FFFFFF"/>
                </a:solidFill>
                <a:latin typeface="Calibri"/>
              </a:rPr>
              <a:t>•  Time split 70 / 15 / 15; scaler fitted on training data only.</a:t>
            </a:r>
          </a:p>
          <a:p>
            <a:pPr>
              <a:spcAft>
                <a:spcPts val="700"/>
              </a:spcAft>
            </a:pPr>
            <a:r>
              <a:rPr sz="1200">
                <a:solidFill>
                  <a:srgbClr val="FFFFFF"/>
                </a:solidFill>
                <a:latin typeface="Calibri"/>
              </a:rPr>
              <a:t>•  Each method chooses its path; clock time is measured on actual future speeds.</a:t>
            </a:r>
          </a:p>
          <a:p>
            <a:pPr>
              <a:spcAft>
                <a:spcPts val="700"/>
              </a:spcAft>
            </a:pPr>
            <a:r>
              <a:rPr sz="1200">
                <a:solidFill>
                  <a:srgbClr val="FFFFFF"/>
                </a:solidFill>
                <a:latin typeface="Calibri"/>
              </a:rPr>
              <a:t>•  Same origin, destination, and start time for every method on every run.</a:t>
            </a:r>
          </a:p>
          <a:p>
            <a:pPr>
              <a:spcAft>
                <a:spcPts val="700"/>
              </a:spcAft>
            </a:pPr>
            <a:r>
              <a:rPr sz="1200">
                <a:solidFill>
                  <a:srgbClr val="FFFFFF"/>
                </a:solidFill>
                <a:latin typeface="Calibri"/>
              </a:rPr>
              <a:t>•  Incidents placed on Dijkstra's planned corridor so the vehicle meets the disruption.</a:t>
            </a:r>
          </a:p>
          <a:p>
            <a:pPr>
              <a:spcAft>
                <a:spcPts val="700"/>
              </a:spcAft>
            </a:pPr>
            <a:r>
              <a:rPr sz="1200">
                <a:solidFill>
                  <a:srgbClr val="FFFFFF"/>
                </a:solidFill>
                <a:latin typeface="Calibri"/>
              </a:rPr>
              <a:t>•  Results apply to this fully instrumented detector graph — not a sparse map with guessed speeds.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Objective 2: GRU forecast accuracy</a:t>
            </a:r>
          </a:p>
        </p:txBody>
      </p:sp>
      <p:sp>
        <p:nvSpPr>
          <p:cNvPr id="4" name="TextBox 3"/>
          <p:cNvSpPr txBox="1"/>
          <p:nvPr/>
        </p:nvSpPr>
        <p:spPr>
          <a:xfrm>
            <a:off x="457200" y="566928"/>
            <a:ext cx="11247120" cy="320040"/>
          </a:xfrm>
          <a:prstGeom prst="rect">
            <a:avLst/>
          </a:prstGeom>
          <a:noFill/>
        </p:spPr>
        <p:txBody>
          <a:bodyPr wrap="square">
            <a:spAutoFit/>
          </a:bodyPr>
          <a:lstStyle/>
          <a:p>
            <a:pPr algn="l"/>
            <a:r>
              <a:rPr sz="1300" b="0">
                <a:solidFill>
                  <a:srgbClr val="CADCFC"/>
                </a:solidFill>
                <a:latin typeface="Calibri"/>
              </a:rPr>
              <a:t>This slide presents whether the speed forecast is accurate enough to support routing — in brief, it is.</a:t>
            </a:r>
          </a:p>
        </p:txBody>
      </p:sp>
      <p:sp>
        <p:nvSpPr>
          <p:cNvPr id="5" name="TextBox 4"/>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6 / 13</a:t>
            </a:r>
          </a:p>
        </p:txBody>
      </p:sp>
      <p:sp>
        <p:nvSpPr>
          <p:cNvPr id="6" name="Rounded Rectangle 5"/>
          <p:cNvSpPr/>
          <p:nvPr/>
        </p:nvSpPr>
        <p:spPr>
          <a:xfrm>
            <a:off x="411480" y="960120"/>
            <a:ext cx="3657600" cy="160020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3474720" cy="594360"/>
          </a:xfrm>
          <a:prstGeom prst="rect">
            <a:avLst/>
          </a:prstGeom>
          <a:noFill/>
        </p:spPr>
        <p:txBody>
          <a:bodyPr wrap="square">
            <a:spAutoFit/>
          </a:bodyPr>
          <a:lstStyle/>
          <a:p>
            <a:pPr algn="ctr"/>
            <a:r>
              <a:rPr sz="2600" b="1">
                <a:solidFill>
                  <a:srgbClr val="E8A838"/>
                </a:solidFill>
                <a:latin typeface="Cambria"/>
              </a:rPr>
              <a:t>3.48 mph</a:t>
            </a:r>
          </a:p>
        </p:txBody>
      </p:sp>
      <p:sp>
        <p:nvSpPr>
          <p:cNvPr id="8" name="TextBox 7"/>
          <p:cNvSpPr txBox="1"/>
          <p:nvPr/>
        </p:nvSpPr>
        <p:spPr>
          <a:xfrm>
            <a:off x="502920" y="1737360"/>
            <a:ext cx="3474720" cy="640080"/>
          </a:xfrm>
          <a:prstGeom prst="rect">
            <a:avLst/>
          </a:prstGeom>
          <a:noFill/>
        </p:spPr>
        <p:txBody>
          <a:bodyPr wrap="square">
            <a:spAutoFit/>
          </a:bodyPr>
          <a:lstStyle/>
          <a:p>
            <a:pPr algn="ctr"/>
            <a:r>
              <a:rPr sz="1200" b="0">
                <a:solidFill>
                  <a:srgbClr val="FFFFFF"/>
                </a:solidFill>
                <a:latin typeface="Calibri"/>
              </a:rPr>
              <a:t>METR-LA test MAE
RMSE 6.04 mph · 27 epochs</a:t>
            </a:r>
          </a:p>
        </p:txBody>
      </p:sp>
      <p:sp>
        <p:nvSpPr>
          <p:cNvPr id="9" name="Rounded Rectangle 8"/>
          <p:cNvSpPr/>
          <p:nvPr/>
        </p:nvSpPr>
        <p:spPr>
          <a:xfrm>
            <a:off x="4251960" y="960120"/>
            <a:ext cx="3657600" cy="160020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097280"/>
            <a:ext cx="3474720" cy="594360"/>
          </a:xfrm>
          <a:prstGeom prst="rect">
            <a:avLst/>
          </a:prstGeom>
          <a:noFill/>
        </p:spPr>
        <p:txBody>
          <a:bodyPr wrap="square">
            <a:spAutoFit/>
          </a:bodyPr>
          <a:lstStyle/>
          <a:p>
            <a:pPr algn="ctr"/>
            <a:r>
              <a:rPr sz="2600" b="1">
                <a:solidFill>
                  <a:srgbClr val="E8A838"/>
                </a:solidFill>
                <a:latin typeface="Cambria"/>
              </a:rPr>
              <a:t>2.38 mph</a:t>
            </a:r>
          </a:p>
        </p:txBody>
      </p:sp>
      <p:sp>
        <p:nvSpPr>
          <p:cNvPr id="11" name="TextBox 10"/>
          <p:cNvSpPr txBox="1"/>
          <p:nvPr/>
        </p:nvSpPr>
        <p:spPr>
          <a:xfrm>
            <a:off x="4343400" y="1737360"/>
            <a:ext cx="3474720" cy="640080"/>
          </a:xfrm>
          <a:prstGeom prst="rect">
            <a:avLst/>
          </a:prstGeom>
          <a:noFill/>
        </p:spPr>
        <p:txBody>
          <a:bodyPr wrap="square">
            <a:spAutoFit/>
          </a:bodyPr>
          <a:lstStyle/>
          <a:p>
            <a:pPr algn="ctr"/>
            <a:r>
              <a:rPr sz="1200" b="0">
                <a:solidFill>
                  <a:srgbClr val="FFFFFF"/>
                </a:solidFill>
                <a:latin typeface="Calibri"/>
              </a:rPr>
              <a:t>PEMS-BAY test MAE
RMSE 4.49 mph · separate model · 79 epochs</a:t>
            </a:r>
          </a:p>
        </p:txBody>
      </p:sp>
      <p:sp>
        <p:nvSpPr>
          <p:cNvPr id="12" name="Rounded Rectangle 11"/>
          <p:cNvSpPr/>
          <p:nvPr/>
        </p:nvSpPr>
        <p:spPr>
          <a:xfrm>
            <a:off x="8092440" y="960120"/>
            <a:ext cx="3657600" cy="160020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1097280"/>
            <a:ext cx="3474720" cy="594360"/>
          </a:xfrm>
          <a:prstGeom prst="rect">
            <a:avLst/>
          </a:prstGeom>
          <a:noFill/>
        </p:spPr>
        <p:txBody>
          <a:bodyPr wrap="square">
            <a:spAutoFit/>
          </a:bodyPr>
          <a:lstStyle/>
          <a:p>
            <a:pPr algn="ctr"/>
            <a:r>
              <a:rPr sz="2600" b="1">
                <a:solidFill>
                  <a:srgbClr val="E8A838"/>
                </a:solidFill>
                <a:latin typeface="Cambria"/>
              </a:rPr>
              <a:t>60 → 30 min</a:t>
            </a:r>
          </a:p>
        </p:txBody>
      </p:sp>
      <p:sp>
        <p:nvSpPr>
          <p:cNvPr id="14" name="TextBox 13"/>
          <p:cNvSpPr txBox="1"/>
          <p:nvPr/>
        </p:nvSpPr>
        <p:spPr>
          <a:xfrm>
            <a:off x="8183880" y="1737360"/>
            <a:ext cx="3474720" cy="640080"/>
          </a:xfrm>
          <a:prstGeom prst="rect">
            <a:avLst/>
          </a:prstGeom>
          <a:noFill/>
        </p:spPr>
        <p:txBody>
          <a:bodyPr wrap="square">
            <a:spAutoFit/>
          </a:bodyPr>
          <a:lstStyle/>
          <a:p>
            <a:pPr algn="ctr"/>
            <a:r>
              <a:rPr sz="1200" b="0">
                <a:solidFill>
                  <a:srgbClr val="FFFFFF"/>
                </a:solidFill>
                <a:latin typeface="Calibri"/>
              </a:rPr>
              <a:t>Input 12 steps · output 6 steps
Forecast window</a:t>
            </a:r>
          </a:p>
        </p:txBody>
      </p:sp>
      <p:sp>
        <p:nvSpPr>
          <p:cNvPr id="15" name="Rounded Rectangle 14"/>
          <p:cNvSpPr/>
          <p:nvPr/>
        </p:nvSpPr>
        <p:spPr>
          <a:xfrm>
            <a:off x="411480" y="2743200"/>
            <a:ext cx="1133856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926080"/>
            <a:ext cx="10881360" cy="1828800"/>
          </a:xfrm>
          <a:prstGeom prst="rect">
            <a:avLst/>
          </a:prstGeom>
          <a:noFill/>
        </p:spPr>
        <p:txBody>
          <a:bodyPr wrap="square">
            <a:spAutoFit/>
          </a:bodyPr>
          <a:lstStyle/>
          <a:p>
            <a:pPr>
              <a:spcAft>
                <a:spcPts val="800"/>
              </a:spcAft>
            </a:pPr>
            <a:r>
              <a:rPr sz="1400">
                <a:solidFill>
                  <a:srgbClr val="FFFFFF"/>
                </a:solidFill>
                <a:latin typeface="Calibri"/>
              </a:rPr>
              <a:t>•  METR-LA (routing city): test MAE 3.48 mph, RMSE 6.04 mph — enough to rank a quiet link against a slowing one.</a:t>
            </a:r>
          </a:p>
          <a:p>
            <a:pPr>
              <a:spcAft>
                <a:spcPts val="800"/>
              </a:spcAft>
            </a:pPr>
            <a:r>
              <a:rPr sz="1400">
                <a:solidFill>
                  <a:srgbClr val="FFFFFF"/>
                </a:solidFill>
                <a:latin typeface="Calibri"/>
              </a:rPr>
              <a:t>•  PEMS-BAY (check only): test MAE 2.38 mph, separate model — smoother freeway speeds, not a failed Los Angeles model.</a:t>
            </a:r>
          </a:p>
          <a:p>
            <a:pPr>
              <a:spcAft>
                <a:spcPts val="800"/>
              </a:spcAft>
            </a:pPr>
            <a:r>
              <a:rPr sz="1400">
                <a:solidFill>
                  <a:srgbClr val="FFFFFF"/>
                </a:solidFill>
                <a:latin typeface="Calibri"/>
              </a:rPr>
              <a:t>•  A heavier model could lower MAE further; this GRU was kept so the full loop still responds in ≈40 ms.</a:t>
            </a:r>
          </a:p>
        </p:txBody>
      </p:sp>
      <p:sp>
        <p:nvSpPr>
          <p:cNvPr id="17" name="TextBox 16"/>
          <p:cNvSpPr txBox="1"/>
          <p:nvPr/>
        </p:nvSpPr>
        <p:spPr>
          <a:xfrm>
            <a:off x="457200" y="5074920"/>
            <a:ext cx="11247120" cy="320040"/>
          </a:xfrm>
          <a:prstGeom prst="rect">
            <a:avLst/>
          </a:prstGeom>
          <a:noFill/>
        </p:spPr>
        <p:txBody>
          <a:bodyPr wrap="square">
            <a:spAutoFit/>
          </a:bodyPr>
          <a:lstStyle/>
          <a:p>
            <a:pPr algn="l"/>
            <a:r>
              <a:rPr sz="1200" b="0">
                <a:solidFill>
                  <a:srgbClr val="CADCFC"/>
                </a:solidFill>
                <a:latin typeface="Calibri"/>
              </a:rPr>
              <a:t>The 60→30 box is model input/output (1 h observed → 30 min forecast), not journey-time saved.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Objective 3: Effect of threshold δ on travel time and replans</a:t>
            </a:r>
          </a:p>
        </p:txBody>
      </p:sp>
      <p:sp>
        <p:nvSpPr>
          <p:cNvPr id="4" name="TextBox 3"/>
          <p:cNvSpPr txBox="1"/>
          <p:nvPr/>
        </p:nvSpPr>
        <p:spPr>
          <a:xfrm>
            <a:off x="457200" y="566928"/>
            <a:ext cx="11247120" cy="320040"/>
          </a:xfrm>
          <a:prstGeom prst="rect">
            <a:avLst/>
          </a:prstGeom>
          <a:noFill/>
        </p:spPr>
        <p:txBody>
          <a:bodyPr wrap="square">
            <a:spAutoFit/>
          </a:bodyPr>
          <a:lstStyle/>
          <a:p>
            <a:pPr algn="l"/>
            <a:r>
              <a:rPr sz="1300" b="0">
                <a:solidFill>
                  <a:srgbClr val="CADCFC"/>
                </a:solidFill>
                <a:latin typeface="Calibri"/>
              </a:rPr>
              <a:t>This slide presents which remaining-time threshold δ to use: 5%, 10%, 15%, or 20%.</a:t>
            </a:r>
          </a:p>
        </p:txBody>
      </p:sp>
      <p:sp>
        <p:nvSpPr>
          <p:cNvPr id="5" name="TextBox 4"/>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7 / 13</a:t>
            </a:r>
          </a:p>
        </p:txBody>
      </p:sp>
      <p:sp>
        <p:nvSpPr>
          <p:cNvPr id="6" name="TextBox 5"/>
          <p:cNvSpPr txBox="1"/>
          <p:nvPr/>
        </p:nvSpPr>
        <p:spPr>
          <a:xfrm>
            <a:off x="457200" y="914400"/>
            <a:ext cx="11247120" cy="411480"/>
          </a:xfrm>
          <a:prstGeom prst="rect">
            <a:avLst/>
          </a:prstGeom>
          <a:noFill/>
        </p:spPr>
        <p:txBody>
          <a:bodyPr wrap="square">
            <a:spAutoFit/>
          </a:bodyPr>
          <a:lstStyle/>
          <a:p>
            <a:pPr algn="l"/>
            <a:r>
              <a:rPr sz="1200" b="0">
                <a:solidFill>
                  <a:srgbClr val="CADCFC"/>
                </a:solidFill>
                <a:latin typeface="Calibri"/>
              </a:rPr>
              <a:t>N = 225 per δ = 75 origin–destination pairs × 3 traffic scenarios (peak, off-peak, incident). Scenarios are pooled here to test δ itself.</a:t>
            </a:r>
          </a:p>
        </p:txBody>
      </p:sp>
      <p:pic>
        <p:nvPicPr>
          <p:cNvPr id="7" name="Picture 6" descr="fig3_delta_sensitivity.png"/>
          <p:cNvPicPr>
            <a:picLocks noChangeAspect="1"/>
          </p:cNvPicPr>
          <p:nvPr/>
        </p:nvPicPr>
        <p:blipFill>
          <a:blip r:embed="rId2"/>
          <a:stretch>
            <a:fillRect/>
          </a:stretch>
        </p:blipFill>
        <p:spPr>
          <a:xfrm>
            <a:off x="228600" y="1325880"/>
            <a:ext cx="6858000" cy="2860722"/>
          </a:xfrm>
          <a:prstGeom prst="rect">
            <a:avLst/>
          </a:prstGeom>
        </p:spPr>
      </p:pic>
      <p:sp>
        <p:nvSpPr>
          <p:cNvPr id="8" name="Rounded Rectangle 7"/>
          <p:cNvSpPr/>
          <p:nvPr/>
        </p:nvSpPr>
        <p:spPr>
          <a:xfrm>
            <a:off x="7315200" y="1325880"/>
            <a:ext cx="443484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52360" y="1417320"/>
            <a:ext cx="4160520" cy="256032"/>
          </a:xfrm>
          <a:prstGeom prst="rect">
            <a:avLst/>
          </a:prstGeom>
          <a:noFill/>
        </p:spPr>
        <p:txBody>
          <a:bodyPr wrap="square">
            <a:spAutoFit/>
          </a:bodyPr>
          <a:lstStyle/>
          <a:p>
            <a:pPr algn="l"/>
            <a:r>
              <a:rPr sz="1300" b="1">
                <a:solidFill>
                  <a:srgbClr val="E8A838"/>
                </a:solidFill>
                <a:latin typeface="Calibri"/>
              </a:rPr>
              <a:t>Table 3. Threshold sensitivity</a:t>
            </a:r>
          </a:p>
        </p:txBody>
      </p:sp>
      <p:sp>
        <p:nvSpPr>
          <p:cNvPr id="10" name="TextBox 9"/>
          <p:cNvSpPr txBox="1"/>
          <p:nvPr/>
        </p:nvSpPr>
        <p:spPr>
          <a:xfrm>
            <a:off x="7498079" y="1783080"/>
            <a:ext cx="640080" cy="256032"/>
          </a:xfrm>
          <a:prstGeom prst="rect">
            <a:avLst/>
          </a:prstGeom>
          <a:noFill/>
        </p:spPr>
        <p:txBody>
          <a:bodyPr wrap="square">
            <a:spAutoFit/>
          </a:bodyPr>
          <a:lstStyle/>
          <a:p>
            <a:pPr algn="l"/>
            <a:r>
              <a:rPr sz="1200" b="1">
                <a:solidFill>
                  <a:srgbClr val="E8A838"/>
                </a:solidFill>
                <a:latin typeface="Calibri"/>
              </a:rPr>
              <a:t>δ</a:t>
            </a:r>
          </a:p>
        </p:txBody>
      </p:sp>
      <p:sp>
        <p:nvSpPr>
          <p:cNvPr id="11" name="TextBox 10"/>
          <p:cNvSpPr txBox="1"/>
          <p:nvPr/>
        </p:nvSpPr>
        <p:spPr>
          <a:xfrm>
            <a:off x="8229600" y="1783080"/>
            <a:ext cx="1371600" cy="256032"/>
          </a:xfrm>
          <a:prstGeom prst="rect">
            <a:avLst/>
          </a:prstGeom>
          <a:noFill/>
        </p:spPr>
        <p:txBody>
          <a:bodyPr wrap="square">
            <a:spAutoFit/>
          </a:bodyPr>
          <a:lstStyle/>
          <a:p>
            <a:pPr algn="l"/>
            <a:r>
              <a:rPr sz="1200" b="0">
                <a:solidFill>
                  <a:srgbClr val="FFFFFF"/>
                </a:solidFill>
                <a:latin typeface="Calibri"/>
              </a:rPr>
              <a:t>vs Dijkstra</a:t>
            </a:r>
          </a:p>
        </p:txBody>
      </p:sp>
      <p:sp>
        <p:nvSpPr>
          <p:cNvPr id="12" name="TextBox 11"/>
          <p:cNvSpPr txBox="1"/>
          <p:nvPr/>
        </p:nvSpPr>
        <p:spPr>
          <a:xfrm>
            <a:off x="9646920" y="1783080"/>
            <a:ext cx="1005840" cy="256032"/>
          </a:xfrm>
          <a:prstGeom prst="rect">
            <a:avLst/>
          </a:prstGeom>
          <a:noFill/>
        </p:spPr>
        <p:txBody>
          <a:bodyPr wrap="square">
            <a:spAutoFit/>
          </a:bodyPr>
          <a:lstStyle/>
          <a:p>
            <a:pPr algn="l"/>
            <a:r>
              <a:rPr sz="1200" b="0">
                <a:solidFill>
                  <a:srgbClr val="FFFFFF"/>
                </a:solidFill>
                <a:latin typeface="Calibri"/>
              </a:rPr>
              <a:t>Replans</a:t>
            </a:r>
          </a:p>
        </p:txBody>
      </p:sp>
      <p:sp>
        <p:nvSpPr>
          <p:cNvPr id="13" name="TextBox 12"/>
          <p:cNvSpPr txBox="1"/>
          <p:nvPr/>
        </p:nvSpPr>
        <p:spPr>
          <a:xfrm>
            <a:off x="7498079" y="2075688"/>
            <a:ext cx="640080" cy="256032"/>
          </a:xfrm>
          <a:prstGeom prst="rect">
            <a:avLst/>
          </a:prstGeom>
          <a:noFill/>
        </p:spPr>
        <p:txBody>
          <a:bodyPr wrap="square">
            <a:spAutoFit/>
          </a:bodyPr>
          <a:lstStyle/>
          <a:p>
            <a:pPr algn="l"/>
            <a:r>
              <a:rPr sz="1200" b="0">
                <a:solidFill>
                  <a:srgbClr val="FFFFFF"/>
                </a:solidFill>
                <a:latin typeface="Calibri"/>
              </a:rPr>
              <a:t>0.05</a:t>
            </a:r>
          </a:p>
        </p:txBody>
      </p:sp>
      <p:sp>
        <p:nvSpPr>
          <p:cNvPr id="14" name="TextBox 13"/>
          <p:cNvSpPr txBox="1"/>
          <p:nvPr/>
        </p:nvSpPr>
        <p:spPr>
          <a:xfrm>
            <a:off x="8229600" y="2075688"/>
            <a:ext cx="1371600" cy="256032"/>
          </a:xfrm>
          <a:prstGeom prst="rect">
            <a:avLst/>
          </a:prstGeom>
          <a:noFill/>
        </p:spPr>
        <p:txBody>
          <a:bodyPr wrap="square">
            <a:spAutoFit/>
          </a:bodyPr>
          <a:lstStyle/>
          <a:p>
            <a:pPr algn="l"/>
            <a:r>
              <a:rPr sz="1200" b="0">
                <a:solidFill>
                  <a:srgbClr val="FFFFFF"/>
                </a:solidFill>
                <a:latin typeface="Calibri"/>
              </a:rPr>
              <a:t>+5.726%</a:t>
            </a:r>
          </a:p>
        </p:txBody>
      </p:sp>
      <p:sp>
        <p:nvSpPr>
          <p:cNvPr id="15" name="TextBox 14"/>
          <p:cNvSpPr txBox="1"/>
          <p:nvPr/>
        </p:nvSpPr>
        <p:spPr>
          <a:xfrm>
            <a:off x="9646920" y="2075688"/>
            <a:ext cx="1005840" cy="256032"/>
          </a:xfrm>
          <a:prstGeom prst="rect">
            <a:avLst/>
          </a:prstGeom>
          <a:noFill/>
        </p:spPr>
        <p:txBody>
          <a:bodyPr wrap="square">
            <a:spAutoFit/>
          </a:bodyPr>
          <a:lstStyle/>
          <a:p>
            <a:pPr algn="l"/>
            <a:r>
              <a:rPr sz="1200" b="0">
                <a:solidFill>
                  <a:srgbClr val="FFFFFF"/>
                </a:solidFill>
                <a:latin typeface="Calibri"/>
              </a:rPr>
              <a:t>0.45</a:t>
            </a:r>
          </a:p>
        </p:txBody>
      </p:sp>
      <p:sp>
        <p:nvSpPr>
          <p:cNvPr id="16" name="TextBox 15"/>
          <p:cNvSpPr txBox="1"/>
          <p:nvPr/>
        </p:nvSpPr>
        <p:spPr>
          <a:xfrm>
            <a:off x="7498079" y="2368296"/>
            <a:ext cx="640080" cy="256032"/>
          </a:xfrm>
          <a:prstGeom prst="rect">
            <a:avLst/>
          </a:prstGeom>
          <a:noFill/>
        </p:spPr>
        <p:txBody>
          <a:bodyPr wrap="square">
            <a:spAutoFit/>
          </a:bodyPr>
          <a:lstStyle/>
          <a:p>
            <a:pPr algn="l"/>
            <a:r>
              <a:rPr sz="1200" b="0">
                <a:solidFill>
                  <a:srgbClr val="FFFFFF"/>
                </a:solidFill>
                <a:latin typeface="Calibri"/>
              </a:rPr>
              <a:t>0.10</a:t>
            </a:r>
          </a:p>
        </p:txBody>
      </p:sp>
      <p:sp>
        <p:nvSpPr>
          <p:cNvPr id="17" name="TextBox 16"/>
          <p:cNvSpPr txBox="1"/>
          <p:nvPr/>
        </p:nvSpPr>
        <p:spPr>
          <a:xfrm>
            <a:off x="8229600" y="2368296"/>
            <a:ext cx="1371600" cy="256032"/>
          </a:xfrm>
          <a:prstGeom prst="rect">
            <a:avLst/>
          </a:prstGeom>
          <a:noFill/>
        </p:spPr>
        <p:txBody>
          <a:bodyPr wrap="square">
            <a:spAutoFit/>
          </a:bodyPr>
          <a:lstStyle/>
          <a:p>
            <a:pPr algn="l"/>
            <a:r>
              <a:rPr sz="1200" b="0">
                <a:solidFill>
                  <a:srgbClr val="FFFFFF"/>
                </a:solidFill>
                <a:latin typeface="Calibri"/>
              </a:rPr>
              <a:t>+5.748%</a:t>
            </a:r>
          </a:p>
        </p:txBody>
      </p:sp>
      <p:sp>
        <p:nvSpPr>
          <p:cNvPr id="18" name="TextBox 17"/>
          <p:cNvSpPr txBox="1"/>
          <p:nvPr/>
        </p:nvSpPr>
        <p:spPr>
          <a:xfrm>
            <a:off x="9646920" y="2368296"/>
            <a:ext cx="1005840" cy="256032"/>
          </a:xfrm>
          <a:prstGeom prst="rect">
            <a:avLst/>
          </a:prstGeom>
          <a:noFill/>
        </p:spPr>
        <p:txBody>
          <a:bodyPr wrap="square">
            <a:spAutoFit/>
          </a:bodyPr>
          <a:lstStyle/>
          <a:p>
            <a:pPr algn="l"/>
            <a:r>
              <a:rPr sz="1200" b="0">
                <a:solidFill>
                  <a:srgbClr val="FFFFFF"/>
                </a:solidFill>
                <a:latin typeface="Calibri"/>
              </a:rPr>
              <a:t>0.44</a:t>
            </a:r>
          </a:p>
        </p:txBody>
      </p:sp>
      <p:sp>
        <p:nvSpPr>
          <p:cNvPr id="19" name="TextBox 18"/>
          <p:cNvSpPr txBox="1"/>
          <p:nvPr/>
        </p:nvSpPr>
        <p:spPr>
          <a:xfrm>
            <a:off x="7498079" y="2660904"/>
            <a:ext cx="640080" cy="256032"/>
          </a:xfrm>
          <a:prstGeom prst="rect">
            <a:avLst/>
          </a:prstGeom>
          <a:noFill/>
        </p:spPr>
        <p:txBody>
          <a:bodyPr wrap="square">
            <a:spAutoFit/>
          </a:bodyPr>
          <a:lstStyle/>
          <a:p>
            <a:pPr algn="l"/>
            <a:r>
              <a:rPr sz="1200" b="0">
                <a:solidFill>
                  <a:srgbClr val="FFFFFF"/>
                </a:solidFill>
                <a:latin typeface="Calibri"/>
              </a:rPr>
              <a:t>0.15</a:t>
            </a:r>
          </a:p>
        </p:txBody>
      </p:sp>
      <p:sp>
        <p:nvSpPr>
          <p:cNvPr id="20" name="TextBox 19"/>
          <p:cNvSpPr txBox="1"/>
          <p:nvPr/>
        </p:nvSpPr>
        <p:spPr>
          <a:xfrm>
            <a:off x="8229600" y="2660904"/>
            <a:ext cx="1371600" cy="256032"/>
          </a:xfrm>
          <a:prstGeom prst="rect">
            <a:avLst/>
          </a:prstGeom>
          <a:noFill/>
        </p:spPr>
        <p:txBody>
          <a:bodyPr wrap="square">
            <a:spAutoFit/>
          </a:bodyPr>
          <a:lstStyle/>
          <a:p>
            <a:pPr algn="l"/>
            <a:r>
              <a:rPr sz="1200" b="0">
                <a:solidFill>
                  <a:srgbClr val="FFFFFF"/>
                </a:solidFill>
                <a:latin typeface="Calibri"/>
              </a:rPr>
              <a:t>+5.726%</a:t>
            </a:r>
          </a:p>
        </p:txBody>
      </p:sp>
      <p:sp>
        <p:nvSpPr>
          <p:cNvPr id="21" name="TextBox 20"/>
          <p:cNvSpPr txBox="1"/>
          <p:nvPr/>
        </p:nvSpPr>
        <p:spPr>
          <a:xfrm>
            <a:off x="9646920" y="2660904"/>
            <a:ext cx="1005840" cy="256032"/>
          </a:xfrm>
          <a:prstGeom prst="rect">
            <a:avLst/>
          </a:prstGeom>
          <a:noFill/>
        </p:spPr>
        <p:txBody>
          <a:bodyPr wrap="square">
            <a:spAutoFit/>
          </a:bodyPr>
          <a:lstStyle/>
          <a:p>
            <a:pPr algn="l"/>
            <a:r>
              <a:rPr sz="1200" b="0">
                <a:solidFill>
                  <a:srgbClr val="FFFFFF"/>
                </a:solidFill>
                <a:latin typeface="Calibri"/>
              </a:rPr>
              <a:t>0.43</a:t>
            </a:r>
          </a:p>
        </p:txBody>
      </p:sp>
      <p:sp>
        <p:nvSpPr>
          <p:cNvPr id="22" name="TextBox 21"/>
          <p:cNvSpPr txBox="1"/>
          <p:nvPr/>
        </p:nvSpPr>
        <p:spPr>
          <a:xfrm>
            <a:off x="7498079" y="2953512"/>
            <a:ext cx="640080" cy="256032"/>
          </a:xfrm>
          <a:prstGeom prst="rect">
            <a:avLst/>
          </a:prstGeom>
          <a:noFill/>
        </p:spPr>
        <p:txBody>
          <a:bodyPr wrap="square">
            <a:spAutoFit/>
          </a:bodyPr>
          <a:lstStyle/>
          <a:p>
            <a:pPr algn="l"/>
            <a:r>
              <a:rPr sz="1200" b="1">
                <a:solidFill>
                  <a:srgbClr val="E8A838"/>
                </a:solidFill>
                <a:latin typeface="Calibri"/>
              </a:rPr>
              <a:t>0.20</a:t>
            </a:r>
          </a:p>
        </p:txBody>
      </p:sp>
      <p:sp>
        <p:nvSpPr>
          <p:cNvPr id="23" name="TextBox 22"/>
          <p:cNvSpPr txBox="1"/>
          <p:nvPr/>
        </p:nvSpPr>
        <p:spPr>
          <a:xfrm>
            <a:off x="8229600" y="2953512"/>
            <a:ext cx="1371600" cy="256032"/>
          </a:xfrm>
          <a:prstGeom prst="rect">
            <a:avLst/>
          </a:prstGeom>
          <a:noFill/>
        </p:spPr>
        <p:txBody>
          <a:bodyPr wrap="square">
            <a:spAutoFit/>
          </a:bodyPr>
          <a:lstStyle/>
          <a:p>
            <a:pPr algn="l"/>
            <a:r>
              <a:rPr sz="1200" b="1">
                <a:solidFill>
                  <a:srgbClr val="E8A838"/>
                </a:solidFill>
                <a:latin typeface="Calibri"/>
              </a:rPr>
              <a:t>+5.767%</a:t>
            </a:r>
          </a:p>
        </p:txBody>
      </p:sp>
      <p:sp>
        <p:nvSpPr>
          <p:cNvPr id="24" name="TextBox 23"/>
          <p:cNvSpPr txBox="1"/>
          <p:nvPr/>
        </p:nvSpPr>
        <p:spPr>
          <a:xfrm>
            <a:off x="9646920" y="2953512"/>
            <a:ext cx="1005840" cy="256032"/>
          </a:xfrm>
          <a:prstGeom prst="rect">
            <a:avLst/>
          </a:prstGeom>
          <a:noFill/>
        </p:spPr>
        <p:txBody>
          <a:bodyPr wrap="square">
            <a:spAutoFit/>
          </a:bodyPr>
          <a:lstStyle/>
          <a:p>
            <a:pPr algn="l"/>
            <a:r>
              <a:rPr sz="1200" b="1">
                <a:solidFill>
                  <a:srgbClr val="E8A838"/>
                </a:solidFill>
                <a:latin typeface="Calibri"/>
              </a:rPr>
              <a:t>0.39</a:t>
            </a:r>
          </a:p>
        </p:txBody>
      </p:sp>
      <p:sp>
        <p:nvSpPr>
          <p:cNvPr id="25" name="TextBox 24"/>
          <p:cNvSpPr txBox="1"/>
          <p:nvPr/>
        </p:nvSpPr>
        <p:spPr>
          <a:xfrm>
            <a:off x="7452360" y="3063240"/>
            <a:ext cx="4160520" cy="228600"/>
          </a:xfrm>
          <a:prstGeom prst="rect">
            <a:avLst/>
          </a:prstGeom>
          <a:noFill/>
        </p:spPr>
        <p:txBody>
          <a:bodyPr wrap="square">
            <a:spAutoFit/>
          </a:bodyPr>
          <a:lstStyle/>
          <a:p>
            <a:pPr algn="l"/>
            <a:r>
              <a:rPr sz="1200" b="1">
                <a:solidFill>
                  <a:srgbClr val="E8A838"/>
                </a:solidFill>
                <a:latin typeface="Calibri"/>
              </a:rPr>
              <a:t>Operational default: δ = 0.20</a:t>
            </a:r>
          </a:p>
        </p:txBody>
      </p:sp>
      <p:sp>
        <p:nvSpPr>
          <p:cNvPr id="26" name="TextBox 25"/>
          <p:cNvSpPr txBox="1"/>
          <p:nvPr/>
        </p:nvSpPr>
        <p:spPr>
          <a:xfrm>
            <a:off x="457200" y="5074920"/>
            <a:ext cx="11247120" cy="1234440"/>
          </a:xfrm>
          <a:prstGeom prst="rect">
            <a:avLst/>
          </a:prstGeom>
          <a:noFill/>
        </p:spPr>
        <p:txBody>
          <a:bodyPr wrap="square">
            <a:spAutoFit/>
          </a:bodyPr>
          <a:lstStyle/>
          <a:p>
            <a:pPr>
              <a:lnSpc>
                <a:spcPct val="115000"/>
              </a:lnSpc>
              <a:spcAft>
                <a:spcPts val="400"/>
              </a:spcAft>
            </a:pPr>
            <a:r>
              <a:rPr sz="1100" b="0">
                <a:solidFill>
                  <a:srgbClr val="CADCFC"/>
                </a:solidFill>
                <a:latin typeface="Calibri"/>
              </a:rPr>
              <a:t>Figure 3. Travel-time reduction relative to current-map Dijkstra (left) and mean replans per journey (right) by δ. N = 225 per δ. ANOVA: F ≈ 0.001, p = 1.00. Recommended operational default: δ = 0.20.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Objective 4: Mean journey time by traffic scenario</a:t>
            </a:r>
          </a:p>
        </p:txBody>
      </p:sp>
      <p:sp>
        <p:nvSpPr>
          <p:cNvPr id="4" name="TextBox 3"/>
          <p:cNvSpPr txBox="1"/>
          <p:nvPr/>
        </p:nvSpPr>
        <p:spPr>
          <a:xfrm>
            <a:off x="457200" y="566928"/>
            <a:ext cx="11247120" cy="320040"/>
          </a:xfrm>
          <a:prstGeom prst="rect">
            <a:avLst/>
          </a:prstGeom>
          <a:noFill/>
        </p:spPr>
        <p:txBody>
          <a:bodyPr wrap="square">
            <a:spAutoFit/>
          </a:bodyPr>
          <a:lstStyle/>
          <a:p>
            <a:pPr algn="l"/>
            <a:r>
              <a:rPr sz="1300" b="0">
                <a:solidFill>
                  <a:srgbClr val="CADCFC"/>
                </a:solidFill>
                <a:latin typeface="Calibri"/>
              </a:rPr>
              <a:t>This slide presents mean realised journey time in seconds for each method and traffic scenario.</a:t>
            </a:r>
          </a:p>
        </p:txBody>
      </p:sp>
      <p:sp>
        <p:nvSpPr>
          <p:cNvPr id="5" name="TextBox 4"/>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8 / 13</a:t>
            </a:r>
          </a:p>
        </p:txBody>
      </p:sp>
      <p:pic>
        <p:nvPicPr>
          <p:cNvPr id="6" name="Picture 5" descr="fig1_travel_time_comparison.png"/>
          <p:cNvPicPr>
            <a:picLocks noChangeAspect="1"/>
          </p:cNvPicPr>
          <p:nvPr/>
        </p:nvPicPr>
        <p:blipFill>
          <a:blip r:embed="rId2"/>
          <a:stretch>
            <a:fillRect/>
          </a:stretch>
        </p:blipFill>
        <p:spPr>
          <a:xfrm>
            <a:off x="182880" y="960120"/>
            <a:ext cx="7315200" cy="4018131"/>
          </a:xfrm>
          <a:prstGeom prst="rect">
            <a:avLst/>
          </a:prstGeom>
        </p:spPr>
      </p:pic>
      <p:sp>
        <p:nvSpPr>
          <p:cNvPr id="7" name="Rounded Rectangle 6"/>
          <p:cNvSpPr/>
          <p:nvPr/>
        </p:nvSpPr>
        <p:spPr>
          <a:xfrm>
            <a:off x="7680960" y="960120"/>
            <a:ext cx="4160520" cy="48920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1078992"/>
            <a:ext cx="3794760" cy="274320"/>
          </a:xfrm>
          <a:prstGeom prst="rect">
            <a:avLst/>
          </a:prstGeom>
          <a:noFill/>
        </p:spPr>
        <p:txBody>
          <a:bodyPr wrap="square">
            <a:spAutoFit/>
          </a:bodyPr>
          <a:lstStyle/>
          <a:p>
            <a:pPr algn="l"/>
            <a:r>
              <a:rPr sz="1400" b="1">
                <a:solidFill>
                  <a:srgbClr val="E8A838"/>
                </a:solidFill>
                <a:latin typeface="Calibri"/>
              </a:rPr>
              <a:t>Summary of main results</a:t>
            </a:r>
          </a:p>
        </p:txBody>
      </p:sp>
      <p:sp>
        <p:nvSpPr>
          <p:cNvPr id="9" name="TextBox 8"/>
          <p:cNvSpPr txBox="1"/>
          <p:nvPr/>
        </p:nvSpPr>
        <p:spPr>
          <a:xfrm>
            <a:off x="7863840" y="1417320"/>
            <a:ext cx="3794760" cy="4206240"/>
          </a:xfrm>
          <a:prstGeom prst="rect">
            <a:avLst/>
          </a:prstGeom>
          <a:noFill/>
        </p:spPr>
        <p:txBody>
          <a:bodyPr wrap="square">
            <a:spAutoFit/>
          </a:bodyPr>
          <a:lstStyle/>
          <a:p>
            <a:pPr>
              <a:lnSpc>
                <a:spcPct val="115000"/>
              </a:lnSpc>
              <a:spcAft>
                <a:spcPts val="400"/>
              </a:spcAft>
            </a:pPr>
            <a:r>
              <a:rPr sz="1200" b="0">
                <a:solidFill>
                  <a:srgbClr val="FFFFFF"/>
                </a:solidFill>
                <a:latin typeface="Calibri"/>
              </a:rPr>
              <a:t>INCIDENT — principal case</a:t>
            </a:r>
          </a:p>
          <a:p>
            <a:pPr>
              <a:lnSpc>
                <a:spcPct val="115000"/>
              </a:lnSpc>
              <a:spcAft>
                <a:spcPts val="400"/>
              </a:spcAft>
            </a:pPr>
            <a:r>
              <a:rPr sz="1200" b="0">
                <a:solidFill>
                  <a:srgbClr val="FFFFFF"/>
                </a:solidFill>
                <a:latin typeface="Calibri"/>
              </a:rPr>
              <a:t>Dijkstra B1     727.5 s</a:t>
            </a:r>
          </a:p>
          <a:p>
            <a:pPr>
              <a:lnSpc>
                <a:spcPct val="115000"/>
              </a:lnSpc>
              <a:spcAft>
                <a:spcPts val="400"/>
              </a:spcAft>
            </a:pPr>
            <a:r>
              <a:rPr sz="1200" b="0">
                <a:solidFill>
                  <a:srgbClr val="FFFFFF"/>
                </a:solidFill>
                <a:latin typeface="Calibri"/>
              </a:rPr>
              <a:t>Static A* B2    723.2 s</a:t>
            </a:r>
          </a:p>
          <a:p>
            <a:pPr>
              <a:lnSpc>
                <a:spcPct val="115000"/>
              </a:lnSpc>
              <a:spcAft>
                <a:spcPts val="400"/>
              </a:spcAft>
            </a:pPr>
            <a:r>
              <a:rPr sz="1200" b="0">
                <a:solidFill>
                  <a:srgbClr val="FFFFFF"/>
                </a:solidFill>
                <a:latin typeface="Calibri"/>
              </a:rPr>
              <a:t>Reactive A* B3  603.7 s</a:t>
            </a:r>
          </a:p>
          <a:p>
            <a:pPr>
              <a:lnSpc>
                <a:spcPct val="115000"/>
              </a:lnSpc>
              <a:spcAft>
                <a:spcPts val="400"/>
              </a:spcAft>
            </a:pPr>
            <a:r>
              <a:rPr sz="1200" b="0">
                <a:solidFill>
                  <a:srgbClr val="FFFFFF"/>
                </a:solidFill>
                <a:latin typeface="Calibri"/>
              </a:rPr>
              <a:t>Framework       598.9 s</a:t>
            </a:r>
          </a:p>
          <a:p>
            <a:pPr>
              <a:lnSpc>
                <a:spcPct val="115000"/>
              </a:lnSpc>
              <a:spcAft>
                <a:spcPts val="400"/>
              </a:spcAft>
            </a:pPr>
            <a:r>
              <a:rPr sz="1200" b="0">
                <a:solidFill>
                  <a:srgbClr val="FFFFFF"/>
                </a:solidFill>
                <a:latin typeface="Calibri"/>
              </a:rPr>
              <a:t>Oracle B4       580.5 s</a:t>
            </a:r>
          </a:p>
          <a:p>
            <a:pPr>
              <a:lnSpc>
                <a:spcPct val="115000"/>
              </a:lnSpc>
              <a:spcAft>
                <a:spcPts val="400"/>
              </a:spcAft>
            </a:pPr>
            <a:r>
              <a:rPr sz="1200" b="0">
                <a:solidFill>
                  <a:srgbClr val="FFFFFF"/>
                </a:solidFill>
                <a:latin typeface="Calibri"/>
              </a:rPr>
              <a:t/>
            </a:r>
          </a:p>
          <a:p>
            <a:pPr>
              <a:lnSpc>
                <a:spcPct val="115000"/>
              </a:lnSpc>
              <a:spcAft>
                <a:spcPts val="400"/>
              </a:spcAft>
            </a:pPr>
            <a:r>
              <a:rPr sz="1200" b="0">
                <a:solidFill>
                  <a:srgbClr val="FFFFFF"/>
                </a:solidFill>
                <a:latin typeface="Calibri"/>
              </a:rPr>
              <a:t>PEAK HOUR</a:t>
            </a:r>
          </a:p>
          <a:p>
            <a:pPr>
              <a:lnSpc>
                <a:spcPct val="115000"/>
              </a:lnSpc>
              <a:spcAft>
                <a:spcPts val="400"/>
              </a:spcAft>
            </a:pPr>
            <a:r>
              <a:rPr sz="1200" b="0">
                <a:solidFill>
                  <a:srgbClr val="FFFFFF"/>
                </a:solidFill>
                <a:latin typeface="Calibri"/>
              </a:rPr>
              <a:t>Framework 506.3 s · Dijkstra 513.1 s</a:t>
            </a:r>
          </a:p>
          <a:p>
            <a:pPr>
              <a:lnSpc>
                <a:spcPct val="115000"/>
              </a:lnSpc>
              <a:spcAft>
                <a:spcPts val="400"/>
              </a:spcAft>
            </a:pPr>
            <a:r>
              <a:rPr sz="1200" b="0">
                <a:solidFill>
                  <a:srgbClr val="FFFFFF"/>
                </a:solidFill>
                <a:latin typeface="Calibri"/>
              </a:rPr>
              <a:t/>
            </a:r>
          </a:p>
          <a:p>
            <a:pPr>
              <a:lnSpc>
                <a:spcPct val="115000"/>
              </a:lnSpc>
              <a:spcAft>
                <a:spcPts val="400"/>
              </a:spcAft>
            </a:pPr>
            <a:r>
              <a:rPr sz="1200" b="0">
                <a:solidFill>
                  <a:srgbClr val="FFFFFF"/>
                </a:solidFill>
                <a:latin typeface="Calibri"/>
              </a:rPr>
              <a:t>OFF-PEAK (control)</a:t>
            </a:r>
          </a:p>
          <a:p>
            <a:pPr>
              <a:lnSpc>
                <a:spcPct val="115000"/>
              </a:lnSpc>
              <a:spcAft>
                <a:spcPts val="400"/>
              </a:spcAft>
            </a:pPr>
            <a:r>
              <a:rPr sz="1200" b="0">
                <a:solidFill>
                  <a:srgbClr val="FFFFFF"/>
                </a:solidFill>
                <a:latin typeface="Calibri"/>
              </a:rPr>
              <a:t>All methods ≈ 403 s</a:t>
            </a:r>
          </a:p>
          <a:p>
            <a:pPr>
              <a:lnSpc>
                <a:spcPct val="115000"/>
              </a:lnSpc>
              <a:spcAft>
                <a:spcPts val="400"/>
              </a:spcAft>
            </a:pPr>
            <a:r>
              <a:rPr sz="1200" b="0">
                <a:solidFill>
                  <a:srgbClr val="FFFFFF"/>
                </a:solidFill>
                <a:latin typeface="Calibri"/>
              </a:rPr>
              <a:t/>
            </a:r>
          </a:p>
          <a:p>
            <a:pPr>
              <a:lnSpc>
                <a:spcPct val="115000"/>
              </a:lnSpc>
              <a:spcAft>
                <a:spcPts val="400"/>
              </a:spcAft>
            </a:pPr>
            <a:r>
              <a:rPr sz="1200" b="0">
                <a:solidFill>
                  <a:srgbClr val="FFFFFF"/>
                </a:solidFill>
                <a:latin typeface="Calibri"/>
              </a:rPr>
              <a:t>Framework stays below the oracle (−1.69% overall). Valid upper bound.</a:t>
            </a:r>
          </a:p>
        </p:txBody>
      </p:sp>
      <p:sp>
        <p:nvSpPr>
          <p:cNvPr id="10" name="TextBox 9"/>
          <p:cNvSpPr txBox="1"/>
          <p:nvPr/>
        </p:nvSpPr>
        <p:spPr>
          <a:xfrm>
            <a:off x="457200" y="5806440"/>
            <a:ext cx="11247120" cy="502920"/>
          </a:xfrm>
          <a:prstGeom prst="rect">
            <a:avLst/>
          </a:prstGeom>
          <a:noFill/>
        </p:spPr>
        <p:txBody>
          <a:bodyPr wrap="square">
            <a:spAutoFit/>
          </a:bodyPr>
          <a:lstStyle/>
          <a:p>
            <a:pPr>
              <a:lnSpc>
                <a:spcPct val="115000"/>
              </a:lnSpc>
              <a:spcAft>
                <a:spcPts val="400"/>
              </a:spcAft>
            </a:pPr>
            <a:r>
              <a:rPr sz="1100" b="0">
                <a:solidFill>
                  <a:srgbClr val="CADCFC"/>
                </a:solidFill>
                <a:latin typeface="Calibri"/>
              </a:rPr>
              <a:t>Figure 4. Mean realised travel time (seconds) on actual future speeds. N = 300 per traffic scenario (75 pairs × 4 δ values).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Objective 4: Percentage reduction versus baseline B1</a:t>
            </a:r>
          </a:p>
        </p:txBody>
      </p:sp>
      <p:sp>
        <p:nvSpPr>
          <p:cNvPr id="4" name="TextBox 3"/>
          <p:cNvSpPr txBox="1"/>
          <p:nvPr/>
        </p:nvSpPr>
        <p:spPr>
          <a:xfrm>
            <a:off x="457200" y="566928"/>
            <a:ext cx="11247120" cy="320040"/>
          </a:xfrm>
          <a:prstGeom prst="rect">
            <a:avLst/>
          </a:prstGeom>
          <a:noFill/>
        </p:spPr>
        <p:txBody>
          <a:bodyPr wrap="square">
            <a:spAutoFit/>
          </a:bodyPr>
          <a:lstStyle/>
          <a:p>
            <a:pPr algn="l"/>
            <a:r>
              <a:rPr sz="1300" b="0">
                <a:solidFill>
                  <a:srgbClr val="CADCFC"/>
                </a:solidFill>
                <a:latin typeface="Calibri"/>
              </a:rPr>
              <a:t>This slide presents the same journeys as percentages relative to current-map Dijkstra (B1).</a:t>
            </a:r>
          </a:p>
        </p:txBody>
      </p:sp>
      <p:sp>
        <p:nvSpPr>
          <p:cNvPr id="5" name="TextBox 4"/>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9 / 13</a:t>
            </a:r>
          </a:p>
        </p:txBody>
      </p:sp>
      <p:sp>
        <p:nvSpPr>
          <p:cNvPr id="6" name="TextBox 5"/>
          <p:cNvSpPr txBox="1"/>
          <p:nvPr/>
        </p:nvSpPr>
        <p:spPr>
          <a:xfrm>
            <a:off x="457200" y="914400"/>
            <a:ext cx="11247120" cy="274320"/>
          </a:xfrm>
          <a:prstGeom prst="rect">
            <a:avLst/>
          </a:prstGeom>
          <a:noFill/>
        </p:spPr>
        <p:txBody>
          <a:bodyPr wrap="square">
            <a:spAutoFit/>
          </a:bodyPr>
          <a:lstStyle/>
          <a:p>
            <a:pPr algn="l"/>
            <a:r>
              <a:rPr sz="1200" b="0">
                <a:solidFill>
                  <a:srgbClr val="CADCFC"/>
                </a:solidFill>
                <a:latin typeface="Calibri"/>
              </a:rPr>
              <a:t>N = 300 per traffic scenario = 75 pairs × 4 δ values (δ pooled).</a:t>
            </a:r>
          </a:p>
        </p:txBody>
      </p:sp>
      <p:pic>
        <p:nvPicPr>
          <p:cNvPr id="7" name="Picture 6" descr="fig2_reduction_by_scenario.png"/>
          <p:cNvPicPr>
            <a:picLocks noChangeAspect="1"/>
          </p:cNvPicPr>
          <p:nvPr/>
        </p:nvPicPr>
        <p:blipFill>
          <a:blip r:embed="rId2"/>
          <a:stretch>
            <a:fillRect/>
          </a:stretch>
        </p:blipFill>
        <p:spPr>
          <a:xfrm>
            <a:off x="182880" y="1234440"/>
            <a:ext cx="7315200" cy="2890026"/>
          </a:xfrm>
          <a:prstGeom prst="rect">
            <a:avLst/>
          </a:prstGeom>
        </p:spPr>
      </p:pic>
      <p:sp>
        <p:nvSpPr>
          <p:cNvPr id="8" name="Rounded Rectangle 7"/>
          <p:cNvSpPr/>
          <p:nvPr/>
        </p:nvSpPr>
        <p:spPr>
          <a:xfrm>
            <a:off x="7680960" y="1234440"/>
            <a:ext cx="4160520" cy="384048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353312"/>
            <a:ext cx="3794760" cy="256032"/>
          </a:xfrm>
          <a:prstGeom prst="rect">
            <a:avLst/>
          </a:prstGeom>
          <a:noFill/>
        </p:spPr>
        <p:txBody>
          <a:bodyPr wrap="square">
            <a:spAutoFit/>
          </a:bodyPr>
          <a:lstStyle/>
          <a:p>
            <a:pPr algn="l"/>
            <a:r>
              <a:rPr sz="1400" b="1">
                <a:solidFill>
                  <a:srgbClr val="E8A838"/>
                </a:solidFill>
                <a:latin typeface="Calibri"/>
              </a:rPr>
              <a:t>Statistical summary</a:t>
            </a:r>
          </a:p>
        </p:txBody>
      </p:sp>
      <p:sp>
        <p:nvSpPr>
          <p:cNvPr id="10" name="TextBox 9"/>
          <p:cNvSpPr txBox="1"/>
          <p:nvPr/>
        </p:nvSpPr>
        <p:spPr>
          <a:xfrm>
            <a:off x="7909560" y="1737360"/>
            <a:ext cx="1371600" cy="320040"/>
          </a:xfrm>
          <a:prstGeom prst="rect">
            <a:avLst/>
          </a:prstGeom>
          <a:noFill/>
        </p:spPr>
        <p:txBody>
          <a:bodyPr wrap="square">
            <a:spAutoFit/>
          </a:bodyPr>
          <a:lstStyle/>
          <a:p>
            <a:pPr algn="l"/>
            <a:r>
              <a:rPr sz="1200" b="1">
                <a:solidFill>
                  <a:srgbClr val="E8A838"/>
                </a:solidFill>
                <a:latin typeface="Calibri"/>
              </a:rPr>
              <a:t>Scenario</a:t>
            </a:r>
          </a:p>
        </p:txBody>
      </p:sp>
      <p:sp>
        <p:nvSpPr>
          <p:cNvPr id="11" name="TextBox 10"/>
          <p:cNvSpPr txBox="1"/>
          <p:nvPr/>
        </p:nvSpPr>
        <p:spPr>
          <a:xfrm>
            <a:off x="9326880" y="1737360"/>
            <a:ext cx="914400" cy="320040"/>
          </a:xfrm>
          <a:prstGeom prst="rect">
            <a:avLst/>
          </a:prstGeom>
          <a:noFill/>
        </p:spPr>
        <p:txBody>
          <a:bodyPr wrap="square">
            <a:spAutoFit/>
          </a:bodyPr>
          <a:lstStyle/>
          <a:p>
            <a:pPr algn="l"/>
            <a:r>
              <a:rPr sz="1200" b="0">
                <a:solidFill>
                  <a:srgbClr val="FFFFFF"/>
                </a:solidFill>
                <a:latin typeface="Calibri"/>
              </a:rPr>
              <a:t>vs B1</a:t>
            </a:r>
          </a:p>
        </p:txBody>
      </p:sp>
      <p:sp>
        <p:nvSpPr>
          <p:cNvPr id="12" name="TextBox 11"/>
          <p:cNvSpPr txBox="1"/>
          <p:nvPr/>
        </p:nvSpPr>
        <p:spPr>
          <a:xfrm>
            <a:off x="10287000" y="1737360"/>
            <a:ext cx="1371600" cy="320040"/>
          </a:xfrm>
          <a:prstGeom prst="rect">
            <a:avLst/>
          </a:prstGeom>
          <a:noFill/>
        </p:spPr>
        <p:txBody>
          <a:bodyPr wrap="square">
            <a:spAutoFit/>
          </a:bodyPr>
          <a:lstStyle/>
          <a:p>
            <a:pPr algn="l"/>
            <a:r>
              <a:rPr sz="1100" b="0">
                <a:solidFill>
                  <a:srgbClr val="FFFFFF"/>
                </a:solidFill>
                <a:latin typeface="Calibri"/>
              </a:rPr>
              <a:t>Significance</a:t>
            </a:r>
          </a:p>
        </p:txBody>
      </p:sp>
      <p:sp>
        <p:nvSpPr>
          <p:cNvPr id="13" name="TextBox 12"/>
          <p:cNvSpPr txBox="1"/>
          <p:nvPr/>
        </p:nvSpPr>
        <p:spPr>
          <a:xfrm>
            <a:off x="7909560" y="2148840"/>
            <a:ext cx="1371600" cy="320040"/>
          </a:xfrm>
          <a:prstGeom prst="rect">
            <a:avLst/>
          </a:prstGeom>
          <a:noFill/>
        </p:spPr>
        <p:txBody>
          <a:bodyPr wrap="square">
            <a:spAutoFit/>
          </a:bodyPr>
          <a:lstStyle/>
          <a:p>
            <a:pPr algn="l"/>
            <a:r>
              <a:rPr sz="1200" b="1">
                <a:solidFill>
                  <a:srgbClr val="E8A838"/>
                </a:solidFill>
                <a:latin typeface="Calibri"/>
              </a:rPr>
              <a:t>Incident</a:t>
            </a:r>
          </a:p>
        </p:txBody>
      </p:sp>
      <p:sp>
        <p:nvSpPr>
          <p:cNvPr id="14" name="TextBox 13"/>
          <p:cNvSpPr txBox="1"/>
          <p:nvPr/>
        </p:nvSpPr>
        <p:spPr>
          <a:xfrm>
            <a:off x="9326880" y="2148840"/>
            <a:ext cx="914400" cy="320040"/>
          </a:xfrm>
          <a:prstGeom prst="rect">
            <a:avLst/>
          </a:prstGeom>
          <a:noFill/>
        </p:spPr>
        <p:txBody>
          <a:bodyPr wrap="square">
            <a:spAutoFit/>
          </a:bodyPr>
          <a:lstStyle/>
          <a:p>
            <a:pPr algn="l"/>
            <a:r>
              <a:rPr sz="1200" b="1">
                <a:solidFill>
                  <a:srgbClr val="E8A838"/>
                </a:solidFill>
                <a:latin typeface="Calibri"/>
              </a:rPr>
              <a:t>+16.19%</a:t>
            </a:r>
          </a:p>
        </p:txBody>
      </p:sp>
      <p:sp>
        <p:nvSpPr>
          <p:cNvPr id="15" name="TextBox 14"/>
          <p:cNvSpPr txBox="1"/>
          <p:nvPr/>
        </p:nvSpPr>
        <p:spPr>
          <a:xfrm>
            <a:off x="10287000" y="2148840"/>
            <a:ext cx="1371600" cy="320040"/>
          </a:xfrm>
          <a:prstGeom prst="rect">
            <a:avLst/>
          </a:prstGeom>
          <a:noFill/>
        </p:spPr>
        <p:txBody>
          <a:bodyPr wrap="square">
            <a:spAutoFit/>
          </a:bodyPr>
          <a:lstStyle/>
          <a:p>
            <a:pPr algn="l"/>
            <a:r>
              <a:rPr sz="1100" b="0">
                <a:solidFill>
                  <a:srgbClr val="FFFFFF"/>
                </a:solidFill>
                <a:latin typeface="Calibri"/>
              </a:rPr>
              <a:t>t = 26.43, p &lt; .001</a:t>
            </a:r>
          </a:p>
        </p:txBody>
      </p:sp>
      <p:sp>
        <p:nvSpPr>
          <p:cNvPr id="16" name="TextBox 15"/>
          <p:cNvSpPr txBox="1"/>
          <p:nvPr/>
        </p:nvSpPr>
        <p:spPr>
          <a:xfrm>
            <a:off x="7909560" y="2560320"/>
            <a:ext cx="1371600" cy="320040"/>
          </a:xfrm>
          <a:prstGeom prst="rect">
            <a:avLst/>
          </a:prstGeom>
          <a:noFill/>
        </p:spPr>
        <p:txBody>
          <a:bodyPr wrap="square">
            <a:spAutoFit/>
          </a:bodyPr>
          <a:lstStyle/>
          <a:p>
            <a:pPr algn="l"/>
            <a:r>
              <a:rPr sz="1200" b="0">
                <a:solidFill>
                  <a:srgbClr val="FFFFFF"/>
                </a:solidFill>
                <a:latin typeface="Calibri"/>
              </a:rPr>
              <a:t>Peak hour</a:t>
            </a:r>
          </a:p>
        </p:txBody>
      </p:sp>
      <p:sp>
        <p:nvSpPr>
          <p:cNvPr id="17" name="TextBox 16"/>
          <p:cNvSpPr txBox="1"/>
          <p:nvPr/>
        </p:nvSpPr>
        <p:spPr>
          <a:xfrm>
            <a:off x="9326880" y="2560320"/>
            <a:ext cx="914400" cy="320040"/>
          </a:xfrm>
          <a:prstGeom prst="rect">
            <a:avLst/>
          </a:prstGeom>
          <a:noFill/>
        </p:spPr>
        <p:txBody>
          <a:bodyPr wrap="square">
            <a:spAutoFit/>
          </a:bodyPr>
          <a:lstStyle/>
          <a:p>
            <a:pPr algn="l"/>
            <a:r>
              <a:rPr sz="1200" b="0">
                <a:solidFill>
                  <a:srgbClr val="FFFFFF"/>
                </a:solidFill>
                <a:latin typeface="Calibri"/>
              </a:rPr>
              <a:t>+1.03%</a:t>
            </a:r>
          </a:p>
        </p:txBody>
      </p:sp>
      <p:sp>
        <p:nvSpPr>
          <p:cNvPr id="18" name="TextBox 17"/>
          <p:cNvSpPr txBox="1"/>
          <p:nvPr/>
        </p:nvSpPr>
        <p:spPr>
          <a:xfrm>
            <a:off x="10287000" y="2560320"/>
            <a:ext cx="1371600" cy="320040"/>
          </a:xfrm>
          <a:prstGeom prst="rect">
            <a:avLst/>
          </a:prstGeom>
          <a:noFill/>
        </p:spPr>
        <p:txBody>
          <a:bodyPr wrap="square">
            <a:spAutoFit/>
          </a:bodyPr>
          <a:lstStyle/>
          <a:p>
            <a:pPr algn="l"/>
            <a:r>
              <a:rPr sz="1100" b="0">
                <a:solidFill>
                  <a:srgbClr val="FFFFFF"/>
                </a:solidFill>
                <a:latin typeface="Calibri"/>
              </a:rPr>
              <a:t>t = 3.81, p = .0002</a:t>
            </a:r>
          </a:p>
        </p:txBody>
      </p:sp>
      <p:sp>
        <p:nvSpPr>
          <p:cNvPr id="19" name="TextBox 18"/>
          <p:cNvSpPr txBox="1"/>
          <p:nvPr/>
        </p:nvSpPr>
        <p:spPr>
          <a:xfrm>
            <a:off x="7909560" y="2971800"/>
            <a:ext cx="1371600" cy="320040"/>
          </a:xfrm>
          <a:prstGeom prst="rect">
            <a:avLst/>
          </a:prstGeom>
          <a:noFill/>
        </p:spPr>
        <p:txBody>
          <a:bodyPr wrap="square">
            <a:spAutoFit/>
          </a:bodyPr>
          <a:lstStyle/>
          <a:p>
            <a:pPr algn="l"/>
            <a:r>
              <a:rPr sz="1200" b="0">
                <a:solidFill>
                  <a:srgbClr val="FFFFFF"/>
                </a:solidFill>
                <a:latin typeface="Calibri"/>
              </a:rPr>
              <a:t>Off-peak</a:t>
            </a:r>
          </a:p>
        </p:txBody>
      </p:sp>
      <p:sp>
        <p:nvSpPr>
          <p:cNvPr id="20" name="TextBox 19"/>
          <p:cNvSpPr txBox="1"/>
          <p:nvPr/>
        </p:nvSpPr>
        <p:spPr>
          <a:xfrm>
            <a:off x="9326880" y="2971800"/>
            <a:ext cx="914400" cy="320040"/>
          </a:xfrm>
          <a:prstGeom prst="rect">
            <a:avLst/>
          </a:prstGeom>
          <a:noFill/>
        </p:spPr>
        <p:txBody>
          <a:bodyPr wrap="square">
            <a:spAutoFit/>
          </a:bodyPr>
          <a:lstStyle/>
          <a:p>
            <a:pPr algn="l"/>
            <a:r>
              <a:rPr sz="1200" b="0">
                <a:solidFill>
                  <a:srgbClr val="FFFFFF"/>
                </a:solidFill>
                <a:latin typeface="Calibri"/>
              </a:rPr>
              <a:t>+0.01%</a:t>
            </a:r>
          </a:p>
        </p:txBody>
      </p:sp>
      <p:sp>
        <p:nvSpPr>
          <p:cNvPr id="21" name="TextBox 20"/>
          <p:cNvSpPr txBox="1"/>
          <p:nvPr/>
        </p:nvSpPr>
        <p:spPr>
          <a:xfrm>
            <a:off x="10287000" y="2971800"/>
            <a:ext cx="1371600" cy="320040"/>
          </a:xfrm>
          <a:prstGeom prst="rect">
            <a:avLst/>
          </a:prstGeom>
          <a:noFill/>
        </p:spPr>
        <p:txBody>
          <a:bodyPr wrap="square">
            <a:spAutoFit/>
          </a:bodyPr>
          <a:lstStyle/>
          <a:p>
            <a:pPr algn="l"/>
            <a:r>
              <a:rPr sz="1100" b="0">
                <a:solidFill>
                  <a:srgbClr val="FFFFFF"/>
                </a:solidFill>
                <a:latin typeface="Calibri"/>
              </a:rPr>
              <a:t>p = .90 (n.s.)</a:t>
            </a:r>
          </a:p>
        </p:txBody>
      </p:sp>
      <p:sp>
        <p:nvSpPr>
          <p:cNvPr id="22" name="TextBox 21"/>
          <p:cNvSpPr txBox="1"/>
          <p:nvPr/>
        </p:nvSpPr>
        <p:spPr>
          <a:xfrm>
            <a:off x="7863840" y="3657600"/>
            <a:ext cx="3794760" cy="1371600"/>
          </a:xfrm>
          <a:prstGeom prst="rect">
            <a:avLst/>
          </a:prstGeom>
          <a:noFill/>
        </p:spPr>
        <p:txBody>
          <a:bodyPr wrap="square">
            <a:spAutoFit/>
          </a:bodyPr>
          <a:lstStyle/>
          <a:p>
            <a:pPr>
              <a:lnSpc>
                <a:spcPct val="115000"/>
              </a:lnSpc>
              <a:spcAft>
                <a:spcPts val="400"/>
              </a:spcAft>
            </a:pPr>
            <a:r>
              <a:rPr sz="1100" b="0">
                <a:solidFill>
                  <a:srgbClr val="CADCFC"/>
                </a:solidFill>
                <a:latin typeface="Calibri"/>
              </a:rPr>
              <a:t>Overall:</a:t>
            </a:r>
          </a:p>
          <a:p>
            <a:pPr>
              <a:lnSpc>
                <a:spcPct val="115000"/>
              </a:lnSpc>
              <a:spcAft>
                <a:spcPts val="400"/>
              </a:spcAft>
            </a:pPr>
            <a:r>
              <a:rPr sz="1100" b="0">
                <a:solidFill>
                  <a:srgbClr val="CADCFC"/>
                </a:solidFill>
                <a:latin typeface="Calibri"/>
              </a:rPr>
              <a:t>+5.74% vs B1</a:t>
            </a:r>
          </a:p>
          <a:p>
            <a:pPr>
              <a:lnSpc>
                <a:spcPct val="115000"/>
              </a:lnSpc>
              <a:spcAft>
                <a:spcPts val="400"/>
              </a:spcAft>
            </a:pPr>
            <a:r>
              <a:rPr sz="1100" b="0">
                <a:solidFill>
                  <a:srgbClr val="CADCFC"/>
                </a:solidFill>
                <a:latin typeface="Calibri"/>
              </a:rPr>
              <a:t>+7.39% vs historical A*</a:t>
            </a:r>
          </a:p>
          <a:p>
            <a:pPr>
              <a:lnSpc>
                <a:spcPct val="115000"/>
              </a:lnSpc>
              <a:spcAft>
                <a:spcPts val="400"/>
              </a:spcAft>
            </a:pPr>
            <a:r>
              <a:rPr sz="1100" b="0">
                <a:solidFill>
                  <a:srgbClr val="CADCFC"/>
                </a:solidFill>
                <a:latin typeface="Calibri"/>
              </a:rPr>
              <a:t>+0.61% vs reactive A*</a:t>
            </a:r>
          </a:p>
          <a:p>
            <a:pPr>
              <a:lnSpc>
                <a:spcPct val="115000"/>
              </a:lnSpc>
              <a:spcAft>
                <a:spcPts val="400"/>
              </a:spcAft>
            </a:pPr>
            <a:r>
              <a:rPr sz="1100" b="0">
                <a:solidFill>
                  <a:srgbClr val="CADCFC"/>
                </a:solidFill>
                <a:latin typeface="Calibri"/>
              </a:rPr>
              <a:t>−1.69% vs oracle</a:t>
            </a:r>
          </a:p>
        </p:txBody>
      </p:sp>
      <p:sp>
        <p:nvSpPr>
          <p:cNvPr id="23" name="TextBox 22"/>
          <p:cNvSpPr txBox="1"/>
          <p:nvPr/>
        </p:nvSpPr>
        <p:spPr>
          <a:xfrm>
            <a:off x="457200" y="5486400"/>
            <a:ext cx="11247120" cy="502920"/>
          </a:xfrm>
          <a:prstGeom prst="rect">
            <a:avLst/>
          </a:prstGeom>
          <a:noFill/>
        </p:spPr>
        <p:txBody>
          <a:bodyPr wrap="square">
            <a:spAutoFit/>
          </a:bodyPr>
          <a:lstStyle/>
          <a:p>
            <a:pPr>
              <a:lnSpc>
                <a:spcPct val="115000"/>
              </a:lnSpc>
              <a:spcAft>
                <a:spcPts val="400"/>
              </a:spcAft>
            </a:pPr>
            <a:r>
              <a:rPr sz="1100" b="0">
                <a:solidFill>
                  <a:srgbClr val="CADCFC"/>
                </a:solidFill>
                <a:latin typeface="Calibri"/>
              </a:rPr>
              <a:t>Figure 5. Percentage reduction in mean travel time relative to B1 by traffic scenario. Positive = shorter journey. Quote +16.19% for incidents, not +5.74% alone.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Objective 4: System response time</a:t>
            </a:r>
          </a:p>
        </p:txBody>
      </p:sp>
      <p:sp>
        <p:nvSpPr>
          <p:cNvPr id="4" name="TextBox 3"/>
          <p:cNvSpPr txBox="1"/>
          <p:nvPr/>
        </p:nvSpPr>
        <p:spPr>
          <a:xfrm>
            <a:off x="457200" y="566928"/>
            <a:ext cx="11247120" cy="320040"/>
          </a:xfrm>
          <a:prstGeom prst="rect">
            <a:avLst/>
          </a:prstGeom>
          <a:noFill/>
        </p:spPr>
        <p:txBody>
          <a:bodyPr wrap="square">
            <a:spAutoFit/>
          </a:bodyPr>
          <a:lstStyle/>
          <a:p>
            <a:pPr algn="l"/>
            <a:r>
              <a:rPr sz="1300" b="0">
                <a:solidFill>
                  <a:srgbClr val="CADCFC"/>
                </a:solidFill>
                <a:latin typeface="Calibri"/>
              </a:rPr>
              <a:t>This slide presents system response time — not driving time — against a one-second operational limit.</a:t>
            </a:r>
          </a:p>
        </p:txBody>
      </p:sp>
      <p:sp>
        <p:nvSpPr>
          <p:cNvPr id="5" name="TextBox 4"/>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10 / 13</a:t>
            </a:r>
          </a:p>
        </p:txBody>
      </p:sp>
      <p:pic>
        <p:nvPicPr>
          <p:cNvPr id="6" name="Picture 5" descr="figure6_latency.png"/>
          <p:cNvPicPr>
            <a:picLocks noChangeAspect="1"/>
          </p:cNvPicPr>
          <p:nvPr/>
        </p:nvPicPr>
        <p:blipFill>
          <a:blip r:embed="rId2"/>
          <a:stretch>
            <a:fillRect/>
          </a:stretch>
        </p:blipFill>
        <p:spPr>
          <a:xfrm>
            <a:off x="182880" y="960120"/>
            <a:ext cx="7315200" cy="3712866"/>
          </a:xfrm>
          <a:prstGeom prst="rect">
            <a:avLst/>
          </a:prstGeom>
        </p:spPr>
      </p:pic>
      <p:sp>
        <p:nvSpPr>
          <p:cNvPr id="7" name="Rounded Rectangle 6"/>
          <p:cNvSpPr/>
          <p:nvPr/>
        </p:nvSpPr>
        <p:spPr>
          <a:xfrm>
            <a:off x="7680960" y="960120"/>
            <a:ext cx="4160520" cy="320040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1078992"/>
            <a:ext cx="3794760" cy="274320"/>
          </a:xfrm>
          <a:prstGeom prst="rect">
            <a:avLst/>
          </a:prstGeom>
          <a:noFill/>
        </p:spPr>
        <p:txBody>
          <a:bodyPr wrap="square">
            <a:spAutoFit/>
          </a:bodyPr>
          <a:lstStyle/>
          <a:p>
            <a:pPr algn="l"/>
            <a:r>
              <a:rPr sz="1400" b="1">
                <a:solidFill>
                  <a:srgbClr val="E8A838"/>
                </a:solidFill>
                <a:latin typeface="Calibri"/>
              </a:rPr>
              <a:t>Measured response time</a:t>
            </a:r>
          </a:p>
        </p:txBody>
      </p:sp>
      <p:sp>
        <p:nvSpPr>
          <p:cNvPr id="9" name="TextBox 8"/>
          <p:cNvSpPr txBox="1"/>
          <p:nvPr/>
        </p:nvSpPr>
        <p:spPr>
          <a:xfrm>
            <a:off x="7863840" y="1417320"/>
            <a:ext cx="3794760" cy="2560320"/>
          </a:xfrm>
          <a:prstGeom prst="rect">
            <a:avLst/>
          </a:prstGeom>
          <a:noFill/>
        </p:spPr>
        <p:txBody>
          <a:bodyPr wrap="square">
            <a:spAutoFit/>
          </a:bodyPr>
          <a:lstStyle/>
          <a:p>
            <a:pPr>
              <a:lnSpc>
                <a:spcPct val="115000"/>
              </a:lnSpc>
              <a:spcAft>
                <a:spcPts val="400"/>
              </a:spcAft>
            </a:pPr>
            <a:r>
              <a:rPr sz="1300" b="0">
                <a:solidFill>
                  <a:srgbClr val="FFFFFF"/>
                </a:solidFill>
                <a:latin typeface="Calibri"/>
              </a:rPr>
              <a:t>Time-dependent A*     0.37 ms</a:t>
            </a:r>
          </a:p>
          <a:p>
            <a:pPr>
              <a:lnSpc>
                <a:spcPct val="115000"/>
              </a:lnSpc>
              <a:spcAft>
                <a:spcPts val="400"/>
              </a:spcAft>
            </a:pPr>
            <a:r>
              <a:rPr sz="1300" b="0">
                <a:solidFill>
                  <a:srgbClr val="FFFFFF"/>
                </a:solidFill>
                <a:latin typeface="Calibri"/>
              </a:rPr>
              <a:t>GRU inference          39.3 ms</a:t>
            </a:r>
          </a:p>
          <a:p>
            <a:pPr>
              <a:lnSpc>
                <a:spcPct val="115000"/>
              </a:lnSpc>
              <a:spcAft>
                <a:spcPts val="400"/>
              </a:spcAft>
            </a:pPr>
            <a:r>
              <a:rPr sz="1300" b="0">
                <a:solidFill>
                  <a:srgbClr val="FFFFFF"/>
                </a:solidFill>
                <a:latin typeface="Calibri"/>
              </a:rPr>
              <a:t>Combined system response  ≈ 40 ms</a:t>
            </a:r>
          </a:p>
          <a:p>
            <a:pPr>
              <a:lnSpc>
                <a:spcPct val="115000"/>
              </a:lnSpc>
              <a:spcAft>
                <a:spcPts val="400"/>
              </a:spcAft>
            </a:pPr>
            <a:r>
              <a:rPr sz="1300" b="0">
                <a:solidFill>
                  <a:srgbClr val="FFFFFF"/>
                </a:solidFill>
                <a:latin typeface="Calibri"/>
              </a:rPr>
              <a:t/>
            </a:r>
          </a:p>
          <a:p>
            <a:pPr>
              <a:lnSpc>
                <a:spcPct val="115000"/>
              </a:lnSpc>
              <a:spcAft>
                <a:spcPts val="400"/>
              </a:spcAft>
            </a:pPr>
            <a:r>
              <a:rPr sz="1300" b="0">
                <a:solidFill>
                  <a:srgbClr val="FFFFFF"/>
                </a:solidFill>
                <a:latin typeface="Calibri"/>
              </a:rPr>
              <a:t>One-second response limit  1,000 ms</a:t>
            </a:r>
          </a:p>
          <a:p>
            <a:pPr>
              <a:lnSpc>
                <a:spcPct val="115000"/>
              </a:lnSpc>
              <a:spcAft>
                <a:spcPts val="400"/>
              </a:spcAft>
            </a:pPr>
            <a:r>
              <a:rPr sz="1300" b="0">
                <a:solidFill>
                  <a:srgbClr val="FFFFFF"/>
                </a:solidFill>
                <a:latin typeface="Calibri"/>
              </a:rPr>
              <a:t/>
            </a:r>
          </a:p>
          <a:p>
            <a:pPr>
              <a:lnSpc>
                <a:spcPct val="115000"/>
              </a:lnSpc>
              <a:spcAft>
                <a:spcPts val="400"/>
              </a:spcAft>
            </a:pPr>
            <a:r>
              <a:rPr sz="1300" b="0">
                <a:solidFill>
                  <a:srgbClr val="FFFFFF"/>
                </a:solidFill>
                <a:latin typeface="Calibri"/>
              </a:rPr>
              <a:t>The predictor, not the router, is the main time cost.</a:t>
            </a:r>
          </a:p>
        </p:txBody>
      </p:sp>
      <p:sp>
        <p:nvSpPr>
          <p:cNvPr id="10" name="TextBox 9"/>
          <p:cNvSpPr txBox="1"/>
          <p:nvPr/>
        </p:nvSpPr>
        <p:spPr>
          <a:xfrm>
            <a:off x="457200" y="4572000"/>
            <a:ext cx="11247120" cy="1097280"/>
          </a:xfrm>
          <a:prstGeom prst="rect">
            <a:avLst/>
          </a:prstGeom>
          <a:noFill/>
        </p:spPr>
        <p:txBody>
          <a:bodyPr wrap="square">
            <a:spAutoFit/>
          </a:bodyPr>
          <a:lstStyle/>
          <a:p>
            <a:pPr>
              <a:lnSpc>
                <a:spcPct val="115000"/>
              </a:lnSpc>
              <a:spcAft>
                <a:spcPts val="400"/>
              </a:spcAft>
            </a:pPr>
            <a:r>
              <a:rPr sz="1100" b="0">
                <a:solidFill>
                  <a:srgbClr val="CADCFC"/>
                </a:solidFill>
                <a:latin typeface="Calibri"/>
              </a:rPr>
              <a:t>Figure 6. System response time of the prediction and routing modules against a one-second operational limit (1,000 ms). Combined response time is GRU inference plus time-dependent A* search. The 1,000 ms limit is the maximum allowed time to return a route recommendation after a dispatcher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Study limitations and mitigations</a:t>
            </a:r>
          </a:p>
        </p:txBody>
      </p:sp>
      <p:sp>
        <p:nvSpPr>
          <p:cNvPr id="4" name="TextBox 3"/>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11 / 13</a:t>
            </a:r>
          </a:p>
        </p:txBody>
      </p:sp>
      <p:sp>
        <p:nvSpPr>
          <p:cNvPr id="5" name="Rounded Rectangle 4"/>
          <p:cNvSpPr/>
          <p:nvPr/>
        </p:nvSpPr>
        <p:spPr>
          <a:xfrm>
            <a:off x="411480" y="960120"/>
            <a:ext cx="5577840" cy="48920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5120640" cy="292608"/>
          </a:xfrm>
          <a:prstGeom prst="rect">
            <a:avLst/>
          </a:prstGeom>
          <a:noFill/>
        </p:spPr>
        <p:txBody>
          <a:bodyPr wrap="square">
            <a:spAutoFit/>
          </a:bodyPr>
          <a:lstStyle/>
          <a:p>
            <a:pPr algn="l"/>
            <a:r>
              <a:rPr sz="1500" b="1">
                <a:solidFill>
                  <a:srgbClr val="E8A838"/>
                </a:solidFill>
                <a:latin typeface="Calibri"/>
              </a:rPr>
              <a:t>Study limits</a:t>
            </a:r>
          </a:p>
        </p:txBody>
      </p:sp>
      <p:sp>
        <p:nvSpPr>
          <p:cNvPr id="7" name="TextBox 6"/>
          <p:cNvSpPr txBox="1"/>
          <p:nvPr/>
        </p:nvSpPr>
        <p:spPr>
          <a:xfrm>
            <a:off x="640080" y="1463040"/>
            <a:ext cx="5120640" cy="4114800"/>
          </a:xfrm>
          <a:prstGeom prst="rect">
            <a:avLst/>
          </a:prstGeom>
          <a:noFill/>
        </p:spPr>
        <p:txBody>
          <a:bodyPr wrap="square">
            <a:spAutoFit/>
          </a:bodyPr>
          <a:lstStyle/>
          <a:p>
            <a:pPr>
              <a:spcAft>
                <a:spcPts val="800"/>
              </a:spcAft>
            </a:pPr>
            <a:r>
              <a:rPr sz="1300">
                <a:solidFill>
                  <a:srgbClr val="FFFFFF"/>
                </a:solidFill>
                <a:latin typeface="Calibri"/>
              </a:rPr>
              <a:t>•  METR-LA and PEMS-BAY are United States freeway detectors — not Nairobi mixed traffic.</a:t>
            </a:r>
          </a:p>
          <a:p>
            <a:pPr>
              <a:spcAft>
                <a:spcPts val="800"/>
              </a:spcAft>
            </a:pPr>
            <a:r>
              <a:rPr sz="1300">
                <a:solidFill>
                  <a:srgbClr val="FFFFFF"/>
                </a:solidFill>
                <a:latin typeface="Calibri"/>
              </a:rPr>
              <a:t>•  The 900 journeys used 100% detector coverage. Percentages describe that graph.</a:t>
            </a:r>
          </a:p>
          <a:p>
            <a:pPr>
              <a:spcAft>
                <a:spcPts val="800"/>
              </a:spcAft>
            </a:pPr>
            <a:r>
              <a:rPr sz="1300">
                <a:solidFill>
                  <a:srgbClr val="FFFFFF"/>
                </a:solidFill>
                <a:latin typeface="Calibri"/>
              </a:rPr>
              <a:t>•  A 10–30% coverage run as a sparse-sensor analogue was not executed.</a:t>
            </a:r>
          </a:p>
          <a:p>
            <a:pPr>
              <a:spcAft>
                <a:spcPts val="800"/>
              </a:spcAft>
            </a:pPr>
            <a:r>
              <a:rPr sz="1300">
                <a:solidFill>
                  <a:srgbClr val="FFFFFF"/>
                </a:solidFill>
                <a:latin typeface="Calibri"/>
              </a:rPr>
              <a:t>•  One vehicle. Multi-unit interference was not modelled.</a:t>
            </a:r>
          </a:p>
        </p:txBody>
      </p:sp>
      <p:sp>
        <p:nvSpPr>
          <p:cNvPr id="8" name="Rounded Rectangle 7"/>
          <p:cNvSpPr/>
          <p:nvPr/>
        </p:nvSpPr>
        <p:spPr>
          <a:xfrm>
            <a:off x="6217920" y="960120"/>
            <a:ext cx="5577840" cy="48920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097280"/>
            <a:ext cx="5120640" cy="292608"/>
          </a:xfrm>
          <a:prstGeom prst="rect">
            <a:avLst/>
          </a:prstGeom>
          <a:noFill/>
        </p:spPr>
        <p:txBody>
          <a:bodyPr wrap="square">
            <a:spAutoFit/>
          </a:bodyPr>
          <a:lstStyle/>
          <a:p>
            <a:pPr algn="l"/>
            <a:r>
              <a:rPr sz="1500" b="1">
                <a:solidFill>
                  <a:srgbClr val="E8A838"/>
                </a:solidFill>
                <a:latin typeface="Calibri"/>
              </a:rPr>
              <a:t>Steps taken to reduce bias</a:t>
            </a:r>
          </a:p>
        </p:txBody>
      </p:sp>
      <p:sp>
        <p:nvSpPr>
          <p:cNvPr id="10" name="TextBox 9"/>
          <p:cNvSpPr txBox="1"/>
          <p:nvPr/>
        </p:nvSpPr>
        <p:spPr>
          <a:xfrm>
            <a:off x="6446520" y="1463040"/>
            <a:ext cx="5120640" cy="4114800"/>
          </a:xfrm>
          <a:prstGeom prst="rect">
            <a:avLst/>
          </a:prstGeom>
          <a:noFill/>
        </p:spPr>
        <p:txBody>
          <a:bodyPr wrap="square">
            <a:spAutoFit/>
          </a:bodyPr>
          <a:lstStyle/>
          <a:p>
            <a:pPr>
              <a:spcAft>
                <a:spcPts val="800"/>
              </a:spcAft>
            </a:pPr>
            <a:r>
              <a:rPr sz="1300">
                <a:solidFill>
                  <a:srgbClr val="FFFFFF"/>
                </a:solidFill>
                <a:latin typeface="Calibri"/>
              </a:rPr>
              <a:t>•  Routed only on fully instrumented detector links — no guessed speeds on unmapped streets.</a:t>
            </a:r>
          </a:p>
          <a:p>
            <a:pPr>
              <a:spcAft>
                <a:spcPts val="800"/>
              </a:spcAft>
            </a:pPr>
            <a:r>
              <a:rPr sz="1300">
                <a:solidFill>
                  <a:srgbClr val="FFFFFF"/>
                </a:solidFill>
                <a:latin typeface="Calibri"/>
              </a:rPr>
              <a:t>•  Chronological split; scaler on training only — no future leakage.</a:t>
            </a:r>
          </a:p>
          <a:p>
            <a:pPr>
              <a:spcAft>
                <a:spcPts val="800"/>
              </a:spcAft>
            </a:pPr>
            <a:r>
              <a:rPr sz="1300">
                <a:solidFill>
                  <a:srgbClr val="FFFFFF"/>
                </a:solidFill>
                <a:latin typeface="Calibri"/>
              </a:rPr>
              <a:t>•  Scored every method on actual future speeds, not on its own predictions.</a:t>
            </a:r>
          </a:p>
          <a:p>
            <a:pPr>
              <a:spcAft>
                <a:spcPts val="800"/>
              </a:spcAft>
            </a:pPr>
            <a:r>
              <a:rPr sz="1300">
                <a:solidFill>
                  <a:srgbClr val="FFFFFF"/>
                </a:solidFill>
                <a:latin typeface="Calibri"/>
              </a:rPr>
              <a:t>•  Included reactive A* and an oracle — not only weak dispatch.</a:t>
            </a:r>
          </a:p>
          <a:p>
            <a:pPr>
              <a:spcAft>
                <a:spcPts val="800"/>
              </a:spcAft>
            </a:pPr>
            <a:r>
              <a:rPr sz="1300">
                <a:solidFill>
                  <a:srgbClr val="FFFFFF"/>
                </a:solidFill>
                <a:latin typeface="Calibri"/>
              </a:rPr>
              <a:t>•  Swept δ from 5–20% and let travel time decide the operational default.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Summary of principal findings</a:t>
            </a:r>
          </a:p>
        </p:txBody>
      </p:sp>
      <p:sp>
        <p:nvSpPr>
          <p:cNvPr id="4" name="TextBox 3"/>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12 / 13</a:t>
            </a:r>
          </a:p>
        </p:txBody>
      </p:sp>
      <p:sp>
        <p:nvSpPr>
          <p:cNvPr id="5" name="Rounded Rectangle 4"/>
          <p:cNvSpPr/>
          <p:nvPr/>
        </p:nvSpPr>
        <p:spPr>
          <a:xfrm>
            <a:off x="457200" y="1051560"/>
            <a:ext cx="11247120" cy="109728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25880"/>
            <a:ext cx="640080" cy="502920"/>
          </a:xfrm>
          <a:prstGeom prst="rect">
            <a:avLst/>
          </a:prstGeom>
          <a:noFill/>
        </p:spPr>
        <p:txBody>
          <a:bodyPr wrap="square">
            <a:spAutoFit/>
          </a:bodyPr>
          <a:lstStyle/>
          <a:p>
            <a:pPr algn="l"/>
            <a:r>
              <a:rPr sz="2800" b="1">
                <a:solidFill>
                  <a:srgbClr val="E8A838"/>
                </a:solidFill>
                <a:latin typeface="Cambria"/>
              </a:rPr>
              <a:t>1</a:t>
            </a:r>
          </a:p>
        </p:txBody>
      </p:sp>
      <p:sp>
        <p:nvSpPr>
          <p:cNvPr id="7" name="TextBox 6"/>
          <p:cNvSpPr txBox="1"/>
          <p:nvPr/>
        </p:nvSpPr>
        <p:spPr>
          <a:xfrm>
            <a:off x="1463040" y="1252728"/>
            <a:ext cx="9875520" cy="731520"/>
          </a:xfrm>
          <a:prstGeom prst="rect">
            <a:avLst/>
          </a:prstGeom>
          <a:noFill/>
        </p:spPr>
        <p:txBody>
          <a:bodyPr wrap="square">
            <a:spAutoFit/>
          </a:bodyPr>
          <a:lstStyle/>
          <a:p>
            <a:pPr algn="l"/>
            <a:r>
              <a:rPr sz="1500" b="0">
                <a:solidFill>
                  <a:srgbClr val="FFFFFF"/>
                </a:solidFill>
                <a:latin typeface="Calibri"/>
              </a:rPr>
              <a:t>Under incidents, mean time falls from 727.5 s to 598.9 s versus current-map Dijkstra — 16.19%, about one replan.</a:t>
            </a:r>
          </a:p>
        </p:txBody>
      </p:sp>
      <p:sp>
        <p:nvSpPr>
          <p:cNvPr id="8" name="Rounded Rectangle 7"/>
          <p:cNvSpPr/>
          <p:nvPr/>
        </p:nvSpPr>
        <p:spPr>
          <a:xfrm>
            <a:off x="457200" y="2286000"/>
            <a:ext cx="11247120" cy="109728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60320"/>
            <a:ext cx="640080" cy="502920"/>
          </a:xfrm>
          <a:prstGeom prst="rect">
            <a:avLst/>
          </a:prstGeom>
          <a:noFill/>
        </p:spPr>
        <p:txBody>
          <a:bodyPr wrap="square">
            <a:spAutoFit/>
          </a:bodyPr>
          <a:lstStyle/>
          <a:p>
            <a:pPr algn="l"/>
            <a:r>
              <a:rPr sz="2800" b="1">
                <a:solidFill>
                  <a:srgbClr val="E8A838"/>
                </a:solidFill>
                <a:latin typeface="Cambria"/>
              </a:rPr>
              <a:t>2</a:t>
            </a:r>
          </a:p>
        </p:txBody>
      </p:sp>
      <p:sp>
        <p:nvSpPr>
          <p:cNvPr id="10" name="TextBox 9"/>
          <p:cNvSpPr txBox="1"/>
          <p:nvPr/>
        </p:nvSpPr>
        <p:spPr>
          <a:xfrm>
            <a:off x="1463040" y="2487168"/>
            <a:ext cx="9875520" cy="731520"/>
          </a:xfrm>
          <a:prstGeom prst="rect">
            <a:avLst/>
          </a:prstGeom>
          <a:noFill/>
        </p:spPr>
        <p:txBody>
          <a:bodyPr wrap="square">
            <a:spAutoFit/>
          </a:bodyPr>
          <a:lstStyle/>
          <a:p>
            <a:pPr algn="l"/>
            <a:r>
              <a:rPr sz="1500" b="0">
                <a:solidFill>
                  <a:srgbClr val="FFFFFF"/>
                </a:solidFill>
                <a:latin typeface="Calibri"/>
              </a:rPr>
              <a:t>Travel time does not depend on δ in 5–20%. Operational default: δ = 0.20 — same time, quieter alerts.</a:t>
            </a:r>
          </a:p>
        </p:txBody>
      </p:sp>
      <p:sp>
        <p:nvSpPr>
          <p:cNvPr id="11" name="Rounded Rectangle 10"/>
          <p:cNvSpPr/>
          <p:nvPr/>
        </p:nvSpPr>
        <p:spPr>
          <a:xfrm>
            <a:off x="457200" y="3520440"/>
            <a:ext cx="11247120" cy="109728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94760"/>
            <a:ext cx="640080" cy="502920"/>
          </a:xfrm>
          <a:prstGeom prst="rect">
            <a:avLst/>
          </a:prstGeom>
          <a:noFill/>
        </p:spPr>
        <p:txBody>
          <a:bodyPr wrap="square">
            <a:spAutoFit/>
          </a:bodyPr>
          <a:lstStyle/>
          <a:p>
            <a:pPr algn="l"/>
            <a:r>
              <a:rPr sz="2800" b="1">
                <a:solidFill>
                  <a:srgbClr val="E8A838"/>
                </a:solidFill>
                <a:latin typeface="Cambria"/>
              </a:rPr>
              <a:t>3</a:t>
            </a:r>
          </a:p>
        </p:txBody>
      </p:sp>
      <p:sp>
        <p:nvSpPr>
          <p:cNvPr id="13" name="TextBox 12"/>
          <p:cNvSpPr txBox="1"/>
          <p:nvPr/>
        </p:nvSpPr>
        <p:spPr>
          <a:xfrm>
            <a:off x="1463040" y="3721608"/>
            <a:ext cx="9875520" cy="731520"/>
          </a:xfrm>
          <a:prstGeom prst="rect">
            <a:avLst/>
          </a:prstGeom>
          <a:noFill/>
        </p:spPr>
        <p:txBody>
          <a:bodyPr wrap="square">
            <a:spAutoFit/>
          </a:bodyPr>
          <a:lstStyle/>
          <a:p>
            <a:pPr algn="l"/>
            <a:r>
              <a:rPr sz="1500" b="0">
                <a:solidFill>
                  <a:srgbClr val="FFFFFF"/>
                </a:solidFill>
                <a:latin typeface="Calibri"/>
              </a:rPr>
              <a:t>Combined system response ≈ 40 ms. The main deployment constraint is sensor coverage, not compute.</a:t>
            </a:r>
          </a:p>
        </p:txBody>
      </p:sp>
      <p:sp>
        <p:nvSpPr>
          <p:cNvPr id="14" name="TextBox 13"/>
          <p:cNvSpPr txBox="1"/>
          <p:nvPr/>
        </p:nvSpPr>
        <p:spPr>
          <a:xfrm>
            <a:off x="457200" y="4754880"/>
            <a:ext cx="11247120" cy="365760"/>
          </a:xfrm>
          <a:prstGeom prst="rect">
            <a:avLst/>
          </a:prstGeom>
          <a:noFill/>
        </p:spPr>
        <p:txBody>
          <a:bodyPr wrap="square">
            <a:spAutoFit/>
          </a:bodyPr>
          <a:lstStyle/>
          <a:p>
            <a:pPr algn="ctr"/>
            <a:r>
              <a:rPr sz="2000" b="1">
                <a:solidFill>
                  <a:srgbClr val="CADCFC"/>
                </a:solidFill>
                <a:latin typeface="Cambria"/>
              </a:rPr>
              <a:t>Thank you. I welcome your questions.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155680" cy="411480"/>
          </a:xfrm>
          <a:prstGeom prst="rect">
            <a:avLst/>
          </a:prstGeom>
          <a:noFill/>
        </p:spPr>
        <p:txBody>
          <a:bodyPr wrap="square">
            <a:spAutoFit/>
          </a:bodyPr>
          <a:lstStyle/>
          <a:p>
            <a:pPr algn="l"/>
            <a:r>
              <a:rPr sz="2400" b="1">
                <a:solidFill>
                  <a:srgbClr val="FFFFFF"/>
                </a:solidFill>
                <a:latin typeface="Cambria"/>
              </a:rPr>
              <a:t>Conclusions and recommendations</a:t>
            </a:r>
          </a:p>
        </p:txBody>
      </p:sp>
      <p:sp>
        <p:nvSpPr>
          <p:cNvPr id="4" name="TextBox 3"/>
          <p:cNvSpPr txBox="1"/>
          <p:nvPr/>
        </p:nvSpPr>
        <p:spPr>
          <a:xfrm>
            <a:off x="11292840" y="6537960"/>
            <a:ext cx="731520" cy="228600"/>
          </a:xfrm>
          <a:prstGeom prst="rect">
            <a:avLst/>
          </a:prstGeom>
          <a:noFill/>
        </p:spPr>
        <p:txBody>
          <a:bodyPr wrap="none">
            <a:spAutoFit/>
          </a:bodyPr>
          <a:lstStyle/>
          <a:p>
            <a:pPr algn="r"/>
            <a:r>
              <a:rPr sz="1000">
                <a:solidFill>
                  <a:srgbClr val="A0B0D0"/>
                </a:solidFill>
                <a:latin typeface="Calibri"/>
              </a:rPr>
              <a:t>13 / 13</a:t>
            </a:r>
          </a:p>
        </p:txBody>
      </p:sp>
      <p:sp>
        <p:nvSpPr>
          <p:cNvPr id="5" name="Rounded Rectangle 4"/>
          <p:cNvSpPr/>
          <p:nvPr/>
        </p:nvSpPr>
        <p:spPr>
          <a:xfrm>
            <a:off x="411480" y="960120"/>
            <a:ext cx="5577840" cy="48920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5120640" cy="292608"/>
          </a:xfrm>
          <a:prstGeom prst="rect">
            <a:avLst/>
          </a:prstGeom>
          <a:noFill/>
        </p:spPr>
        <p:txBody>
          <a:bodyPr wrap="square">
            <a:spAutoFit/>
          </a:bodyPr>
          <a:lstStyle/>
          <a:p>
            <a:pPr algn="l"/>
            <a:r>
              <a:rPr sz="1500" b="1">
                <a:solidFill>
                  <a:srgbClr val="E8A838"/>
                </a:solidFill>
                <a:latin typeface="Calibri"/>
              </a:rPr>
              <a:t>Conclusions by objective</a:t>
            </a:r>
          </a:p>
        </p:txBody>
      </p:sp>
      <p:sp>
        <p:nvSpPr>
          <p:cNvPr id="7" name="TextBox 6"/>
          <p:cNvSpPr txBox="1"/>
          <p:nvPr/>
        </p:nvSpPr>
        <p:spPr>
          <a:xfrm>
            <a:off x="640080" y="1463040"/>
            <a:ext cx="5120640" cy="4114800"/>
          </a:xfrm>
          <a:prstGeom prst="rect">
            <a:avLst/>
          </a:prstGeom>
          <a:noFill/>
        </p:spPr>
        <p:txBody>
          <a:bodyPr wrap="square">
            <a:spAutoFit/>
          </a:bodyPr>
          <a:lstStyle/>
          <a:p>
            <a:pPr>
              <a:spcAft>
                <a:spcPts val="700"/>
              </a:spcAft>
            </a:pPr>
            <a:r>
              <a:rPr sz="1200">
                <a:solidFill>
                  <a:srgbClr val="FFFFFF"/>
                </a:solidFill>
                <a:latin typeface="Calibri"/>
              </a:rPr>
              <a:t>•  Obj 1 — Gap confirmed: prediction and time-dependent search need one emergency loop with a tested δ trigger inside 1 s.</a:t>
            </a:r>
          </a:p>
          <a:p>
            <a:pPr>
              <a:spcAft>
                <a:spcPts val="700"/>
              </a:spcAft>
            </a:pPr>
            <a:r>
              <a:rPr sz="1200">
                <a:solidFill>
                  <a:srgbClr val="FFFFFF"/>
                </a:solidFill>
                <a:latin typeface="Calibri"/>
              </a:rPr>
              <a:t>•  Obj 2 — Three components integrate on the 207-node graph; GRU MAE 3.48 mph (METR-LA), 2.38 mph (PEMS-BAY); combined response ≈ 40 ms.</a:t>
            </a:r>
          </a:p>
          <a:p>
            <a:pPr>
              <a:spcAft>
                <a:spcPts val="700"/>
              </a:spcAft>
            </a:pPr>
            <a:r>
              <a:rPr sz="1200">
                <a:solidFill>
                  <a:srgbClr val="FFFFFF"/>
                </a:solidFill>
                <a:latin typeface="Calibri"/>
              </a:rPr>
              <a:t>•  Obj 3 — Travel time equivalent across δ ∈ {5, 10, 15, 20}% (F ≈ 0.001, p = 1.00). Operational default: δ = 0.20.</a:t>
            </a:r>
          </a:p>
          <a:p>
            <a:pPr>
              <a:spcAft>
                <a:spcPts val="700"/>
              </a:spcAft>
            </a:pPr>
            <a:r>
              <a:rPr sz="1200">
                <a:solidFill>
                  <a:srgbClr val="FFFFFF"/>
                </a:solidFill>
                <a:latin typeface="Calibri"/>
              </a:rPr>
              <a:t>•  Obj 4 — Reduction vs B1 is scenario-specific: +16.19% incident, +1.03% peak, +0.01% off-peak; −1.69% vs oracle.</a:t>
            </a:r>
          </a:p>
        </p:txBody>
      </p:sp>
      <p:sp>
        <p:nvSpPr>
          <p:cNvPr id="8" name="Rounded Rectangle 7"/>
          <p:cNvSpPr/>
          <p:nvPr/>
        </p:nvSpPr>
        <p:spPr>
          <a:xfrm>
            <a:off x="6217920" y="960120"/>
            <a:ext cx="5577840" cy="48920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097280"/>
            <a:ext cx="5120640" cy="292608"/>
          </a:xfrm>
          <a:prstGeom prst="rect">
            <a:avLst/>
          </a:prstGeom>
          <a:noFill/>
        </p:spPr>
        <p:txBody>
          <a:bodyPr wrap="square">
            <a:spAutoFit/>
          </a:bodyPr>
          <a:lstStyle/>
          <a:p>
            <a:pPr algn="l"/>
            <a:r>
              <a:rPr sz="1500" b="1">
                <a:solidFill>
                  <a:srgbClr val="E8A838"/>
                </a:solidFill>
                <a:latin typeface="Calibri"/>
              </a:rPr>
              <a:t>Recommendations</a:t>
            </a:r>
          </a:p>
        </p:txBody>
      </p:sp>
      <p:sp>
        <p:nvSpPr>
          <p:cNvPr id="10" name="TextBox 9"/>
          <p:cNvSpPr txBox="1"/>
          <p:nvPr/>
        </p:nvSpPr>
        <p:spPr>
          <a:xfrm>
            <a:off x="6446520" y="1463040"/>
            <a:ext cx="5120640" cy="4114800"/>
          </a:xfrm>
          <a:prstGeom prst="rect">
            <a:avLst/>
          </a:prstGeom>
          <a:noFill/>
        </p:spPr>
        <p:txBody>
          <a:bodyPr wrap="square">
            <a:spAutoFit/>
          </a:bodyPr>
          <a:lstStyle/>
          <a:p>
            <a:pPr>
              <a:spcAft>
                <a:spcPts val="800"/>
              </a:spcAft>
            </a:pPr>
            <a:r>
              <a:rPr sz="1200">
                <a:solidFill>
                  <a:srgbClr val="FFFFFF"/>
                </a:solidFill>
                <a:latin typeface="Calibri"/>
              </a:rPr>
              <a:t>•  Deploy where loop detectors already exist; at ≈40 ms against 1,000 ms, compute is not the constraint — sensor coverage is.</a:t>
            </a:r>
          </a:p>
          <a:p>
            <a:pPr>
              <a:spcAft>
                <a:spcPts val="800"/>
              </a:spcAft>
            </a:pPr>
            <a:r>
              <a:rPr sz="1200">
                <a:solidFill>
                  <a:srgbClr val="FFFFFF"/>
                </a:solidFill>
                <a:latin typeface="Calibri"/>
              </a:rPr>
              <a:t>•  Build METR-LA-compatible speed archives for local deployment before quoting these percentages in mixed traffic.</a:t>
            </a:r>
          </a:p>
          <a:p>
            <a:pPr>
              <a:spcAft>
                <a:spcPts val="800"/>
              </a:spcAft>
            </a:pPr>
            <a:r>
              <a:rPr sz="1200">
                <a:solidFill>
                  <a:srgbClr val="FFFFFF"/>
                </a:solidFill>
                <a:latin typeface="Calibri"/>
              </a:rPr>
              <a:t>•  Next studies: sparse-sensor downsampling (10–30%), multi-vehicle coordination, live feeds, field validation with dispatch operators.</a:t>
            </a:r>
          </a:p>
        </p:txBody>
      </p:sp>
      <p:sp>
        <p:nvSpPr>
          <p:cNvPr id="11" name="TextBox 10"/>
          <p:cNvSpPr txBox="1"/>
          <p:nvPr/>
        </p:nvSpPr>
        <p:spPr>
          <a:xfrm>
            <a:off x="457200" y="5897880"/>
            <a:ext cx="11247120" cy="320040"/>
          </a:xfrm>
          <a:prstGeom prst="rect">
            <a:avLst/>
          </a:prstGeom>
          <a:noFill/>
        </p:spPr>
        <p:txBody>
          <a:bodyPr wrap="square">
            <a:spAutoFit/>
          </a:bodyPr>
          <a:lstStyle/>
          <a:p>
            <a:pPr algn="ctr"/>
            <a:r>
              <a:rPr sz="1200" b="0">
                <a:solidFill>
                  <a:srgbClr val="A0B0D0"/>
                </a:solidFill>
                <a:latin typeface="Calibri"/>
              </a:rPr>
              <a:t>Full design and evaluation: companion journal article.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