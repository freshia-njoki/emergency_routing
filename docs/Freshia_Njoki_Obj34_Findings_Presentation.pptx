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  ·  0:00–0:20  ·  read this</a:t>
            </a:r>
          </a:p>
          <a:p/>
          <a:p>
            <a:r>
              <a:t>Chair, supervisors, examiners — thank you. I am Freshia Njoki Macharia.</a:t>
            </a:r>
          </a:p>
          <a:p/>
          <a:p>
            <a:r>
              <a:t>This seminar reports a decision-support framework for emergency-vehicle routing. It forecasts traffic speeds for the next thirty minutes, computes a time-dependent path, and offers a new path only when remaining travel time has truly worsened.</a:t>
            </a:r>
          </a:p>
          <a:p/>
          <a:p>
            <a:r>
              <a:t>I evaluated that loop on nine hundred matched journeys. The dispatcher keeps final authority.</a:t>
            </a:r>
          </a:p>
          <a:p/>
          <a:p>
            <a:r>
              <a:t>I will go: problem, design, then the results — prediction, the threshold, journey time, and latency.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  ·  0:20–1:15  ·  read this</a:t>
            </a:r>
          </a:p>
          <a:p/>
          <a:p>
            <a:r>
              <a:t>The operational problem is simple. At dispatch we compute a shortest path from the speeds on the map right now. That path is optimal only for those speeds. If a queue forms on the planned road fifteen or thirty minutes later, the vehicle is already on it.</a:t>
            </a:r>
          </a:p>
          <a:p/>
          <a:p>
            <a:r>
              <a:t>That is how most computer-aided dispatch still works: Dijkstra, or A*, on a current snapshot.</a:t>
            </a:r>
          </a:p>
          <a:p/>
          <a:p>
            <a:r>
              <a:t>The literature has excellent traffic predictors, and it has time-dependent shortest-path algorithms. They usually sit in different papers. What was missing is one emergency loop: learn the next half hour of speeds, route on those changing costs, and only interrupt the dispatcher when remaining time has really jumped — all inside one second.</a:t>
            </a:r>
          </a:p>
          <a:p/>
          <a:p>
            <a:r>
              <a:t>I measured that loop on public loop-detector archives so another researcher can repeat it. METR-LA is the routing city. PEMS-BAY checks whether the same predictor still works in a second city.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3  ·  1:15–1:55  ·  read this</a:t>
            </a:r>
          </a:p>
          <a:p/>
          <a:p>
            <a:r>
              <a:t>The purpose of the study was to design and evaluate that loop as dispatcher support — not as an autonomous vehicle.</a:t>
            </a:r>
          </a:p>
          <a:p/>
          <a:p>
            <a:r>
              <a:t>Four objectives. One: show the gap. Two: build the three parts. Three: choose the remaining-time threshold, called delta. Four: measure travel time and wait against four baselines.</a:t>
            </a:r>
          </a:p>
          <a:p/>
          <a:p>
            <a:r>
              <a:t>Delta is a policy. If remaining time from where the vehicle is now grows by more than delta, we offer a new path. Alpha of point-zero-five is the statistical significance level. They share the digits zero-point-zero-five. They are not the same thing.</a:t>
            </a:r>
          </a:p>
          <a:p/>
          <a:p>
            <a:r>
              <a:t>This talk spends most of the remaining time on Objectives 3 and 4, because that is the new evidence.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4  ·  1:55–2:45  ·  read this</a:t>
            </a:r>
          </a:p>
          <a:p/>
          <a:p>
            <a:r>
              <a:t>Walk the six boxes left to right, then down.</a:t>
            </a:r>
          </a:p>
          <a:p/>
          <a:p>
            <a:r>
              <a:t>Box 1. We look at the last hour of detector speeds.</a:t>
            </a:r>
          </a:p>
          <a:p/>
          <a:p>
            <a:r>
              <a:t>Box 2. A two-layer GRU forecasts the next half hour.</a:t>
            </a:r>
          </a:p>
          <a:p/>
          <a:p>
            <a:r>
              <a:t>Box 3. Those speeds become the time to cross each road.</a:t>
            </a:r>
          </a:p>
          <a:p/>
          <a:p>
            <a:r>
              <a:t>Box 4. Time-dependent A-star picks a path. Edge cost depends on when the vehicle would enter that road, not only on now.</a:t>
            </a:r>
          </a:p>
          <a:p/>
          <a:p>
            <a:r>
              <a:t>Box 5. As the vehicle moves, remaining time is from here, not from the station. If that remaining time grows by more than delta, we offer a new path. The observation window slides forward every five minutes, so a jam that appears mid-trip can be seen.</a:t>
            </a:r>
          </a:p>
          <a:p/>
          <a:p>
            <a:r>
              <a:t>Box 6. A person accepts or rejects. This is decision support.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5  ·  2:45–4:00  ·  read this</a:t>
            </a:r>
          </a:p>
          <a:p/>
          <a:p>
            <a:r>
              <a:t>Two datasets, two models. A GRU cannot take two hundred and seven sensors and three hundred and twenty-five sensors in one tensor. Routing uses only Los Angeles, so the graph and the speeds belong to the same city.</a:t>
            </a:r>
          </a:p>
          <a:p/>
          <a:p>
            <a:r>
              <a:t>The routing graph is the detector adjacency: two hundred and seven nodes, one thousand five hundred and fifteen directed edges, a measured speed on every edge. I chose that graph on purpose. A downtown street extract would have left most roads without a sensor. I did not want travel times invented on unmapped edges.</a:t>
            </a:r>
          </a:p>
          <a:p/>
          <a:p>
            <a:r>
              <a:t>Nine hundred journeys: seventy-five origin–destination pairs, times three traffic regimes, times four delta values. Origin–destination means a start detector and an end detector. They were sampled to be reachable.</a:t>
            </a:r>
          </a:p>
          <a:p/>
          <a:p>
            <a:r>
              <a:t>Three regimes. Peak: the slowest quarter of test windows. Off-peak: the fastest quarter — a negative control; a forecast and a current map should agree. Incident: after twenty percent of the planned Dijkstra time, speeds on that corridor drop to forty percent. The vehicle meets the jam.</a:t>
            </a:r>
          </a:p>
          <a:p/>
          <a:p>
            <a:r>
              <a:t>Four baselines. B1 is dispatch practice — Dijkstra on now. B2 is a typical day. B3 is allowed one replan from the latest snapshot when the jam becomes visible, with no thirty-minute forecast. B4 is an oracle with actual future speeds. We must not beat B4. If we did, the experiment would be broken.</a:t>
            </a:r>
          </a:p>
          <a:p/>
          <a:p>
            <a:r>
              <a:t>Honesty of the clock: every method is then driven on the real future speeds. Predicted costs pick the path; they do not mark the path.</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6  ·  4:00–5:00  ·  read this</a:t>
            </a:r>
          </a:p>
          <a:p/>
          <a:p>
            <a:r>
              <a:t>Objective 2. Can a light GRU forecast the next half hour well enough to rank roads?</a:t>
            </a:r>
          </a:p>
          <a:p/>
          <a:p>
            <a:r>
              <a:t>On Los Angeles, test mean absolute error is 3.48 miles per hour. Root mean square error is 6.04. Training stopped at 27 epochs. On the Bay Area, a separate model, 2.38 miles per hour after 79 epochs.</a:t>
            </a:r>
          </a:p>
          <a:p/>
          <a:p>
            <a:r>
              <a:t>Mean absolute error means: ignore sign, average the miss. Three and a half miles per hour on a freeway is enough to tell a still-moving corridor from one that is about to clog. It is not centimetre-accurate positioning.</a:t>
            </a:r>
          </a:p>
          <a:p/>
          <a:p>
            <a:r>
              <a:t>The Bay error is lower because those freeways are smoother. That is not Los Angeles “failing.” I never routed Bay speeds on Los Angeles edges.</a:t>
            </a:r>
          </a:p>
          <a:p/>
          <a:p>
            <a:r>
              <a:t>I did not bake off a graph neural net in this study. Those models can win on raw MAE. They also cost more at every five-minute refresh. The dispatch constraint was a combined wait well under one second. The GRU is the predictor that fitted that budget.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7  ·  5:00–6:20  ·  point at the figure, then read</a:t>
            </a:r>
          </a:p>
          <a:p/>
          <a:p>
            <a:r>
              <a:t>This figure is Objective 3. Left side: how much travel time we save versus Dijkstra, at each delta. Right side: how often we replan.</a:t>
            </a:r>
          </a:p>
          <a:p/>
          <a:p>
            <a:r>
              <a:t>N equals 225 on each delta. That is seventy-five origin–destination pairs, times the three traffic regimes. We are pooling peak, off-peak, and incident here. The next slides split the regimes.</a:t>
            </a:r>
          </a:p>
          <a:p/>
          <a:p>
            <a:r>
              <a:t>Look at the reduction line. It does not move. Five percent, ten, fifteen, twenty — about five and three-quarter percent overall versus Dijkstra in every case. The ANOVA F is about 0.001, p equals 1.00. That does not mean the study failed. It means the four policies produce the same travel time.</a:t>
            </a:r>
          </a:p>
          <a:p/>
          <a:p>
            <a:r>
              <a:t>Why? In the incident regime, corridor speed falls by forty percent. Remaining time jumps by more than twenty percent. So even the strictest policy, delta 0.20, still fires. About one replan per incident journey at every setting.</a:t>
            </a:r>
          </a:p>
          <a:p/>
          <a:p>
            <a:r>
              <a:t>When travel time is the same, decision support prefers the quieter alert. That is delta 0.20. Replans overall fall slightly from 0.45 to 0.39.</a:t>
            </a:r>
          </a:p>
          <a:p/>
          <a:p>
            <a:r>
              <a:t>Chapter 3 put 0.10 in the middle of a five-to-twenty percent band as the value to test. After measurement, 0.20 is the default. Delta is not alpha. Alpha stays point-zero-five for the t-tests.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8  ·  6:20–7:40  ·  point at the three clusters</a:t>
            </a:r>
          </a:p>
          <a:p/>
          <a:p>
            <a:r>
              <a:t>Objective 4. These bars are mean journey time in seconds — clock time from origin to destination after we drive every method on the real future speeds.</a:t>
            </a:r>
          </a:p>
          <a:p/>
          <a:p>
            <a:r>
              <a:t>Start with incident, the tall cluster. Dijkstra, the current-map path, averages 728 seconds. The framework averages 599 seconds. That is about two minutes and ten seconds saved on that test graph when the planned road is disrupted. Reactive A-star, which replans once the jam is already on the snapshot, is 604 seconds — close to us. The oracle, with perfect future knowledge, is 581. We sit a little behind the oracle, as we must.</a:t>
            </a:r>
          </a:p>
          <a:p/>
          <a:p>
            <a:r>
              <a:t>Why is reactive close in incidents? Once the slowdown is visible in current speeds, a thirty-minute forecast adds little. The value of the GRU is anticipatory: it can divert before the vehicle is fully committed. That is the keen reading of this figure. We are not claiming to dominate a reactive router after the jam is obvious.</a:t>
            </a:r>
          </a:p>
          <a:p/>
          <a:p>
            <a:r>
              <a:t>Peak. Both methods are around 510 seconds. Widespread congestion leaves few quiet alternatives, so looking ahead helps only modestly: 506 versus 513.</a:t>
            </a:r>
          </a:p>
          <a:p/>
          <a:p>
            <a:r>
              <a:t>Off-peak. Every serious method sits near 403 seconds. Empty roads are the negative control. A forecast and a current map should agree. They do. That is success, not a dead model.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9  ·  7:40–9:10  ·  this is the headline figure — go slowly</a:t>
            </a:r>
          </a:p>
          <a:p/>
          <a:p>
            <a:r>
              <a:t>This figure is the same experiment as the seconds, now as a percentage against Dijkstra.</a:t>
            </a:r>
          </a:p>
          <a:p/>
          <a:p>
            <a:r>
              <a:t>N equals 300 in each regime. That is seventy-five pairs, times four delta values. We can pool delta because Objective 3 showed travel time does not depend on which of the four policies we pick. N is not seventy-five here, and it is not nine hundred. Nine hundred is the whole study. Three hundred is one regime.</a:t>
            </a:r>
          </a:p>
          <a:p/>
          <a:p>
            <a:r>
              <a:t>Percentage reduction: how much shorter the framework journey is than Dijkstra’s, on the same origin, destination, and clock. Positive means we were faster.</a:t>
            </a:r>
          </a:p>
          <a:p/>
          <a:p>
            <a:r>
              <a:t>Incident: plus 16.19 percent. t is 26.43, p less than .001. About one replan per journey. That is the result that matches the purpose: when the planned corridor breaks, looking thirty minutes ahead and triggering on remaining time cuts realised delay.</a:t>
            </a:r>
          </a:p>
          <a:p/>
          <a:p>
            <a:r>
              <a:t>Peak: plus 1.03 percent. Statistically detectable, p equals .0002. Operationally small. The network is busy in every direction.</a:t>
            </a:r>
          </a:p>
          <a:p/>
          <a:p>
            <a:r>
              <a:t>Off-peak: plus 0.01 percent, p equals .90. Not significant. The negative control held.</a:t>
            </a:r>
          </a:p>
          <a:p/>
          <a:p>
            <a:r>
              <a:t>Overall plus 5.74 percent is a mixture of those three worlds. If you quote one number from this talk, quote 16 percent under incidents, not 5.74 percent as if it applied to every ambulance.</a:t>
            </a:r>
          </a:p>
          <a:p/>
          <a:p>
            <a:r>
              <a:t>Versus historical A-star we are 7.39 percent faster — an average day is not enough. Versus reactive A-star, 0.61 percent. I report that small gap on purpose. Versus the oracle we are 1.69 percent slower. The ceiling is intact.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10  ·  9:10–10:00  ·  point at the two bars</a:t>
            </a:r>
          </a:p>
          <a:p/>
          <a:p>
            <a:r>
              <a:t>Latency. The operational cap was one thousand milliseconds — one second — so a recommendation can be issued inside a dispatch click.</a:t>
            </a:r>
          </a:p>
          <a:p/>
          <a:p>
            <a:r>
              <a:t>Time-dependent A-star averages 0.37 milliseconds. The GRU averages 39.3 milliseconds. Combined, about 40 milliseconds. That combined figure is the system wait. Do not quote 0.37 as if the dispatcher only waits for search.</a:t>
            </a:r>
          </a:p>
          <a:p/>
          <a:p>
            <a:r>
              <a:t>The predictor is the slower part, and the loop still fits comfortably inside one second.</a:t>
            </a:r>
          </a:p>
          <a:p/>
          <a:p>
            <a:r>
              <a:t>I did not pre-build a continental contraction hierarchy. At two hundred and seven nodes it was unnecessary. That is useful: edge weights can be rewritten every five minutes when a new forecast arrives.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11  ·  10:00–11:20  ·  read steadily — this is the honesty slide</a:t>
            </a:r>
          </a:p>
          <a:p/>
          <a:p>
            <a:r>
              <a:t>These percentages describe Los Angeles freeway detectors with a sensor on every edge. Transfer to a mixed-traffic city needs local sensors. That is a real limit, not a hidden error. Here is what I already did about it.</a:t>
            </a:r>
          </a:p>
          <a:p/>
          <a:p>
            <a:r>
              <a:t>I did not route on a sparse street map and fill missing roads with guessed free-flow. I used the detector graph so every edge had a measured speed. The honest next step is to downsample that same graph to ten or thirty percent coverage and repeat the nine hundred journeys — not to pretend this 16 percent is already a sparse-city number.</a:t>
            </a:r>
          </a:p>
          <a:p/>
          <a:p>
            <a:r>
              <a:t>I stopped the future leaking into the past: time-ordered split, scaler fitted on training only.</a:t>
            </a:r>
          </a:p>
          <a:p/>
          <a:p>
            <a:r>
              <a:t>I stopped a method looking good because it was scored on its own forecast: everyone is walked on actual future speeds.</a:t>
            </a:r>
          </a:p>
          <a:p/>
          <a:p>
            <a:r>
              <a:t>I stopped a weak baseline making 16 percent look larger than it is: reactive A-star and an oracle are in the table. The small gap to reactive, and the small gap behind the oracle, are part of the result.</a:t>
            </a:r>
          </a:p>
          <a:p/>
          <a:p>
            <a:r>
              <a:t>PEMS-BAY shows the architecture still predicts in a second city. It does not yet show routing there. That is further work, with a Bay routing graph.</a:t>
            </a:r>
          </a:p>
          <a:p/>
          <a:p>
            <a:r>
              <a:t>Single vehicle. Fleet interference is out of scope.</a:t>
            </a:r>
          </a:p>
          <a:p/>
          <a:p>
            <a:r>
              <a:t>If there is a next study, it starts from this 100 percent detector graph and thins the sensors.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12  ·  11:20–12:00  ·  then stop and wait for questions</a:t>
            </a:r>
          </a:p>
          <a:p/>
          <a:p>
            <a:r>
              <a:t>Three sentences.</a:t>
            </a:r>
          </a:p>
          <a:p/>
          <a:p>
            <a:r>
              <a:t>One. Under incident conditions the framework cut current-map Dijkstra time by 16.19 percent — about 599 seconds versus 728 — with about one replan.</a:t>
            </a:r>
          </a:p>
          <a:p/>
          <a:p>
            <a:r>
              <a:t>Two. Delta from 5 to 20 percent did not change travel time. I recommend 0.20.</a:t>
            </a:r>
          </a:p>
          <a:p/>
          <a:p>
            <a:r>
              <a:t>Three. Combined wait is about 40 milliseconds. Compute is not the barrier. Sensors are.</a:t>
            </a:r>
          </a:p>
          <a:p/>
          <a:p>
            <a:r>
              <a:t>Thank you. I welcome your questions.</a:t>
            </a:r>
          </a:p>
          <a:p/>
          <a:p>
            <a:r>
              <a:t>--- If a question comes, answer in one of these frames ---</a:t>
            </a:r>
          </a:p>
          <a:p/>
          <a:p>
            <a:r>
              <a:t>N: 900 is the whole study. 225 is one delta across three regimes. 300 is one regime across four deltas.</a:t>
            </a:r>
          </a:p>
          <a:p/>
          <a:p>
            <a:r>
              <a:t>Why not Nairobi numbers: I needed a public, fully instrumented archive so the 900-run can be repeated. The method transfers; these percentages do not, until local detectors exist.</a:t>
            </a:r>
          </a:p>
          <a:p/>
          <a:p>
            <a:r>
              <a:t>Why so close to reactive A*: once the jam is on the snapshot, a 30-minute forecast adds little. The gain is before that.</a:t>
            </a:r>
          </a:p>
          <a:p/>
          <a:p>
            <a:r>
              <a:t>Why p = 1.00 on delta: the four policies are interchangeable on time, not “the experiment found nothing.”</a:t>
            </a:r>
          </a:p>
          <a:p/>
          <a:p>
            <a:r>
              <a:t>Why off-peak is zero: that was the control. Empty roads should not need a forecast.</a:t>
            </a:r>
          </a:p>
          <a:p/>
          <a:p>
            <a:r>
              <a:t>Oracle: we are 1.69% slower. Required.</a:t>
            </a:r>
          </a:p>
          <a:p/>
          <a:p>
            <a:r>
              <a:t>Code: GitHub repository Emergency_Routing; tables match results/full_report.txt.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E2761"/>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E8A8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411480"/>
            <a:ext cx="10972800" cy="320040"/>
          </a:xfrm>
          <a:prstGeom prst="rect">
            <a:avLst/>
          </a:prstGeom>
          <a:noFill/>
        </p:spPr>
        <p:txBody>
          <a:bodyPr wrap="square">
            <a:spAutoFit/>
          </a:bodyPr>
          <a:lstStyle/>
          <a:p>
            <a:pPr algn="l"/>
            <a:r>
              <a:rPr sz="1400" b="0">
                <a:solidFill>
                  <a:srgbClr val="CADCFC"/>
                </a:solidFill>
                <a:latin typeface="Calibri"/>
              </a:rPr>
              <a:t>KIRINYAGA UNIVERSITY  ·  SCHOOL OF PURE AND APPLIED SCIENCES</a:t>
            </a:r>
          </a:p>
        </p:txBody>
      </p:sp>
      <p:sp>
        <p:nvSpPr>
          <p:cNvPr id="4" name="TextBox 3"/>
          <p:cNvSpPr txBox="1"/>
          <p:nvPr/>
        </p:nvSpPr>
        <p:spPr>
          <a:xfrm>
            <a:off x="548640" y="960120"/>
            <a:ext cx="10972800" cy="1554480"/>
          </a:xfrm>
          <a:prstGeom prst="rect">
            <a:avLst/>
          </a:prstGeom>
          <a:noFill/>
        </p:spPr>
        <p:txBody>
          <a:bodyPr wrap="square">
            <a:spAutoFit/>
          </a:bodyPr>
          <a:lstStyle/>
          <a:p>
            <a:pPr algn="l"/>
            <a:r>
              <a:rPr sz="3200" b="1">
                <a:solidFill>
                  <a:srgbClr val="FFFFFF"/>
                </a:solidFill>
                <a:latin typeface="Cambria"/>
              </a:rPr>
              <a:t>GRU-Based Predictive Route Optimisation
for Emergency Vehicle Navigation</a:t>
            </a:r>
          </a:p>
        </p:txBody>
      </p:sp>
      <p:sp>
        <p:nvSpPr>
          <p:cNvPr id="5" name="Rectangle 4"/>
          <p:cNvSpPr/>
          <p:nvPr/>
        </p:nvSpPr>
        <p:spPr>
          <a:xfrm>
            <a:off x="548640" y="2606040"/>
            <a:ext cx="2743200" cy="54864"/>
          </a:xfrm>
          <a:prstGeom prst="rect">
            <a:avLst/>
          </a:prstGeom>
          <a:solidFill>
            <a:srgbClr val="E8A8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2834640"/>
            <a:ext cx="10972800" cy="365760"/>
          </a:xfrm>
          <a:prstGeom prst="rect">
            <a:avLst/>
          </a:prstGeom>
          <a:noFill/>
        </p:spPr>
        <p:txBody>
          <a:bodyPr wrap="square">
            <a:spAutoFit/>
          </a:bodyPr>
          <a:lstStyle/>
          <a:p>
            <a:pPr algn="l"/>
            <a:r>
              <a:rPr sz="1800" b="0">
                <a:solidFill>
                  <a:srgbClr val="CADCFC"/>
                </a:solidFill>
                <a:latin typeface="Calibri"/>
              </a:rPr>
              <a:t>Master of Science in Computer Science  ·  Research seminar (15 minutes)</a:t>
            </a:r>
          </a:p>
        </p:txBody>
      </p:sp>
      <p:sp>
        <p:nvSpPr>
          <p:cNvPr id="7" name="TextBox 6"/>
          <p:cNvSpPr txBox="1"/>
          <p:nvPr/>
        </p:nvSpPr>
        <p:spPr>
          <a:xfrm>
            <a:off x="548640" y="3383280"/>
            <a:ext cx="10972800" cy="1005840"/>
          </a:xfrm>
          <a:prstGeom prst="rect">
            <a:avLst/>
          </a:prstGeom>
          <a:noFill/>
        </p:spPr>
        <p:txBody>
          <a:bodyPr wrap="square">
            <a:spAutoFit/>
          </a:bodyPr>
          <a:lstStyle/>
          <a:p>
            <a:pPr algn="l"/>
            <a:r>
              <a:rPr sz="1600" b="0">
                <a:solidFill>
                  <a:srgbClr val="A0B0D0"/>
                </a:solidFill>
                <a:latin typeface="Calibri"/>
              </a:rPr>
              <a:t>Freshia Njoki Macharia  |  PA206/S/25427/24
Supervisors: Dr Gilbert Langat  ·  Dr Stephen Mageto</a:t>
            </a:r>
          </a:p>
        </p:txBody>
      </p:sp>
      <p:sp>
        <p:nvSpPr>
          <p:cNvPr id="8" name="TextBox 7"/>
          <p:cNvSpPr txBox="1"/>
          <p:nvPr/>
        </p:nvSpPr>
        <p:spPr>
          <a:xfrm>
            <a:off x="548640" y="4709160"/>
            <a:ext cx="10972800" cy="640080"/>
          </a:xfrm>
          <a:prstGeom prst="rect">
            <a:avLst/>
          </a:prstGeom>
          <a:noFill/>
        </p:spPr>
        <p:txBody>
          <a:bodyPr wrap="square">
            <a:spAutoFit/>
          </a:bodyPr>
          <a:lstStyle/>
          <a:p>
            <a:pPr algn="l"/>
            <a:r>
              <a:rPr sz="1500" b="0">
                <a:solidFill>
                  <a:srgbClr val="E8A838"/>
                </a:solidFill>
                <a:latin typeface="Calibri"/>
              </a:rPr>
              <a:t>What I will show: a dispatcher-support loop — forecast speeds, time-dependent route, remaining-time update.
Evidence: 900 matched journeys on the METR-LA detector graph.</a:t>
            </a:r>
          </a:p>
        </p:txBody>
      </p:sp>
      <p:sp>
        <p:nvSpPr>
          <p:cNvPr id="9" name="Rectangle 8"/>
          <p:cNvSpPr/>
          <p:nvPr/>
        </p:nvSpPr>
        <p:spPr>
          <a:xfrm>
            <a:off x="0" y="6748272"/>
            <a:ext cx="12191695" cy="109728"/>
          </a:xfrm>
          <a:prstGeom prst="rect">
            <a:avLst/>
          </a:prstGeom>
          <a:solidFill>
            <a:srgbClr val="E8A8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565392"/>
            <a:ext cx="9601200" cy="201168"/>
          </a:xfrm>
          <a:prstGeom prst="rect">
            <a:avLst/>
          </a:prstGeom>
          <a:noFill/>
        </p:spPr>
        <p:txBody>
          <a:bodyPr wrap="none">
            <a:spAutoFit/>
          </a:bodyPr>
          <a:lstStyle/>
          <a:p>
            <a:r>
              <a:rPr sz="1000">
                <a:solidFill>
                  <a:srgbClr val="A0B0D0"/>
                </a:solidFill>
                <a:latin typeface="Calibri"/>
              </a:rPr>
              <a:t>Kirinyaga University  ·  MSc Computer Science  ·  Freshia Njoki Macharia</a:t>
            </a:r>
          </a:p>
        </p:txBody>
      </p:sp>
      <p:sp>
        <p:nvSpPr>
          <p:cNvPr id="11" name="TextBox 10"/>
          <p:cNvSpPr txBox="1"/>
          <p:nvPr/>
        </p:nvSpPr>
        <p:spPr>
          <a:xfrm>
            <a:off x="10607040" y="6565392"/>
            <a:ext cx="1280160" cy="201168"/>
          </a:xfrm>
          <a:prstGeom prst="rect">
            <a:avLst/>
          </a:prstGeom>
          <a:noFill/>
        </p:spPr>
        <p:txBody>
          <a:bodyPr wrap="none">
            <a:spAutoFit/>
          </a:bodyPr>
          <a:lstStyle/>
          <a:p>
            <a:pPr algn="r"/>
            <a:r>
              <a:rPr sz="1000">
                <a:solidFill>
                  <a:srgbClr val="A0B0D0"/>
                </a:solidFill>
                <a:latin typeface="Calibri"/>
              </a:rPr>
              <a:t>1 / 12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1E2761"/>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E8A8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56032"/>
            <a:ext cx="10972800" cy="411480"/>
          </a:xfrm>
          <a:prstGeom prst="rect">
            <a:avLst/>
          </a:prstGeom>
          <a:noFill/>
        </p:spPr>
        <p:txBody>
          <a:bodyPr wrap="square">
            <a:spAutoFit/>
          </a:bodyPr>
          <a:lstStyle/>
          <a:p>
            <a:pPr algn="l"/>
            <a:r>
              <a:rPr sz="2600" b="1">
                <a:solidFill>
                  <a:srgbClr val="FFFFFF"/>
                </a:solidFill>
                <a:latin typeface="Cambria"/>
              </a:rPr>
              <a:t>The problem</a:t>
            </a:r>
          </a:p>
        </p:txBody>
      </p:sp>
      <p:sp>
        <p:nvSpPr>
          <p:cNvPr id="4" name="Rounded Rectangle 3"/>
          <p:cNvSpPr/>
          <p:nvPr/>
        </p:nvSpPr>
        <p:spPr>
          <a:xfrm>
            <a:off x="457200" y="822960"/>
            <a:ext cx="11247120" cy="1554480"/>
          </a:xfrm>
          <a:prstGeom prst="roundRect">
            <a:avLst/>
          </a:prstGeom>
          <a:solidFill>
            <a:srgbClr val="2A35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005840"/>
            <a:ext cx="10789920" cy="1234440"/>
          </a:xfrm>
          <a:prstGeom prst="rect">
            <a:avLst/>
          </a:prstGeom>
          <a:noFill/>
        </p:spPr>
        <p:txBody>
          <a:bodyPr wrap="square">
            <a:spAutoFit/>
          </a:bodyPr>
          <a:lstStyle/>
          <a:p>
            <a:pPr algn="l"/>
            <a:r>
              <a:rPr sz="1700" b="0">
                <a:solidFill>
                  <a:srgbClr val="FFFFFF"/>
                </a:solidFill>
                <a:latin typeface="Calibri"/>
              </a:rPr>
              <a:t>A route that is shortest at dispatch is optimal only for the speeds seen at that moment. If a corridor slows fifteen to thirty minutes later, the vehicle is already committed. That is the failure this study treats.</a:t>
            </a:r>
          </a:p>
        </p:txBody>
      </p:sp>
      <p:sp>
        <p:nvSpPr>
          <p:cNvPr id="6" name="Rounded Rectangle 5"/>
          <p:cNvSpPr/>
          <p:nvPr/>
        </p:nvSpPr>
        <p:spPr>
          <a:xfrm>
            <a:off x="457200" y="2560320"/>
            <a:ext cx="11247120" cy="1115568"/>
          </a:xfrm>
          <a:prstGeom prst="roundRect">
            <a:avLst/>
          </a:prstGeom>
          <a:solidFill>
            <a:srgbClr val="2A35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2670048"/>
            <a:ext cx="10789920" cy="292608"/>
          </a:xfrm>
          <a:prstGeom prst="rect">
            <a:avLst/>
          </a:prstGeom>
          <a:noFill/>
        </p:spPr>
        <p:txBody>
          <a:bodyPr wrap="square">
            <a:spAutoFit/>
          </a:bodyPr>
          <a:lstStyle/>
          <a:p>
            <a:pPr algn="l"/>
            <a:r>
              <a:rPr sz="1600" b="1">
                <a:solidFill>
                  <a:srgbClr val="E8A838"/>
                </a:solidFill>
                <a:latin typeface="Calibri"/>
              </a:rPr>
              <a:t>What dispatch does today</a:t>
            </a:r>
          </a:p>
        </p:txBody>
      </p:sp>
      <p:sp>
        <p:nvSpPr>
          <p:cNvPr id="8" name="TextBox 7"/>
          <p:cNvSpPr txBox="1"/>
          <p:nvPr/>
        </p:nvSpPr>
        <p:spPr>
          <a:xfrm>
            <a:off x="685800" y="2980944"/>
            <a:ext cx="10789920" cy="594360"/>
          </a:xfrm>
          <a:prstGeom prst="rect">
            <a:avLst/>
          </a:prstGeom>
          <a:noFill/>
        </p:spPr>
        <p:txBody>
          <a:bodyPr wrap="square">
            <a:spAutoFit/>
          </a:bodyPr>
          <a:lstStyle/>
          <a:p>
            <a:pPr algn="l"/>
            <a:r>
              <a:rPr sz="1500" b="0">
                <a:solidFill>
                  <a:srgbClr val="FFFFFF"/>
                </a:solidFill>
                <a:latin typeface="Calibri"/>
              </a:rPr>
              <a:t>A current-map shortest path — Dijkstra, or the same idea in A* — using speeds available at departure.</a:t>
            </a:r>
          </a:p>
        </p:txBody>
      </p:sp>
      <p:sp>
        <p:nvSpPr>
          <p:cNvPr id="9" name="Rounded Rectangle 8"/>
          <p:cNvSpPr/>
          <p:nvPr/>
        </p:nvSpPr>
        <p:spPr>
          <a:xfrm>
            <a:off x="457200" y="3794760"/>
            <a:ext cx="11247120" cy="1115568"/>
          </a:xfrm>
          <a:prstGeom prst="roundRect">
            <a:avLst/>
          </a:prstGeom>
          <a:solidFill>
            <a:srgbClr val="2A35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3904488"/>
            <a:ext cx="10789920" cy="292608"/>
          </a:xfrm>
          <a:prstGeom prst="rect">
            <a:avLst/>
          </a:prstGeom>
          <a:noFill/>
        </p:spPr>
        <p:txBody>
          <a:bodyPr wrap="square">
            <a:spAutoFit/>
          </a:bodyPr>
          <a:lstStyle/>
          <a:p>
            <a:pPr algn="l"/>
            <a:r>
              <a:rPr sz="1600" b="1">
                <a:solidFill>
                  <a:srgbClr val="E8A838"/>
                </a:solidFill>
                <a:latin typeface="Calibri"/>
              </a:rPr>
              <a:t>What the literature leaves open</a:t>
            </a:r>
          </a:p>
        </p:txBody>
      </p:sp>
      <p:sp>
        <p:nvSpPr>
          <p:cNvPr id="11" name="TextBox 10"/>
          <p:cNvSpPr txBox="1"/>
          <p:nvPr/>
        </p:nvSpPr>
        <p:spPr>
          <a:xfrm>
            <a:off x="685800" y="4215384"/>
            <a:ext cx="10789920" cy="594360"/>
          </a:xfrm>
          <a:prstGeom prst="rect">
            <a:avLst/>
          </a:prstGeom>
          <a:noFill/>
        </p:spPr>
        <p:txBody>
          <a:bodyPr wrap="square">
            <a:spAutoFit/>
          </a:bodyPr>
          <a:lstStyle/>
          <a:p>
            <a:pPr algn="l"/>
            <a:r>
              <a:rPr sz="1500" b="0">
                <a:solidFill>
                  <a:srgbClr val="FFFFFF"/>
                </a:solidFill>
                <a:latin typeface="Calibri"/>
              </a:rPr>
              <a:t>Strong predictors and strong time-dependent routers are usually published apart. An emergency loop that joins a learned forecast, time-dependent search, and a tested remaining-time trigger, inside one second, is missing.</a:t>
            </a:r>
          </a:p>
        </p:txBody>
      </p:sp>
      <p:sp>
        <p:nvSpPr>
          <p:cNvPr id="12" name="Rounded Rectangle 11"/>
          <p:cNvSpPr/>
          <p:nvPr/>
        </p:nvSpPr>
        <p:spPr>
          <a:xfrm>
            <a:off x="457200" y="5029200"/>
            <a:ext cx="11247120" cy="1115568"/>
          </a:xfrm>
          <a:prstGeom prst="roundRect">
            <a:avLst/>
          </a:prstGeom>
          <a:solidFill>
            <a:srgbClr val="2A35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85800" y="5138928"/>
            <a:ext cx="10789920" cy="292608"/>
          </a:xfrm>
          <a:prstGeom prst="rect">
            <a:avLst/>
          </a:prstGeom>
          <a:noFill/>
        </p:spPr>
        <p:txBody>
          <a:bodyPr wrap="square">
            <a:spAutoFit/>
          </a:bodyPr>
          <a:lstStyle/>
          <a:p>
            <a:pPr algn="l"/>
            <a:r>
              <a:rPr sz="1600" b="1">
                <a:solidFill>
                  <a:srgbClr val="E8A838"/>
                </a:solidFill>
                <a:latin typeface="Calibri"/>
              </a:rPr>
              <a:t>Where the numbers come from</a:t>
            </a:r>
          </a:p>
        </p:txBody>
      </p:sp>
      <p:sp>
        <p:nvSpPr>
          <p:cNvPr id="14" name="TextBox 13"/>
          <p:cNvSpPr txBox="1"/>
          <p:nvPr/>
        </p:nvSpPr>
        <p:spPr>
          <a:xfrm>
            <a:off x="685800" y="5449824"/>
            <a:ext cx="10789920" cy="594360"/>
          </a:xfrm>
          <a:prstGeom prst="rect">
            <a:avLst/>
          </a:prstGeom>
          <a:noFill/>
        </p:spPr>
        <p:txBody>
          <a:bodyPr wrap="square">
            <a:spAutoFit/>
          </a:bodyPr>
          <a:lstStyle/>
          <a:p>
            <a:pPr algn="l"/>
            <a:r>
              <a:rPr sz="1500" b="0">
                <a:solidFill>
                  <a:srgbClr val="FFFFFF"/>
                </a:solidFill>
                <a:latin typeface="Calibri"/>
              </a:rPr>
              <a:t>Public freeway detector archives (METR-LA for routing; PEMS-BAY for a second-city prediction check). Replicable measurement. Local mixed traffic is the next deployment step, not this table.</a:t>
            </a:r>
          </a:p>
        </p:txBody>
      </p:sp>
      <p:sp>
        <p:nvSpPr>
          <p:cNvPr id="15" name="Rectangle 14"/>
          <p:cNvSpPr/>
          <p:nvPr/>
        </p:nvSpPr>
        <p:spPr>
          <a:xfrm>
            <a:off x="0" y="6748272"/>
            <a:ext cx="12191695" cy="109728"/>
          </a:xfrm>
          <a:prstGeom prst="rect">
            <a:avLst/>
          </a:prstGeom>
          <a:solidFill>
            <a:srgbClr val="E8A8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5760" y="6565392"/>
            <a:ext cx="9601200" cy="201168"/>
          </a:xfrm>
          <a:prstGeom prst="rect">
            <a:avLst/>
          </a:prstGeom>
          <a:noFill/>
        </p:spPr>
        <p:txBody>
          <a:bodyPr wrap="none">
            <a:spAutoFit/>
          </a:bodyPr>
          <a:lstStyle/>
          <a:p>
            <a:r>
              <a:rPr sz="1000">
                <a:solidFill>
                  <a:srgbClr val="A0B0D0"/>
                </a:solidFill>
                <a:latin typeface="Calibri"/>
              </a:rPr>
              <a:t>Kirinyaga University  ·  MSc Computer Science  ·  Freshia Njoki Macharia</a:t>
            </a:r>
          </a:p>
        </p:txBody>
      </p:sp>
      <p:sp>
        <p:nvSpPr>
          <p:cNvPr id="17" name="TextBox 16"/>
          <p:cNvSpPr txBox="1"/>
          <p:nvPr/>
        </p:nvSpPr>
        <p:spPr>
          <a:xfrm>
            <a:off x="10607040" y="6565392"/>
            <a:ext cx="1280160" cy="201168"/>
          </a:xfrm>
          <a:prstGeom prst="rect">
            <a:avLst/>
          </a:prstGeom>
          <a:noFill/>
        </p:spPr>
        <p:txBody>
          <a:bodyPr wrap="none">
            <a:spAutoFit/>
          </a:bodyPr>
          <a:lstStyle/>
          <a:p>
            <a:pPr algn="r"/>
            <a:r>
              <a:rPr sz="1000">
                <a:solidFill>
                  <a:srgbClr val="A0B0D0"/>
                </a:solidFill>
                <a:latin typeface="Calibri"/>
              </a:rPr>
              <a:t>2 / 12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1E2761"/>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E8A8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56032"/>
            <a:ext cx="10972800" cy="365760"/>
          </a:xfrm>
          <a:prstGeom prst="rect">
            <a:avLst/>
          </a:prstGeom>
          <a:noFill/>
        </p:spPr>
        <p:txBody>
          <a:bodyPr wrap="square">
            <a:spAutoFit/>
          </a:bodyPr>
          <a:lstStyle/>
          <a:p>
            <a:pPr algn="l"/>
            <a:r>
              <a:rPr sz="2600" b="1">
                <a:solidFill>
                  <a:srgbClr val="FFFFFF"/>
                </a:solidFill>
                <a:latin typeface="Cambria"/>
              </a:rPr>
              <a:t>Purpose and objectives</a:t>
            </a:r>
          </a:p>
        </p:txBody>
      </p:sp>
      <p:sp>
        <p:nvSpPr>
          <p:cNvPr id="4" name="Rounded Rectangle 3"/>
          <p:cNvSpPr/>
          <p:nvPr/>
        </p:nvSpPr>
        <p:spPr>
          <a:xfrm>
            <a:off x="457200" y="731520"/>
            <a:ext cx="11247120" cy="1234440"/>
          </a:xfrm>
          <a:prstGeom prst="roundRect">
            <a:avLst/>
          </a:prstGeom>
          <a:solidFill>
            <a:srgbClr val="2A35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841248"/>
            <a:ext cx="10789920" cy="256032"/>
          </a:xfrm>
          <a:prstGeom prst="rect">
            <a:avLst/>
          </a:prstGeom>
          <a:noFill/>
        </p:spPr>
        <p:txBody>
          <a:bodyPr wrap="square">
            <a:spAutoFit/>
          </a:bodyPr>
          <a:lstStyle/>
          <a:p>
            <a:pPr algn="l"/>
            <a:r>
              <a:rPr sz="1400" b="1">
                <a:solidFill>
                  <a:srgbClr val="E8A838"/>
                </a:solidFill>
                <a:latin typeface="Calibri"/>
              </a:rPr>
              <a:t>Purpose</a:t>
            </a:r>
          </a:p>
        </p:txBody>
      </p:sp>
      <p:sp>
        <p:nvSpPr>
          <p:cNvPr id="6" name="TextBox 5"/>
          <p:cNvSpPr txBox="1"/>
          <p:nvPr/>
        </p:nvSpPr>
        <p:spPr>
          <a:xfrm>
            <a:off x="685800" y="1143000"/>
            <a:ext cx="10789920" cy="640080"/>
          </a:xfrm>
          <a:prstGeom prst="rect">
            <a:avLst/>
          </a:prstGeom>
          <a:noFill/>
        </p:spPr>
        <p:txBody>
          <a:bodyPr wrap="square">
            <a:spAutoFit/>
          </a:bodyPr>
          <a:lstStyle/>
          <a:p>
            <a:pPr algn="l"/>
            <a:r>
              <a:rPr sz="1600" b="0">
                <a:solidFill>
                  <a:srgbClr val="FFFFFF"/>
                </a:solidFill>
                <a:latin typeface="Calibri"/>
              </a:rPr>
              <a:t>To design and evaluate a dispatcher-support framework that cuts realised emergency-vehicle travel time by joining GRU speed forecasts, time-dependent A*, and a remaining-time threshold.</a:t>
            </a:r>
          </a:p>
        </p:txBody>
      </p:sp>
      <p:sp>
        <p:nvSpPr>
          <p:cNvPr id="7" name="Rounded Rectangle 6"/>
          <p:cNvSpPr/>
          <p:nvPr/>
        </p:nvSpPr>
        <p:spPr>
          <a:xfrm>
            <a:off x="457200" y="2148840"/>
            <a:ext cx="11247120" cy="566928"/>
          </a:xfrm>
          <a:prstGeom prst="roundRect">
            <a:avLst/>
          </a:prstGeom>
          <a:solidFill>
            <a:srgbClr val="2A35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2276856"/>
            <a:ext cx="1188720" cy="320040"/>
          </a:xfrm>
          <a:prstGeom prst="rect">
            <a:avLst/>
          </a:prstGeom>
          <a:noFill/>
        </p:spPr>
        <p:txBody>
          <a:bodyPr wrap="square">
            <a:spAutoFit/>
          </a:bodyPr>
          <a:lstStyle/>
          <a:p>
            <a:pPr algn="l"/>
            <a:r>
              <a:rPr sz="1500" b="1">
                <a:solidFill>
                  <a:srgbClr val="E8A838"/>
                </a:solidFill>
                <a:latin typeface="Calibri"/>
              </a:rPr>
              <a:t>Obj. 1</a:t>
            </a:r>
          </a:p>
        </p:txBody>
      </p:sp>
      <p:sp>
        <p:nvSpPr>
          <p:cNvPr id="9" name="TextBox 8"/>
          <p:cNvSpPr txBox="1"/>
          <p:nvPr/>
        </p:nvSpPr>
        <p:spPr>
          <a:xfrm>
            <a:off x="1920240" y="2276856"/>
            <a:ext cx="9509760" cy="347472"/>
          </a:xfrm>
          <a:prstGeom prst="rect">
            <a:avLst/>
          </a:prstGeom>
          <a:noFill/>
        </p:spPr>
        <p:txBody>
          <a:bodyPr wrap="square">
            <a:spAutoFit/>
          </a:bodyPr>
          <a:lstStyle/>
          <a:p>
            <a:pPr algn="l"/>
            <a:r>
              <a:rPr sz="1500" b="0">
                <a:solidFill>
                  <a:srgbClr val="FFFFFF"/>
                </a:solidFill>
                <a:latin typeface="Calibri"/>
              </a:rPr>
              <a:t>Map the gaps among emergency routing, traffic prediction, and time-dependent pathfinding.</a:t>
            </a:r>
          </a:p>
        </p:txBody>
      </p:sp>
      <p:sp>
        <p:nvSpPr>
          <p:cNvPr id="10" name="Rounded Rectangle 9"/>
          <p:cNvSpPr/>
          <p:nvPr/>
        </p:nvSpPr>
        <p:spPr>
          <a:xfrm>
            <a:off x="457200" y="2788920"/>
            <a:ext cx="11247120" cy="566928"/>
          </a:xfrm>
          <a:prstGeom prst="roundRect">
            <a:avLst/>
          </a:prstGeom>
          <a:solidFill>
            <a:srgbClr val="2A35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2916936"/>
            <a:ext cx="1188720" cy="320040"/>
          </a:xfrm>
          <a:prstGeom prst="rect">
            <a:avLst/>
          </a:prstGeom>
          <a:noFill/>
        </p:spPr>
        <p:txBody>
          <a:bodyPr wrap="square">
            <a:spAutoFit/>
          </a:bodyPr>
          <a:lstStyle/>
          <a:p>
            <a:pPr algn="l"/>
            <a:r>
              <a:rPr sz="1500" b="1">
                <a:solidFill>
                  <a:srgbClr val="E8A838"/>
                </a:solidFill>
                <a:latin typeface="Calibri"/>
              </a:rPr>
              <a:t>Obj. 2</a:t>
            </a:r>
          </a:p>
        </p:txBody>
      </p:sp>
      <p:sp>
        <p:nvSpPr>
          <p:cNvPr id="12" name="TextBox 11"/>
          <p:cNvSpPr txBox="1"/>
          <p:nvPr/>
        </p:nvSpPr>
        <p:spPr>
          <a:xfrm>
            <a:off x="1920240" y="2916936"/>
            <a:ext cx="9509760" cy="347472"/>
          </a:xfrm>
          <a:prstGeom prst="rect">
            <a:avLst/>
          </a:prstGeom>
          <a:noFill/>
        </p:spPr>
        <p:txBody>
          <a:bodyPr wrap="square">
            <a:spAutoFit/>
          </a:bodyPr>
          <a:lstStyle/>
          <a:p>
            <a:pPr algn="l"/>
            <a:r>
              <a:rPr sz="1500" b="0">
                <a:solidFill>
                  <a:srgbClr val="FFFFFF"/>
                </a:solidFill>
                <a:latin typeface="Calibri"/>
              </a:rPr>
              <a:t>Build the three-part system: GRU predictor, time-dependent A*, remaining-time controller.</a:t>
            </a:r>
          </a:p>
        </p:txBody>
      </p:sp>
      <p:sp>
        <p:nvSpPr>
          <p:cNvPr id="13" name="Rounded Rectangle 12"/>
          <p:cNvSpPr/>
          <p:nvPr/>
        </p:nvSpPr>
        <p:spPr>
          <a:xfrm>
            <a:off x="457200" y="3429000"/>
            <a:ext cx="11247120" cy="566928"/>
          </a:xfrm>
          <a:prstGeom prst="roundRect">
            <a:avLst/>
          </a:prstGeom>
          <a:solidFill>
            <a:srgbClr val="2A35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 y="3557016"/>
            <a:ext cx="1188720" cy="320040"/>
          </a:xfrm>
          <a:prstGeom prst="rect">
            <a:avLst/>
          </a:prstGeom>
          <a:noFill/>
        </p:spPr>
        <p:txBody>
          <a:bodyPr wrap="square">
            <a:spAutoFit/>
          </a:bodyPr>
          <a:lstStyle/>
          <a:p>
            <a:pPr algn="l"/>
            <a:r>
              <a:rPr sz="1500" b="1">
                <a:solidFill>
                  <a:srgbClr val="E8A838"/>
                </a:solidFill>
                <a:latin typeface="Calibri"/>
              </a:rPr>
              <a:t>Obj. 3</a:t>
            </a:r>
          </a:p>
        </p:txBody>
      </p:sp>
      <p:sp>
        <p:nvSpPr>
          <p:cNvPr id="15" name="TextBox 14"/>
          <p:cNvSpPr txBox="1"/>
          <p:nvPr/>
        </p:nvSpPr>
        <p:spPr>
          <a:xfrm>
            <a:off x="1920240" y="3557016"/>
            <a:ext cx="9509760" cy="347472"/>
          </a:xfrm>
          <a:prstGeom prst="rect">
            <a:avLst/>
          </a:prstGeom>
          <a:noFill/>
        </p:spPr>
        <p:txBody>
          <a:bodyPr wrap="square">
            <a:spAutoFit/>
          </a:bodyPr>
          <a:lstStyle/>
          <a:p>
            <a:pPr algn="l"/>
            <a:r>
              <a:rPr sz="1500" b="0">
                <a:solidFill>
                  <a:srgbClr val="FFFFFF"/>
                </a:solidFill>
                <a:latin typeface="Calibri"/>
              </a:rPr>
              <a:t>Find which remaining-time threshold δ to use — 5%, 10%, 15%, or 20%.</a:t>
            </a:r>
          </a:p>
        </p:txBody>
      </p:sp>
      <p:sp>
        <p:nvSpPr>
          <p:cNvPr id="16" name="Rounded Rectangle 15"/>
          <p:cNvSpPr/>
          <p:nvPr/>
        </p:nvSpPr>
        <p:spPr>
          <a:xfrm>
            <a:off x="457200" y="4069079"/>
            <a:ext cx="11247120" cy="566928"/>
          </a:xfrm>
          <a:prstGeom prst="roundRect">
            <a:avLst/>
          </a:prstGeom>
          <a:solidFill>
            <a:srgbClr val="2A35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0080" y="4197095"/>
            <a:ext cx="1188720" cy="320040"/>
          </a:xfrm>
          <a:prstGeom prst="rect">
            <a:avLst/>
          </a:prstGeom>
          <a:noFill/>
        </p:spPr>
        <p:txBody>
          <a:bodyPr wrap="square">
            <a:spAutoFit/>
          </a:bodyPr>
          <a:lstStyle/>
          <a:p>
            <a:pPr algn="l"/>
            <a:r>
              <a:rPr sz="1500" b="1">
                <a:solidFill>
                  <a:srgbClr val="E8A838"/>
                </a:solidFill>
                <a:latin typeface="Calibri"/>
              </a:rPr>
              <a:t>Obj. 4</a:t>
            </a:r>
          </a:p>
        </p:txBody>
      </p:sp>
      <p:sp>
        <p:nvSpPr>
          <p:cNvPr id="18" name="TextBox 17"/>
          <p:cNvSpPr txBox="1"/>
          <p:nvPr/>
        </p:nvSpPr>
        <p:spPr>
          <a:xfrm>
            <a:off x="1920240" y="4197095"/>
            <a:ext cx="9509760" cy="347472"/>
          </a:xfrm>
          <a:prstGeom prst="rect">
            <a:avLst/>
          </a:prstGeom>
          <a:noFill/>
        </p:spPr>
        <p:txBody>
          <a:bodyPr wrap="square">
            <a:spAutoFit/>
          </a:bodyPr>
          <a:lstStyle/>
          <a:p>
            <a:pPr algn="l"/>
            <a:r>
              <a:rPr sz="1500" b="0">
                <a:solidFill>
                  <a:srgbClr val="FFFFFF"/>
                </a:solidFill>
                <a:latin typeface="Calibri"/>
              </a:rPr>
              <a:t>Measure realised travel time and latency against four baselines, inside one second.</a:t>
            </a:r>
          </a:p>
        </p:txBody>
      </p:sp>
      <p:sp>
        <p:nvSpPr>
          <p:cNvPr id="19" name="Rectangle 18"/>
          <p:cNvSpPr/>
          <p:nvPr/>
        </p:nvSpPr>
        <p:spPr>
          <a:xfrm>
            <a:off x="0" y="6748272"/>
            <a:ext cx="12191695" cy="109728"/>
          </a:xfrm>
          <a:prstGeom prst="rect">
            <a:avLst/>
          </a:prstGeom>
          <a:solidFill>
            <a:srgbClr val="E8A8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65760" y="6565392"/>
            <a:ext cx="9601200" cy="201168"/>
          </a:xfrm>
          <a:prstGeom prst="rect">
            <a:avLst/>
          </a:prstGeom>
          <a:noFill/>
        </p:spPr>
        <p:txBody>
          <a:bodyPr wrap="none">
            <a:spAutoFit/>
          </a:bodyPr>
          <a:lstStyle/>
          <a:p>
            <a:r>
              <a:rPr sz="1000">
                <a:solidFill>
                  <a:srgbClr val="A0B0D0"/>
                </a:solidFill>
                <a:latin typeface="Calibri"/>
              </a:rPr>
              <a:t>Kirinyaga University  ·  MSc Computer Science  ·  Freshia Njoki Macharia</a:t>
            </a:r>
          </a:p>
        </p:txBody>
      </p:sp>
      <p:sp>
        <p:nvSpPr>
          <p:cNvPr id="21" name="TextBox 20"/>
          <p:cNvSpPr txBox="1"/>
          <p:nvPr/>
        </p:nvSpPr>
        <p:spPr>
          <a:xfrm>
            <a:off x="10607040" y="6565392"/>
            <a:ext cx="1280160" cy="201168"/>
          </a:xfrm>
          <a:prstGeom prst="rect">
            <a:avLst/>
          </a:prstGeom>
          <a:noFill/>
        </p:spPr>
        <p:txBody>
          <a:bodyPr wrap="none">
            <a:spAutoFit/>
          </a:bodyPr>
          <a:lstStyle/>
          <a:p>
            <a:pPr algn="r"/>
            <a:r>
              <a:rPr sz="1000">
                <a:solidFill>
                  <a:srgbClr val="A0B0D0"/>
                </a:solidFill>
                <a:latin typeface="Calibri"/>
              </a:rPr>
              <a:t>3 / 12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E2761"/>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E8A8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56032"/>
            <a:ext cx="10972800" cy="411480"/>
          </a:xfrm>
          <a:prstGeom prst="rect">
            <a:avLst/>
          </a:prstGeom>
          <a:noFill/>
        </p:spPr>
        <p:txBody>
          <a:bodyPr wrap="square">
            <a:spAutoFit/>
          </a:bodyPr>
          <a:lstStyle/>
          <a:p>
            <a:pPr algn="l"/>
            <a:r>
              <a:rPr sz="2600" b="1">
                <a:solidFill>
                  <a:srgbClr val="FFFFFF"/>
                </a:solidFill>
                <a:latin typeface="Cambria"/>
              </a:rPr>
              <a:t>How the loop works</a:t>
            </a:r>
          </a:p>
        </p:txBody>
      </p:sp>
      <p:sp>
        <p:nvSpPr>
          <p:cNvPr id="4" name="Rounded Rectangle 3"/>
          <p:cNvSpPr/>
          <p:nvPr/>
        </p:nvSpPr>
        <p:spPr>
          <a:xfrm>
            <a:off x="411480" y="868680"/>
            <a:ext cx="3657600" cy="2148840"/>
          </a:xfrm>
          <a:prstGeom prst="roundRect">
            <a:avLst/>
          </a:prstGeom>
          <a:solidFill>
            <a:srgbClr val="2A35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94360" y="1051560"/>
            <a:ext cx="3291840" cy="411480"/>
          </a:xfrm>
          <a:prstGeom prst="rect">
            <a:avLst/>
          </a:prstGeom>
          <a:noFill/>
        </p:spPr>
        <p:txBody>
          <a:bodyPr wrap="square">
            <a:spAutoFit/>
          </a:bodyPr>
          <a:lstStyle/>
          <a:p>
            <a:pPr algn="l"/>
            <a:r>
              <a:rPr sz="2800" b="1">
                <a:solidFill>
                  <a:srgbClr val="E8A838"/>
                </a:solidFill>
                <a:latin typeface="Cambria"/>
              </a:rPr>
              <a:t>1</a:t>
            </a:r>
          </a:p>
        </p:txBody>
      </p:sp>
      <p:sp>
        <p:nvSpPr>
          <p:cNvPr id="6" name="TextBox 5"/>
          <p:cNvSpPr txBox="1"/>
          <p:nvPr/>
        </p:nvSpPr>
        <p:spPr>
          <a:xfrm>
            <a:off x="594360" y="1554480"/>
            <a:ext cx="3291840" cy="365760"/>
          </a:xfrm>
          <a:prstGeom prst="rect">
            <a:avLst/>
          </a:prstGeom>
          <a:noFill/>
        </p:spPr>
        <p:txBody>
          <a:bodyPr wrap="square">
            <a:spAutoFit/>
          </a:bodyPr>
          <a:lstStyle/>
          <a:p>
            <a:pPr algn="l"/>
            <a:r>
              <a:rPr sz="1800" b="1">
                <a:solidFill>
                  <a:srgbClr val="CADCFC"/>
                </a:solidFill>
                <a:latin typeface="Calibri"/>
              </a:rPr>
              <a:t>Observe</a:t>
            </a:r>
          </a:p>
        </p:txBody>
      </p:sp>
      <p:sp>
        <p:nvSpPr>
          <p:cNvPr id="7" name="TextBox 6"/>
          <p:cNvSpPr txBox="1"/>
          <p:nvPr/>
        </p:nvSpPr>
        <p:spPr>
          <a:xfrm>
            <a:off x="594360" y="2011680"/>
            <a:ext cx="3291840" cy="777240"/>
          </a:xfrm>
          <a:prstGeom prst="rect">
            <a:avLst/>
          </a:prstGeom>
          <a:noFill/>
        </p:spPr>
        <p:txBody>
          <a:bodyPr wrap="square">
            <a:spAutoFit/>
          </a:bodyPr>
          <a:lstStyle/>
          <a:p>
            <a:pPr algn="l"/>
            <a:r>
              <a:rPr sz="1400" b="0">
                <a:solidFill>
                  <a:srgbClr val="FFFFFF"/>
                </a:solidFill>
                <a:latin typeface="Calibri"/>
              </a:rPr>
              <a:t>Last 60 minutes of detector speeds — 12 frames, five minutes each.</a:t>
            </a:r>
          </a:p>
        </p:txBody>
      </p:sp>
      <p:sp>
        <p:nvSpPr>
          <p:cNvPr id="8" name="Rounded Rectangle 7"/>
          <p:cNvSpPr/>
          <p:nvPr/>
        </p:nvSpPr>
        <p:spPr>
          <a:xfrm>
            <a:off x="4251960" y="868680"/>
            <a:ext cx="3657600" cy="2148840"/>
          </a:xfrm>
          <a:prstGeom prst="roundRect">
            <a:avLst/>
          </a:prstGeom>
          <a:solidFill>
            <a:srgbClr val="2A35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434840" y="1051560"/>
            <a:ext cx="3291840" cy="411480"/>
          </a:xfrm>
          <a:prstGeom prst="rect">
            <a:avLst/>
          </a:prstGeom>
          <a:noFill/>
        </p:spPr>
        <p:txBody>
          <a:bodyPr wrap="square">
            <a:spAutoFit/>
          </a:bodyPr>
          <a:lstStyle/>
          <a:p>
            <a:pPr algn="l"/>
            <a:r>
              <a:rPr sz="2800" b="1">
                <a:solidFill>
                  <a:srgbClr val="E8A838"/>
                </a:solidFill>
                <a:latin typeface="Cambria"/>
              </a:rPr>
              <a:t>2</a:t>
            </a:r>
          </a:p>
        </p:txBody>
      </p:sp>
      <p:sp>
        <p:nvSpPr>
          <p:cNvPr id="10" name="TextBox 9"/>
          <p:cNvSpPr txBox="1"/>
          <p:nvPr/>
        </p:nvSpPr>
        <p:spPr>
          <a:xfrm>
            <a:off x="4434840" y="1554480"/>
            <a:ext cx="3291840" cy="365760"/>
          </a:xfrm>
          <a:prstGeom prst="rect">
            <a:avLst/>
          </a:prstGeom>
          <a:noFill/>
        </p:spPr>
        <p:txBody>
          <a:bodyPr wrap="square">
            <a:spAutoFit/>
          </a:bodyPr>
          <a:lstStyle/>
          <a:p>
            <a:pPr algn="l"/>
            <a:r>
              <a:rPr sz="1800" b="1">
                <a:solidFill>
                  <a:srgbClr val="CADCFC"/>
                </a:solidFill>
                <a:latin typeface="Calibri"/>
              </a:rPr>
              <a:t>Forecast</a:t>
            </a:r>
          </a:p>
        </p:txBody>
      </p:sp>
      <p:sp>
        <p:nvSpPr>
          <p:cNvPr id="11" name="TextBox 10"/>
          <p:cNvSpPr txBox="1"/>
          <p:nvPr/>
        </p:nvSpPr>
        <p:spPr>
          <a:xfrm>
            <a:off x="4434840" y="2011680"/>
            <a:ext cx="3291840" cy="777240"/>
          </a:xfrm>
          <a:prstGeom prst="rect">
            <a:avLst/>
          </a:prstGeom>
          <a:noFill/>
        </p:spPr>
        <p:txBody>
          <a:bodyPr wrap="square">
            <a:spAutoFit/>
          </a:bodyPr>
          <a:lstStyle/>
          <a:p>
            <a:pPr algn="l"/>
            <a:r>
              <a:rPr sz="1400" b="0">
                <a:solidFill>
                  <a:srgbClr val="FFFFFF"/>
                </a:solidFill>
                <a:latin typeface="Calibri"/>
              </a:rPr>
              <a:t>Two-layer GRU, 64 units, dropout 0.2. Next 30 minutes — 6 frames.</a:t>
            </a:r>
          </a:p>
        </p:txBody>
      </p:sp>
      <p:sp>
        <p:nvSpPr>
          <p:cNvPr id="12" name="Rounded Rectangle 11"/>
          <p:cNvSpPr/>
          <p:nvPr/>
        </p:nvSpPr>
        <p:spPr>
          <a:xfrm>
            <a:off x="8092440" y="868680"/>
            <a:ext cx="3657600" cy="2148840"/>
          </a:xfrm>
          <a:prstGeom prst="roundRect">
            <a:avLst/>
          </a:prstGeom>
          <a:solidFill>
            <a:srgbClr val="2A35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75319" y="1051560"/>
            <a:ext cx="3291840" cy="411480"/>
          </a:xfrm>
          <a:prstGeom prst="rect">
            <a:avLst/>
          </a:prstGeom>
          <a:noFill/>
        </p:spPr>
        <p:txBody>
          <a:bodyPr wrap="square">
            <a:spAutoFit/>
          </a:bodyPr>
          <a:lstStyle/>
          <a:p>
            <a:pPr algn="l"/>
            <a:r>
              <a:rPr sz="2800" b="1">
                <a:solidFill>
                  <a:srgbClr val="E8A838"/>
                </a:solidFill>
                <a:latin typeface="Cambria"/>
              </a:rPr>
              <a:t>3</a:t>
            </a:r>
          </a:p>
        </p:txBody>
      </p:sp>
      <p:sp>
        <p:nvSpPr>
          <p:cNvPr id="14" name="TextBox 13"/>
          <p:cNvSpPr txBox="1"/>
          <p:nvPr/>
        </p:nvSpPr>
        <p:spPr>
          <a:xfrm>
            <a:off x="8275319" y="1554480"/>
            <a:ext cx="3291840" cy="365760"/>
          </a:xfrm>
          <a:prstGeom prst="rect">
            <a:avLst/>
          </a:prstGeom>
          <a:noFill/>
        </p:spPr>
        <p:txBody>
          <a:bodyPr wrap="square">
            <a:spAutoFit/>
          </a:bodyPr>
          <a:lstStyle/>
          <a:p>
            <a:pPr algn="l"/>
            <a:r>
              <a:rPr sz="1800" b="1">
                <a:solidFill>
                  <a:srgbClr val="CADCFC"/>
                </a:solidFill>
                <a:latin typeface="Calibri"/>
              </a:rPr>
              <a:t>Cost</a:t>
            </a:r>
          </a:p>
        </p:txBody>
      </p:sp>
      <p:sp>
        <p:nvSpPr>
          <p:cNvPr id="15" name="TextBox 14"/>
          <p:cNvSpPr txBox="1"/>
          <p:nvPr/>
        </p:nvSpPr>
        <p:spPr>
          <a:xfrm>
            <a:off x="8275319" y="2011680"/>
            <a:ext cx="3291840" cy="777240"/>
          </a:xfrm>
          <a:prstGeom prst="rect">
            <a:avLst/>
          </a:prstGeom>
          <a:noFill/>
        </p:spPr>
        <p:txBody>
          <a:bodyPr wrap="square">
            <a:spAutoFit/>
          </a:bodyPr>
          <a:lstStyle/>
          <a:p>
            <a:pPr algn="l"/>
            <a:r>
              <a:rPr sz="1400" b="0">
                <a:solidFill>
                  <a:srgbClr val="FFFFFF"/>
                </a:solidFill>
                <a:latin typeface="Calibri"/>
              </a:rPr>
              <a:t>Predicted miles per hour become travel time on each detector-to-detector edge.</a:t>
            </a:r>
          </a:p>
        </p:txBody>
      </p:sp>
      <p:sp>
        <p:nvSpPr>
          <p:cNvPr id="16" name="Rounded Rectangle 15"/>
          <p:cNvSpPr/>
          <p:nvPr/>
        </p:nvSpPr>
        <p:spPr>
          <a:xfrm>
            <a:off x="411480" y="3200400"/>
            <a:ext cx="3657600" cy="2148840"/>
          </a:xfrm>
          <a:prstGeom prst="roundRect">
            <a:avLst/>
          </a:prstGeom>
          <a:solidFill>
            <a:srgbClr val="2A35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94360" y="3383280"/>
            <a:ext cx="3291840" cy="411480"/>
          </a:xfrm>
          <a:prstGeom prst="rect">
            <a:avLst/>
          </a:prstGeom>
          <a:noFill/>
        </p:spPr>
        <p:txBody>
          <a:bodyPr wrap="square">
            <a:spAutoFit/>
          </a:bodyPr>
          <a:lstStyle/>
          <a:p>
            <a:pPr algn="l"/>
            <a:r>
              <a:rPr sz="2800" b="1">
                <a:solidFill>
                  <a:srgbClr val="E8A838"/>
                </a:solidFill>
                <a:latin typeface="Cambria"/>
              </a:rPr>
              <a:t>4</a:t>
            </a:r>
          </a:p>
        </p:txBody>
      </p:sp>
      <p:sp>
        <p:nvSpPr>
          <p:cNvPr id="18" name="TextBox 17"/>
          <p:cNvSpPr txBox="1"/>
          <p:nvPr/>
        </p:nvSpPr>
        <p:spPr>
          <a:xfrm>
            <a:off x="594360" y="3886200"/>
            <a:ext cx="3291840" cy="365760"/>
          </a:xfrm>
          <a:prstGeom prst="rect">
            <a:avLst/>
          </a:prstGeom>
          <a:noFill/>
        </p:spPr>
        <p:txBody>
          <a:bodyPr wrap="square">
            <a:spAutoFit/>
          </a:bodyPr>
          <a:lstStyle/>
          <a:p>
            <a:pPr algn="l"/>
            <a:r>
              <a:rPr sz="1800" b="1">
                <a:solidFill>
                  <a:srgbClr val="CADCFC"/>
                </a:solidFill>
                <a:latin typeface="Calibri"/>
              </a:rPr>
              <a:t>Route</a:t>
            </a:r>
          </a:p>
        </p:txBody>
      </p:sp>
      <p:sp>
        <p:nvSpPr>
          <p:cNvPr id="19" name="TextBox 18"/>
          <p:cNvSpPr txBox="1"/>
          <p:nvPr/>
        </p:nvSpPr>
        <p:spPr>
          <a:xfrm>
            <a:off x="594360" y="4343400"/>
            <a:ext cx="3291840" cy="777240"/>
          </a:xfrm>
          <a:prstGeom prst="rect">
            <a:avLst/>
          </a:prstGeom>
          <a:noFill/>
        </p:spPr>
        <p:txBody>
          <a:bodyPr wrap="square">
            <a:spAutoFit/>
          </a:bodyPr>
          <a:lstStyle/>
          <a:p>
            <a:pPr algn="l"/>
            <a:r>
              <a:rPr sz="1400" b="0">
                <a:solidFill>
                  <a:srgbClr val="FFFFFF"/>
                </a:solidFill>
                <a:latin typeface="Calibri"/>
              </a:rPr>
              <a:t>Time-dependent A* from origin to destination using those changing costs.</a:t>
            </a:r>
          </a:p>
        </p:txBody>
      </p:sp>
      <p:sp>
        <p:nvSpPr>
          <p:cNvPr id="20" name="Rounded Rectangle 19"/>
          <p:cNvSpPr/>
          <p:nvPr/>
        </p:nvSpPr>
        <p:spPr>
          <a:xfrm>
            <a:off x="4251960" y="3200400"/>
            <a:ext cx="3657600" cy="2148840"/>
          </a:xfrm>
          <a:prstGeom prst="roundRect">
            <a:avLst/>
          </a:prstGeom>
          <a:solidFill>
            <a:srgbClr val="2A35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434840" y="3383280"/>
            <a:ext cx="3291840" cy="411480"/>
          </a:xfrm>
          <a:prstGeom prst="rect">
            <a:avLst/>
          </a:prstGeom>
          <a:noFill/>
        </p:spPr>
        <p:txBody>
          <a:bodyPr wrap="square">
            <a:spAutoFit/>
          </a:bodyPr>
          <a:lstStyle/>
          <a:p>
            <a:pPr algn="l"/>
            <a:r>
              <a:rPr sz="2800" b="1">
                <a:solidFill>
                  <a:srgbClr val="E8A838"/>
                </a:solidFill>
                <a:latin typeface="Cambria"/>
              </a:rPr>
              <a:t>5</a:t>
            </a:r>
          </a:p>
        </p:txBody>
      </p:sp>
      <p:sp>
        <p:nvSpPr>
          <p:cNvPr id="22" name="TextBox 21"/>
          <p:cNvSpPr txBox="1"/>
          <p:nvPr/>
        </p:nvSpPr>
        <p:spPr>
          <a:xfrm>
            <a:off x="4434840" y="3886200"/>
            <a:ext cx="3291840" cy="365760"/>
          </a:xfrm>
          <a:prstGeom prst="rect">
            <a:avLst/>
          </a:prstGeom>
          <a:noFill/>
        </p:spPr>
        <p:txBody>
          <a:bodyPr wrap="square">
            <a:spAutoFit/>
          </a:bodyPr>
          <a:lstStyle/>
          <a:p>
            <a:pPr algn="l"/>
            <a:r>
              <a:rPr sz="1800" b="1">
                <a:solidFill>
                  <a:srgbClr val="CADCFC"/>
                </a:solidFill>
                <a:latin typeface="Calibri"/>
              </a:rPr>
              <a:t>Update</a:t>
            </a:r>
          </a:p>
        </p:txBody>
      </p:sp>
      <p:sp>
        <p:nvSpPr>
          <p:cNvPr id="23" name="TextBox 22"/>
          <p:cNvSpPr txBox="1"/>
          <p:nvPr/>
        </p:nvSpPr>
        <p:spPr>
          <a:xfrm>
            <a:off x="4434840" y="4343400"/>
            <a:ext cx="3291840" cy="777240"/>
          </a:xfrm>
          <a:prstGeom prst="rect">
            <a:avLst/>
          </a:prstGeom>
          <a:noFill/>
        </p:spPr>
        <p:txBody>
          <a:bodyPr wrap="square">
            <a:spAutoFit/>
          </a:bodyPr>
          <a:lstStyle/>
          <a:p>
            <a:pPr algn="l"/>
            <a:r>
              <a:rPr sz="1400" b="0">
                <a:solidFill>
                  <a:srgbClr val="FFFFFF"/>
                </a:solidFill>
                <a:latin typeface="Calibri"/>
              </a:rPr>
              <a:t>If remaining time from the current position grows by more than δ, offer a new path.</a:t>
            </a:r>
          </a:p>
        </p:txBody>
      </p:sp>
      <p:sp>
        <p:nvSpPr>
          <p:cNvPr id="24" name="Rounded Rectangle 23"/>
          <p:cNvSpPr/>
          <p:nvPr/>
        </p:nvSpPr>
        <p:spPr>
          <a:xfrm>
            <a:off x="8092440" y="3200400"/>
            <a:ext cx="3657600" cy="2148840"/>
          </a:xfrm>
          <a:prstGeom prst="roundRect">
            <a:avLst/>
          </a:prstGeom>
          <a:solidFill>
            <a:srgbClr val="2A35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275319" y="3383280"/>
            <a:ext cx="3291840" cy="411480"/>
          </a:xfrm>
          <a:prstGeom prst="rect">
            <a:avLst/>
          </a:prstGeom>
          <a:noFill/>
        </p:spPr>
        <p:txBody>
          <a:bodyPr wrap="square">
            <a:spAutoFit/>
          </a:bodyPr>
          <a:lstStyle/>
          <a:p>
            <a:pPr algn="l"/>
            <a:r>
              <a:rPr sz="2800" b="1">
                <a:solidFill>
                  <a:srgbClr val="E8A838"/>
                </a:solidFill>
                <a:latin typeface="Cambria"/>
              </a:rPr>
              <a:t>6</a:t>
            </a:r>
          </a:p>
        </p:txBody>
      </p:sp>
      <p:sp>
        <p:nvSpPr>
          <p:cNvPr id="26" name="TextBox 25"/>
          <p:cNvSpPr txBox="1"/>
          <p:nvPr/>
        </p:nvSpPr>
        <p:spPr>
          <a:xfrm>
            <a:off x="8275319" y="3886200"/>
            <a:ext cx="3291840" cy="365760"/>
          </a:xfrm>
          <a:prstGeom prst="rect">
            <a:avLst/>
          </a:prstGeom>
          <a:noFill/>
        </p:spPr>
        <p:txBody>
          <a:bodyPr wrap="square">
            <a:spAutoFit/>
          </a:bodyPr>
          <a:lstStyle/>
          <a:p>
            <a:pPr algn="l"/>
            <a:r>
              <a:rPr sz="1800" b="1">
                <a:solidFill>
                  <a:srgbClr val="CADCFC"/>
                </a:solidFill>
                <a:latin typeface="Calibri"/>
              </a:rPr>
              <a:t>Decide</a:t>
            </a:r>
          </a:p>
        </p:txBody>
      </p:sp>
      <p:sp>
        <p:nvSpPr>
          <p:cNvPr id="27" name="TextBox 26"/>
          <p:cNvSpPr txBox="1"/>
          <p:nvPr/>
        </p:nvSpPr>
        <p:spPr>
          <a:xfrm>
            <a:off x="8275319" y="4343400"/>
            <a:ext cx="3291840" cy="777240"/>
          </a:xfrm>
          <a:prstGeom prst="rect">
            <a:avLst/>
          </a:prstGeom>
          <a:noFill/>
        </p:spPr>
        <p:txBody>
          <a:bodyPr wrap="square">
            <a:spAutoFit/>
          </a:bodyPr>
          <a:lstStyle/>
          <a:p>
            <a:pPr algn="l"/>
            <a:r>
              <a:rPr sz="1400" b="0">
                <a:solidFill>
                  <a:srgbClr val="FFFFFF"/>
                </a:solidFill>
                <a:latin typeface="Calibri"/>
              </a:rPr>
              <a:t>The dispatcher accepts or rejects. The vehicle is not self-driving.</a:t>
            </a:r>
          </a:p>
        </p:txBody>
      </p:sp>
      <p:sp>
        <p:nvSpPr>
          <p:cNvPr id="28" name="Rectangle 27"/>
          <p:cNvSpPr/>
          <p:nvPr/>
        </p:nvSpPr>
        <p:spPr>
          <a:xfrm>
            <a:off x="0" y="6748272"/>
            <a:ext cx="12191695" cy="109728"/>
          </a:xfrm>
          <a:prstGeom prst="rect">
            <a:avLst/>
          </a:prstGeom>
          <a:solidFill>
            <a:srgbClr val="E8A8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65760" y="6565392"/>
            <a:ext cx="9601200" cy="201168"/>
          </a:xfrm>
          <a:prstGeom prst="rect">
            <a:avLst/>
          </a:prstGeom>
          <a:noFill/>
        </p:spPr>
        <p:txBody>
          <a:bodyPr wrap="none">
            <a:spAutoFit/>
          </a:bodyPr>
          <a:lstStyle/>
          <a:p>
            <a:r>
              <a:rPr sz="1000">
                <a:solidFill>
                  <a:srgbClr val="A0B0D0"/>
                </a:solidFill>
                <a:latin typeface="Calibri"/>
              </a:rPr>
              <a:t>Kirinyaga University  ·  MSc Computer Science  ·  Freshia Njoki Macharia</a:t>
            </a:r>
          </a:p>
        </p:txBody>
      </p:sp>
      <p:sp>
        <p:nvSpPr>
          <p:cNvPr id="30" name="TextBox 29"/>
          <p:cNvSpPr txBox="1"/>
          <p:nvPr/>
        </p:nvSpPr>
        <p:spPr>
          <a:xfrm>
            <a:off x="10607040" y="6565392"/>
            <a:ext cx="1280160" cy="201168"/>
          </a:xfrm>
          <a:prstGeom prst="rect">
            <a:avLst/>
          </a:prstGeom>
          <a:noFill/>
        </p:spPr>
        <p:txBody>
          <a:bodyPr wrap="none">
            <a:spAutoFit/>
          </a:bodyPr>
          <a:lstStyle/>
          <a:p>
            <a:pPr algn="r"/>
            <a:r>
              <a:rPr sz="1000">
                <a:solidFill>
                  <a:srgbClr val="A0B0D0"/>
                </a:solidFill>
                <a:latin typeface="Calibri"/>
              </a:rPr>
              <a:t>4 / 12</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1E2761"/>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E8A8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56032"/>
            <a:ext cx="10972800" cy="365760"/>
          </a:xfrm>
          <a:prstGeom prst="rect">
            <a:avLst/>
          </a:prstGeom>
          <a:noFill/>
        </p:spPr>
        <p:txBody>
          <a:bodyPr wrap="square">
            <a:spAutoFit/>
          </a:bodyPr>
          <a:lstStyle/>
          <a:p>
            <a:pPr algn="l"/>
            <a:r>
              <a:rPr sz="2400" b="1">
                <a:solidFill>
                  <a:srgbClr val="FFFFFF"/>
                </a:solidFill>
                <a:latin typeface="Cambria"/>
              </a:rPr>
              <a:t>What was measured, and how the numbers stay honest</a:t>
            </a:r>
          </a:p>
        </p:txBody>
      </p:sp>
      <p:sp>
        <p:nvSpPr>
          <p:cNvPr id="4" name="Rounded Rectangle 3"/>
          <p:cNvSpPr/>
          <p:nvPr/>
        </p:nvSpPr>
        <p:spPr>
          <a:xfrm>
            <a:off x="411480" y="731520"/>
            <a:ext cx="5577840" cy="5074920"/>
          </a:xfrm>
          <a:prstGeom prst="roundRect">
            <a:avLst/>
          </a:prstGeom>
          <a:solidFill>
            <a:srgbClr val="2A35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896112"/>
            <a:ext cx="5120640" cy="320040"/>
          </a:xfrm>
          <a:prstGeom prst="rect">
            <a:avLst/>
          </a:prstGeom>
          <a:noFill/>
        </p:spPr>
        <p:txBody>
          <a:bodyPr wrap="square">
            <a:spAutoFit/>
          </a:bodyPr>
          <a:lstStyle/>
          <a:p>
            <a:pPr algn="l"/>
            <a:r>
              <a:rPr sz="1600" b="1">
                <a:solidFill>
                  <a:srgbClr val="E8A838"/>
                </a:solidFill>
                <a:latin typeface="Calibri"/>
              </a:rPr>
              <a:t>Design of the 900 journeys</a:t>
            </a:r>
          </a:p>
        </p:txBody>
      </p:sp>
      <p:sp>
        <p:nvSpPr>
          <p:cNvPr id="6" name="TextBox 5"/>
          <p:cNvSpPr txBox="1"/>
          <p:nvPr/>
        </p:nvSpPr>
        <p:spPr>
          <a:xfrm>
            <a:off x="640080" y="1325880"/>
            <a:ext cx="5120640" cy="4206240"/>
          </a:xfrm>
          <a:prstGeom prst="rect">
            <a:avLst/>
          </a:prstGeom>
          <a:noFill/>
        </p:spPr>
        <p:txBody>
          <a:bodyPr wrap="square">
            <a:spAutoFit/>
          </a:bodyPr>
          <a:lstStyle/>
          <a:p>
            <a:pPr algn="l">
              <a:spcAft>
                <a:spcPts val="800"/>
              </a:spcAft>
            </a:pPr>
            <a:r>
              <a:rPr sz="1300">
                <a:solidFill>
                  <a:srgbClr val="FFFFFF"/>
                </a:solidFill>
                <a:latin typeface="Calibri"/>
              </a:rPr>
              <a:t>•  METR-LA: 207 detectors, 34,272 five-minute speed frames. This is the routing graph: 207 nodes, 1,515 edges, a speed on every edge.</a:t>
            </a:r>
          </a:p>
          <a:p>
            <a:pPr algn="l">
              <a:spcAft>
                <a:spcPts val="800"/>
              </a:spcAft>
            </a:pPr>
            <a:r>
              <a:rPr sz="1300">
                <a:solidFill>
                  <a:srgbClr val="FFFFFF"/>
                </a:solidFill>
                <a:latin typeface="Calibri"/>
              </a:rPr>
              <a:t>•  PEMS-BAY: 325 detectors. A second GRU only. Not a second routing city.</a:t>
            </a:r>
          </a:p>
          <a:p>
            <a:pPr algn="l">
              <a:spcAft>
                <a:spcPts val="800"/>
              </a:spcAft>
            </a:pPr>
            <a:r>
              <a:rPr sz="1300">
                <a:solidFill>
                  <a:srgbClr val="FFFFFF"/>
                </a:solidFill>
                <a:latin typeface="Calibri"/>
              </a:rPr>
              <a:t>•  75 origin–destination pairs × 3 traffic regimes × 4 values of δ = 900 journeys.</a:t>
            </a:r>
          </a:p>
          <a:p>
            <a:pPr algn="l">
              <a:spcAft>
                <a:spcPts val="800"/>
              </a:spcAft>
            </a:pPr>
            <a:r>
              <a:rPr sz="1300">
                <a:solidFill>
                  <a:srgbClr val="FFFFFF"/>
                </a:solidFill>
                <a:latin typeface="Calibri"/>
              </a:rPr>
              <a:t>•  Regimes: peak (slowest quarter of test windows), off-peak (fastest quarter), incident (40% slowdown on the planned corridor).</a:t>
            </a:r>
          </a:p>
          <a:p>
            <a:pPr algn="l">
              <a:spcAft>
                <a:spcPts val="800"/>
              </a:spcAft>
            </a:pPr>
            <a:r>
              <a:rPr sz="1300">
                <a:solidFill>
                  <a:srgbClr val="FFFFFF"/>
                </a:solidFill>
                <a:latin typeface="Calibri"/>
              </a:rPr>
              <a:t>•  Four baselines: B1 current Dijkstra; B2 historical A*; B3 reactive A* (one replan when the jam is visible); B4 oracle (actual future speeds).</a:t>
            </a:r>
          </a:p>
        </p:txBody>
      </p:sp>
      <p:sp>
        <p:nvSpPr>
          <p:cNvPr id="7" name="Rounded Rectangle 6"/>
          <p:cNvSpPr/>
          <p:nvPr/>
        </p:nvSpPr>
        <p:spPr>
          <a:xfrm>
            <a:off x="6217920" y="731520"/>
            <a:ext cx="5577840" cy="5074920"/>
          </a:xfrm>
          <a:prstGeom prst="roundRect">
            <a:avLst/>
          </a:prstGeom>
          <a:solidFill>
            <a:srgbClr val="2A35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46520" y="896112"/>
            <a:ext cx="5120640" cy="320040"/>
          </a:xfrm>
          <a:prstGeom prst="rect">
            <a:avLst/>
          </a:prstGeom>
          <a:noFill/>
        </p:spPr>
        <p:txBody>
          <a:bodyPr wrap="square">
            <a:spAutoFit/>
          </a:bodyPr>
          <a:lstStyle/>
          <a:p>
            <a:pPr algn="l"/>
            <a:r>
              <a:rPr sz="1600" b="1">
                <a:solidFill>
                  <a:srgbClr val="E8A838"/>
                </a:solidFill>
                <a:latin typeface="Calibri"/>
              </a:rPr>
              <a:t>What I did so the comparison is fair</a:t>
            </a:r>
          </a:p>
        </p:txBody>
      </p:sp>
      <p:sp>
        <p:nvSpPr>
          <p:cNvPr id="9" name="TextBox 8"/>
          <p:cNvSpPr txBox="1"/>
          <p:nvPr/>
        </p:nvSpPr>
        <p:spPr>
          <a:xfrm>
            <a:off x="6446520" y="1325880"/>
            <a:ext cx="5120640" cy="4206240"/>
          </a:xfrm>
          <a:prstGeom prst="rect">
            <a:avLst/>
          </a:prstGeom>
          <a:noFill/>
        </p:spPr>
        <p:txBody>
          <a:bodyPr wrap="square">
            <a:spAutoFit/>
          </a:bodyPr>
          <a:lstStyle/>
          <a:p>
            <a:pPr algn="l">
              <a:spcAft>
                <a:spcPts val="800"/>
              </a:spcAft>
            </a:pPr>
            <a:r>
              <a:rPr sz="1300">
                <a:solidFill>
                  <a:srgbClr val="FFFFFF"/>
                </a:solidFill>
                <a:latin typeface="Calibri"/>
              </a:rPr>
              <a:t>•  Split time 70 / 15 / 15 before windowing. Scaler fitted on training rows only — no leakage from later weeks.</a:t>
            </a:r>
          </a:p>
          <a:p>
            <a:pPr algn="l">
              <a:spcAft>
                <a:spcPts val="800"/>
              </a:spcAft>
            </a:pPr>
            <a:r>
              <a:rPr sz="1300">
                <a:solidFill>
                  <a:srgbClr val="FFFFFF"/>
                </a:solidFill>
                <a:latin typeface="Calibri"/>
              </a:rPr>
              <a:t>•  The forecast chooses the path. Journey time is then walked on actual future speeds. We do not score a method on its own predictions.</a:t>
            </a:r>
          </a:p>
          <a:p>
            <a:pPr algn="l">
              <a:spcAft>
                <a:spcPts val="800"/>
              </a:spcAft>
            </a:pPr>
            <a:r>
              <a:rPr sz="1300">
                <a:solidFill>
                  <a:srgbClr val="FFFFFF"/>
                </a:solidFill>
                <a:latin typeface="Calibri"/>
              </a:rPr>
              <a:t>•  Same origin, destination, and clock for every method. That is what N will mean on the result figures.</a:t>
            </a:r>
          </a:p>
          <a:p>
            <a:pPr algn="l">
              <a:spcAft>
                <a:spcPts val="800"/>
              </a:spcAft>
            </a:pPr>
            <a:r>
              <a:rPr sz="1300">
                <a:solidFill>
                  <a:srgbClr val="FFFFFF"/>
                </a:solidFill>
                <a:latin typeface="Calibri"/>
              </a:rPr>
              <a:t>•  Incidents sit on Dijkstra’s planned corridor, so the vehicle actually meets the disruption.</a:t>
            </a:r>
          </a:p>
          <a:p>
            <a:pPr algn="l">
              <a:spcAft>
                <a:spcPts val="800"/>
              </a:spcAft>
            </a:pPr>
            <a:r>
              <a:rPr sz="1300">
                <a:solidFill>
                  <a:srgbClr val="FFFFFF"/>
                </a:solidFill>
                <a:latin typeface="Calibri"/>
              </a:rPr>
              <a:t>•  I used the fully instrumented detector graph, not a sparse street map with guessed speeds. Percentages describe that graph.</a:t>
            </a:r>
          </a:p>
        </p:txBody>
      </p:sp>
      <p:sp>
        <p:nvSpPr>
          <p:cNvPr id="10" name="Rectangle 9"/>
          <p:cNvSpPr/>
          <p:nvPr/>
        </p:nvSpPr>
        <p:spPr>
          <a:xfrm>
            <a:off x="0" y="6748272"/>
            <a:ext cx="12191695" cy="109728"/>
          </a:xfrm>
          <a:prstGeom prst="rect">
            <a:avLst/>
          </a:prstGeom>
          <a:solidFill>
            <a:srgbClr val="E8A8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5760" y="6565392"/>
            <a:ext cx="9601200" cy="201168"/>
          </a:xfrm>
          <a:prstGeom prst="rect">
            <a:avLst/>
          </a:prstGeom>
          <a:noFill/>
        </p:spPr>
        <p:txBody>
          <a:bodyPr wrap="none">
            <a:spAutoFit/>
          </a:bodyPr>
          <a:lstStyle/>
          <a:p>
            <a:r>
              <a:rPr sz="1000">
                <a:solidFill>
                  <a:srgbClr val="A0B0D0"/>
                </a:solidFill>
                <a:latin typeface="Calibri"/>
              </a:rPr>
              <a:t>Kirinyaga University  ·  MSc Computer Science  ·  Freshia Njoki Macharia</a:t>
            </a:r>
          </a:p>
        </p:txBody>
      </p:sp>
      <p:sp>
        <p:nvSpPr>
          <p:cNvPr id="12" name="TextBox 11"/>
          <p:cNvSpPr txBox="1"/>
          <p:nvPr/>
        </p:nvSpPr>
        <p:spPr>
          <a:xfrm>
            <a:off x="10607040" y="6565392"/>
            <a:ext cx="1280160" cy="201168"/>
          </a:xfrm>
          <a:prstGeom prst="rect">
            <a:avLst/>
          </a:prstGeom>
          <a:noFill/>
        </p:spPr>
        <p:txBody>
          <a:bodyPr wrap="none">
            <a:spAutoFit/>
          </a:bodyPr>
          <a:lstStyle/>
          <a:p>
            <a:pPr algn="r"/>
            <a:r>
              <a:rPr sz="1000">
                <a:solidFill>
                  <a:srgbClr val="A0B0D0"/>
                </a:solidFill>
                <a:latin typeface="Calibri"/>
              </a:rPr>
              <a:t>5 / 12</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1E2761"/>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E8A8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01168"/>
            <a:ext cx="10972800" cy="365760"/>
          </a:xfrm>
          <a:prstGeom prst="rect">
            <a:avLst/>
          </a:prstGeom>
          <a:noFill/>
        </p:spPr>
        <p:txBody>
          <a:bodyPr wrap="square">
            <a:spAutoFit/>
          </a:bodyPr>
          <a:lstStyle/>
          <a:p>
            <a:pPr algn="l"/>
            <a:r>
              <a:rPr sz="2400" b="1">
                <a:solidFill>
                  <a:srgbClr val="FFFFFF"/>
                </a:solidFill>
                <a:latin typeface="Cambria"/>
              </a:rPr>
              <a:t>Objective 2 — did the GRU forecast usable speeds?</a:t>
            </a:r>
          </a:p>
        </p:txBody>
      </p:sp>
      <p:sp>
        <p:nvSpPr>
          <p:cNvPr id="4" name="Rounded Rectangle 3"/>
          <p:cNvSpPr/>
          <p:nvPr/>
        </p:nvSpPr>
        <p:spPr>
          <a:xfrm>
            <a:off x="411480" y="731520"/>
            <a:ext cx="3657600" cy="1691640"/>
          </a:xfrm>
          <a:prstGeom prst="roundRect">
            <a:avLst/>
          </a:prstGeom>
          <a:solidFill>
            <a:srgbClr val="2A35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868680"/>
            <a:ext cx="3474720" cy="640080"/>
          </a:xfrm>
          <a:prstGeom prst="rect">
            <a:avLst/>
          </a:prstGeom>
          <a:noFill/>
        </p:spPr>
        <p:txBody>
          <a:bodyPr wrap="square">
            <a:spAutoFit/>
          </a:bodyPr>
          <a:lstStyle/>
          <a:p>
            <a:pPr algn="ctr"/>
            <a:r>
              <a:rPr sz="2600" b="1">
                <a:solidFill>
                  <a:srgbClr val="E8A838"/>
                </a:solidFill>
                <a:latin typeface="Cambria"/>
              </a:rPr>
              <a:t>3.48 mph</a:t>
            </a:r>
          </a:p>
        </p:txBody>
      </p:sp>
      <p:sp>
        <p:nvSpPr>
          <p:cNvPr id="6" name="TextBox 5"/>
          <p:cNvSpPr txBox="1"/>
          <p:nvPr/>
        </p:nvSpPr>
        <p:spPr>
          <a:xfrm>
            <a:off x="502920" y="1554480"/>
            <a:ext cx="3474720" cy="685800"/>
          </a:xfrm>
          <a:prstGeom prst="rect">
            <a:avLst/>
          </a:prstGeom>
          <a:noFill/>
        </p:spPr>
        <p:txBody>
          <a:bodyPr wrap="square">
            <a:spAutoFit/>
          </a:bodyPr>
          <a:lstStyle/>
          <a:p>
            <a:pPr algn="ctr"/>
            <a:r>
              <a:rPr sz="1300" b="0">
                <a:solidFill>
                  <a:srgbClr val="FFFFFF"/>
                </a:solidFill>
                <a:latin typeface="Calibri"/>
              </a:rPr>
              <a:t>METR-LA test MAE
RMSE 6.04 mph  ·  27 epochs</a:t>
            </a:r>
          </a:p>
        </p:txBody>
      </p:sp>
      <p:sp>
        <p:nvSpPr>
          <p:cNvPr id="7" name="Rounded Rectangle 6"/>
          <p:cNvSpPr/>
          <p:nvPr/>
        </p:nvSpPr>
        <p:spPr>
          <a:xfrm>
            <a:off x="4251960" y="731520"/>
            <a:ext cx="3657600" cy="1691640"/>
          </a:xfrm>
          <a:prstGeom prst="roundRect">
            <a:avLst/>
          </a:prstGeom>
          <a:solidFill>
            <a:srgbClr val="2A35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343400" y="868680"/>
            <a:ext cx="3474720" cy="640080"/>
          </a:xfrm>
          <a:prstGeom prst="rect">
            <a:avLst/>
          </a:prstGeom>
          <a:noFill/>
        </p:spPr>
        <p:txBody>
          <a:bodyPr wrap="square">
            <a:spAutoFit/>
          </a:bodyPr>
          <a:lstStyle/>
          <a:p>
            <a:pPr algn="ctr"/>
            <a:r>
              <a:rPr sz="2600" b="1">
                <a:solidFill>
                  <a:srgbClr val="E8A838"/>
                </a:solidFill>
                <a:latin typeface="Cambria"/>
              </a:rPr>
              <a:t>2.38 mph</a:t>
            </a:r>
          </a:p>
        </p:txBody>
      </p:sp>
      <p:sp>
        <p:nvSpPr>
          <p:cNvPr id="9" name="TextBox 8"/>
          <p:cNvSpPr txBox="1"/>
          <p:nvPr/>
        </p:nvSpPr>
        <p:spPr>
          <a:xfrm>
            <a:off x="4343400" y="1554480"/>
            <a:ext cx="3474720" cy="685800"/>
          </a:xfrm>
          <a:prstGeom prst="rect">
            <a:avLst/>
          </a:prstGeom>
          <a:noFill/>
        </p:spPr>
        <p:txBody>
          <a:bodyPr wrap="square">
            <a:spAutoFit/>
          </a:bodyPr>
          <a:lstStyle/>
          <a:p>
            <a:pPr algn="ctr"/>
            <a:r>
              <a:rPr sz="1300" b="0">
                <a:solidFill>
                  <a:srgbClr val="FFFFFF"/>
                </a:solidFill>
                <a:latin typeface="Calibri"/>
              </a:rPr>
              <a:t>PEMS-BAY test MAE
separate model  ·  79 epochs</a:t>
            </a:r>
          </a:p>
        </p:txBody>
      </p:sp>
      <p:sp>
        <p:nvSpPr>
          <p:cNvPr id="10" name="Rounded Rectangle 9"/>
          <p:cNvSpPr/>
          <p:nvPr/>
        </p:nvSpPr>
        <p:spPr>
          <a:xfrm>
            <a:off x="8092440" y="731520"/>
            <a:ext cx="3657600" cy="1691640"/>
          </a:xfrm>
          <a:prstGeom prst="roundRect">
            <a:avLst/>
          </a:prstGeom>
          <a:solidFill>
            <a:srgbClr val="2A35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183880" y="868680"/>
            <a:ext cx="3474720" cy="640080"/>
          </a:xfrm>
          <a:prstGeom prst="rect">
            <a:avLst/>
          </a:prstGeom>
          <a:noFill/>
        </p:spPr>
        <p:txBody>
          <a:bodyPr wrap="square">
            <a:spAutoFit/>
          </a:bodyPr>
          <a:lstStyle/>
          <a:p>
            <a:pPr algn="ctr"/>
            <a:r>
              <a:rPr sz="2600" b="1">
                <a:solidFill>
                  <a:srgbClr val="E8A838"/>
                </a:solidFill>
                <a:latin typeface="Cambria"/>
              </a:rPr>
              <a:t>60 → 30 min</a:t>
            </a:r>
          </a:p>
        </p:txBody>
      </p:sp>
      <p:sp>
        <p:nvSpPr>
          <p:cNvPr id="12" name="TextBox 11"/>
          <p:cNvSpPr txBox="1"/>
          <p:nvPr/>
        </p:nvSpPr>
        <p:spPr>
          <a:xfrm>
            <a:off x="8183880" y="1554480"/>
            <a:ext cx="3474720" cy="685800"/>
          </a:xfrm>
          <a:prstGeom prst="rect">
            <a:avLst/>
          </a:prstGeom>
          <a:noFill/>
        </p:spPr>
        <p:txBody>
          <a:bodyPr wrap="square">
            <a:spAutoFit/>
          </a:bodyPr>
          <a:lstStyle/>
          <a:p>
            <a:pPr algn="ctr"/>
            <a:r>
              <a:rPr sz="1300" b="0">
                <a:solidFill>
                  <a:srgbClr val="FFFFFF"/>
                </a:solidFill>
                <a:latin typeface="Calibri"/>
              </a:rPr>
              <a:t>Input 12 steps  ·  output 6 steps
matched to a typical response</a:t>
            </a:r>
          </a:p>
        </p:txBody>
      </p:sp>
      <p:sp>
        <p:nvSpPr>
          <p:cNvPr id="13" name="Rounded Rectangle 12"/>
          <p:cNvSpPr/>
          <p:nvPr/>
        </p:nvSpPr>
        <p:spPr>
          <a:xfrm>
            <a:off x="411480" y="2651760"/>
            <a:ext cx="11338560" cy="3154680"/>
          </a:xfrm>
          <a:prstGeom prst="roundRect">
            <a:avLst/>
          </a:prstGeom>
          <a:solidFill>
            <a:srgbClr val="2A35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 y="2834640"/>
            <a:ext cx="10972800" cy="320040"/>
          </a:xfrm>
          <a:prstGeom prst="rect">
            <a:avLst/>
          </a:prstGeom>
          <a:noFill/>
        </p:spPr>
        <p:txBody>
          <a:bodyPr wrap="square">
            <a:spAutoFit/>
          </a:bodyPr>
          <a:lstStyle/>
          <a:p>
            <a:pPr algn="l"/>
            <a:r>
              <a:rPr sz="1600" b="1">
                <a:solidFill>
                  <a:srgbClr val="E8A838"/>
                </a:solidFill>
                <a:latin typeface="Calibri"/>
              </a:rPr>
              <a:t>How to read these errors</a:t>
            </a:r>
          </a:p>
        </p:txBody>
      </p:sp>
      <p:sp>
        <p:nvSpPr>
          <p:cNvPr id="15" name="TextBox 14"/>
          <p:cNvSpPr txBox="1"/>
          <p:nvPr/>
        </p:nvSpPr>
        <p:spPr>
          <a:xfrm>
            <a:off x="640080" y="3246120"/>
            <a:ext cx="10881360" cy="2331720"/>
          </a:xfrm>
          <a:prstGeom prst="rect">
            <a:avLst/>
          </a:prstGeom>
          <a:noFill/>
        </p:spPr>
        <p:txBody>
          <a:bodyPr wrap="square">
            <a:spAutoFit/>
          </a:bodyPr>
          <a:lstStyle/>
          <a:p>
            <a:pPr algn="l">
              <a:spcAft>
                <a:spcPts val="800"/>
              </a:spcAft>
            </a:pPr>
            <a:r>
              <a:rPr sz="1500">
                <a:solidFill>
                  <a:srgbClr val="FFFFFF"/>
                </a:solidFill>
                <a:latin typeface="Calibri"/>
              </a:rPr>
              <a:t>•  MAE is mean absolute error: on average, the forecast is 3.48 miles per hour off on held-out Los Angeles detectors.</a:t>
            </a:r>
          </a:p>
          <a:p>
            <a:pPr algn="l">
              <a:spcAft>
                <a:spcPts val="800"/>
              </a:spcAft>
            </a:pPr>
            <a:r>
              <a:rPr sz="1500">
                <a:solidFill>
                  <a:srgbClr val="FFFFFF"/>
                </a:solidFill>
                <a:latin typeface="Calibri"/>
              </a:rPr>
              <a:t>•  On freeways that is small enough to rank a quiet corridor against a slowing one. It is not a replacement for the dispatcher.</a:t>
            </a:r>
          </a:p>
          <a:p>
            <a:pPr algn="l">
              <a:spcAft>
                <a:spcPts val="800"/>
              </a:spcAft>
            </a:pPr>
            <a:r>
              <a:rPr sz="1500">
                <a:solidFill>
                  <a:srgbClr val="FFFFFF"/>
                </a:solidFill>
                <a:latin typeface="Calibri"/>
              </a:rPr>
              <a:t>•  The Bay model is a second-city check of the same architecture. Lower MAE there reflects smoother Bay Area speeds, not a failed Los Angeles model.</a:t>
            </a:r>
          </a:p>
          <a:p>
            <a:pPr algn="l">
              <a:spcAft>
                <a:spcPts val="800"/>
              </a:spcAft>
            </a:pPr>
            <a:r>
              <a:rPr sz="1500">
                <a:solidFill>
                  <a:srgbClr val="FFFFFF"/>
                </a:solidFill>
                <a:latin typeface="Calibri"/>
              </a:rPr>
              <a:t>•  A heavier graph network can beat this MAE. I kept a two-layer GRU so the whole loop still answers inside one second. The routing tables use the 27-epoch Los Angeles checkpoint.</a:t>
            </a:r>
          </a:p>
        </p:txBody>
      </p:sp>
      <p:sp>
        <p:nvSpPr>
          <p:cNvPr id="16" name="Rectangle 15"/>
          <p:cNvSpPr/>
          <p:nvPr/>
        </p:nvSpPr>
        <p:spPr>
          <a:xfrm>
            <a:off x="0" y="6748272"/>
            <a:ext cx="12191695" cy="109728"/>
          </a:xfrm>
          <a:prstGeom prst="rect">
            <a:avLst/>
          </a:prstGeom>
          <a:solidFill>
            <a:srgbClr val="E8A8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5760" y="6565392"/>
            <a:ext cx="9601200" cy="201168"/>
          </a:xfrm>
          <a:prstGeom prst="rect">
            <a:avLst/>
          </a:prstGeom>
          <a:noFill/>
        </p:spPr>
        <p:txBody>
          <a:bodyPr wrap="none">
            <a:spAutoFit/>
          </a:bodyPr>
          <a:lstStyle/>
          <a:p>
            <a:r>
              <a:rPr sz="1000">
                <a:solidFill>
                  <a:srgbClr val="A0B0D0"/>
                </a:solidFill>
                <a:latin typeface="Calibri"/>
              </a:rPr>
              <a:t>Kirinyaga University  ·  MSc Computer Science  ·  Freshia Njoki Macharia</a:t>
            </a:r>
          </a:p>
        </p:txBody>
      </p:sp>
      <p:sp>
        <p:nvSpPr>
          <p:cNvPr id="18" name="TextBox 17"/>
          <p:cNvSpPr txBox="1"/>
          <p:nvPr/>
        </p:nvSpPr>
        <p:spPr>
          <a:xfrm>
            <a:off x="10607040" y="6565392"/>
            <a:ext cx="1280160" cy="201168"/>
          </a:xfrm>
          <a:prstGeom prst="rect">
            <a:avLst/>
          </a:prstGeom>
          <a:noFill/>
        </p:spPr>
        <p:txBody>
          <a:bodyPr wrap="none">
            <a:spAutoFit/>
          </a:bodyPr>
          <a:lstStyle/>
          <a:p>
            <a:pPr algn="r"/>
            <a:r>
              <a:rPr sz="1000">
                <a:solidFill>
                  <a:srgbClr val="A0B0D0"/>
                </a:solidFill>
                <a:latin typeface="Calibri"/>
              </a:rPr>
              <a:t>6 / 12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E2761"/>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E8A8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10972800" cy="347472"/>
          </a:xfrm>
          <a:prstGeom prst="rect">
            <a:avLst/>
          </a:prstGeom>
          <a:noFill/>
        </p:spPr>
        <p:txBody>
          <a:bodyPr wrap="square">
            <a:spAutoFit/>
          </a:bodyPr>
          <a:lstStyle/>
          <a:p>
            <a:pPr algn="l"/>
            <a:r>
              <a:rPr sz="2200" b="1">
                <a:solidFill>
                  <a:srgbClr val="FFFFFF"/>
                </a:solidFill>
                <a:latin typeface="Cambria"/>
              </a:rPr>
              <a:t>Objective 3 — which remaining-time threshold?</a:t>
            </a:r>
          </a:p>
        </p:txBody>
      </p:sp>
      <p:sp>
        <p:nvSpPr>
          <p:cNvPr id="4" name="TextBox 3"/>
          <p:cNvSpPr txBox="1"/>
          <p:nvPr/>
        </p:nvSpPr>
        <p:spPr>
          <a:xfrm>
            <a:off x="457200" y="475488"/>
            <a:ext cx="11247120" cy="256032"/>
          </a:xfrm>
          <a:prstGeom prst="rect">
            <a:avLst/>
          </a:prstGeom>
          <a:noFill/>
        </p:spPr>
        <p:txBody>
          <a:bodyPr wrap="square">
            <a:spAutoFit/>
          </a:bodyPr>
          <a:lstStyle/>
          <a:p>
            <a:pPr algn="l"/>
            <a:r>
              <a:rPr sz="1300" b="0">
                <a:solidFill>
                  <a:srgbClr val="CADCFC"/>
                </a:solidFill>
                <a:latin typeface="Calibri"/>
              </a:rPr>
              <a:t>Figure: travel-time reduction versus Dijkstra, and replans per journey, at each δ.  N = 225 journeys per δ  (75 pairs × 3 regimes).</a:t>
            </a:r>
          </a:p>
        </p:txBody>
      </p:sp>
      <p:pic>
        <p:nvPicPr>
          <p:cNvPr id="5" name="Picture 4" descr="fig3_delta_sensitivity.png"/>
          <p:cNvPicPr>
            <a:picLocks noChangeAspect="1"/>
          </p:cNvPicPr>
          <p:nvPr/>
        </p:nvPicPr>
        <p:blipFill>
          <a:blip r:embed="rId2"/>
          <a:stretch>
            <a:fillRect/>
          </a:stretch>
        </p:blipFill>
        <p:spPr>
          <a:xfrm>
            <a:off x="228600" y="777240"/>
            <a:ext cx="7452360" cy="3108651"/>
          </a:xfrm>
          <a:prstGeom prst="rect">
            <a:avLst/>
          </a:prstGeom>
        </p:spPr>
      </p:pic>
      <p:sp>
        <p:nvSpPr>
          <p:cNvPr id="6" name="Rounded Rectangle 5"/>
          <p:cNvSpPr/>
          <p:nvPr/>
        </p:nvSpPr>
        <p:spPr>
          <a:xfrm>
            <a:off x="7818120" y="777240"/>
            <a:ext cx="4023360" cy="5074920"/>
          </a:xfrm>
          <a:prstGeom prst="roundRect">
            <a:avLst/>
          </a:prstGeom>
          <a:solidFill>
            <a:srgbClr val="2A35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001000" y="914400"/>
            <a:ext cx="3703320" cy="292608"/>
          </a:xfrm>
          <a:prstGeom prst="rect">
            <a:avLst/>
          </a:prstGeom>
          <a:noFill/>
        </p:spPr>
        <p:txBody>
          <a:bodyPr wrap="square">
            <a:spAutoFit/>
          </a:bodyPr>
          <a:lstStyle/>
          <a:p>
            <a:pPr algn="l"/>
            <a:r>
              <a:rPr sz="1500" b="1">
                <a:solidFill>
                  <a:srgbClr val="E8A838"/>
                </a:solidFill>
                <a:latin typeface="Calibri"/>
              </a:rPr>
              <a:t>What the figure shows</a:t>
            </a:r>
          </a:p>
        </p:txBody>
      </p:sp>
      <p:sp>
        <p:nvSpPr>
          <p:cNvPr id="8" name="TextBox 7"/>
          <p:cNvSpPr txBox="1"/>
          <p:nvPr/>
        </p:nvSpPr>
        <p:spPr>
          <a:xfrm>
            <a:off x="8001000" y="1280160"/>
            <a:ext cx="3703320" cy="4343400"/>
          </a:xfrm>
          <a:prstGeom prst="rect">
            <a:avLst/>
          </a:prstGeom>
          <a:noFill/>
        </p:spPr>
        <p:txBody>
          <a:bodyPr wrap="square">
            <a:spAutoFit/>
          </a:bodyPr>
          <a:lstStyle/>
          <a:p>
            <a:pPr algn="l"/>
            <a:r>
              <a:rPr sz="1300" b="0">
                <a:solidFill>
                  <a:srgbClr val="FFFFFF"/>
                </a:solidFill>
                <a:latin typeface="Calibri"/>
              </a:rPr>
              <a:t>δ = 0.05 means: offer a new path if remaining time from here grows by 5%.
Four policies: 5%, 10%, 15%, 20%.
The reduction line is flat. ANOVA F ≈ 0.001, p = 1.00 — the four means are interchangeable.
Incidents still replan about once at every δ. A 40% corridor drop exceeds a 20% remaining-time rise.
I therefore recommend δ = 0.20: same travel time, slightly fewer extra alerts.
0.10 was the planned mid-range candidate before measurement. It is not the measured default.</a:t>
            </a:r>
          </a:p>
        </p:txBody>
      </p:sp>
      <p:sp>
        <p:nvSpPr>
          <p:cNvPr id="9" name="Rectangle 8"/>
          <p:cNvSpPr/>
          <p:nvPr/>
        </p:nvSpPr>
        <p:spPr>
          <a:xfrm>
            <a:off x="0" y="6748272"/>
            <a:ext cx="12191695" cy="109728"/>
          </a:xfrm>
          <a:prstGeom prst="rect">
            <a:avLst/>
          </a:prstGeom>
          <a:solidFill>
            <a:srgbClr val="E8A8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565392"/>
            <a:ext cx="9601200" cy="201168"/>
          </a:xfrm>
          <a:prstGeom prst="rect">
            <a:avLst/>
          </a:prstGeom>
          <a:noFill/>
        </p:spPr>
        <p:txBody>
          <a:bodyPr wrap="none">
            <a:spAutoFit/>
          </a:bodyPr>
          <a:lstStyle/>
          <a:p>
            <a:r>
              <a:rPr sz="1000">
                <a:solidFill>
                  <a:srgbClr val="A0B0D0"/>
                </a:solidFill>
                <a:latin typeface="Calibri"/>
              </a:rPr>
              <a:t>Kirinyaga University  ·  MSc Computer Science  ·  Freshia Njoki Macharia</a:t>
            </a:r>
          </a:p>
        </p:txBody>
      </p:sp>
      <p:sp>
        <p:nvSpPr>
          <p:cNvPr id="11" name="TextBox 10"/>
          <p:cNvSpPr txBox="1"/>
          <p:nvPr/>
        </p:nvSpPr>
        <p:spPr>
          <a:xfrm>
            <a:off x="10607040" y="6565392"/>
            <a:ext cx="1280160" cy="201168"/>
          </a:xfrm>
          <a:prstGeom prst="rect">
            <a:avLst/>
          </a:prstGeom>
          <a:noFill/>
        </p:spPr>
        <p:txBody>
          <a:bodyPr wrap="none">
            <a:spAutoFit/>
          </a:bodyPr>
          <a:lstStyle/>
          <a:p>
            <a:pPr algn="r"/>
            <a:r>
              <a:rPr sz="1000">
                <a:solidFill>
                  <a:srgbClr val="A0B0D0"/>
                </a:solidFill>
                <a:latin typeface="Calibri"/>
              </a:rPr>
              <a:t>7 / 12</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E2761"/>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E8A8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10972800" cy="347472"/>
          </a:xfrm>
          <a:prstGeom prst="rect">
            <a:avLst/>
          </a:prstGeom>
          <a:noFill/>
        </p:spPr>
        <p:txBody>
          <a:bodyPr wrap="square">
            <a:spAutoFit/>
          </a:bodyPr>
          <a:lstStyle/>
          <a:p>
            <a:pPr algn="l"/>
            <a:r>
              <a:rPr sz="2200" b="1">
                <a:solidFill>
                  <a:srgbClr val="FFFFFF"/>
                </a:solidFill>
                <a:latin typeface="Cambria"/>
              </a:rPr>
              <a:t>Objective 4 — realised journey time in seconds</a:t>
            </a:r>
          </a:p>
        </p:txBody>
      </p:sp>
      <p:sp>
        <p:nvSpPr>
          <p:cNvPr id="4" name="TextBox 3"/>
          <p:cNvSpPr txBox="1"/>
          <p:nvPr/>
        </p:nvSpPr>
        <p:spPr>
          <a:xfrm>
            <a:off x="457200" y="475488"/>
            <a:ext cx="11247120" cy="256032"/>
          </a:xfrm>
          <a:prstGeom prst="rect">
            <a:avLst/>
          </a:prstGeom>
          <a:noFill/>
        </p:spPr>
        <p:txBody>
          <a:bodyPr wrap="square">
            <a:spAutoFit/>
          </a:bodyPr>
          <a:lstStyle/>
          <a:p>
            <a:pPr algn="l"/>
            <a:r>
              <a:rPr sz="1300" b="0">
                <a:solidFill>
                  <a:srgbClr val="CADCFC"/>
                </a:solidFill>
                <a:latin typeface="Calibri"/>
              </a:rPr>
              <a:t>Figure: mean travel time (seconds). Same 75 pairs and clock for every method. Incident, peak, and off-peak are separate groups.</a:t>
            </a:r>
          </a:p>
        </p:txBody>
      </p:sp>
      <p:pic>
        <p:nvPicPr>
          <p:cNvPr id="5" name="Picture 4" descr="fig1_travel_time_comparison.png"/>
          <p:cNvPicPr>
            <a:picLocks noChangeAspect="1"/>
          </p:cNvPicPr>
          <p:nvPr/>
        </p:nvPicPr>
        <p:blipFill>
          <a:blip r:embed="rId2"/>
          <a:stretch>
            <a:fillRect/>
          </a:stretch>
        </p:blipFill>
        <p:spPr>
          <a:xfrm>
            <a:off x="182880" y="777240"/>
            <a:ext cx="7452360" cy="4093471"/>
          </a:xfrm>
          <a:prstGeom prst="rect">
            <a:avLst/>
          </a:prstGeom>
        </p:spPr>
      </p:pic>
      <p:sp>
        <p:nvSpPr>
          <p:cNvPr id="6" name="Rounded Rectangle 5"/>
          <p:cNvSpPr/>
          <p:nvPr/>
        </p:nvSpPr>
        <p:spPr>
          <a:xfrm>
            <a:off x="7772400" y="777240"/>
            <a:ext cx="4069080" cy="5074920"/>
          </a:xfrm>
          <a:prstGeom prst="roundRect">
            <a:avLst/>
          </a:prstGeom>
          <a:solidFill>
            <a:srgbClr val="2A35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955279" y="914400"/>
            <a:ext cx="3749039" cy="292608"/>
          </a:xfrm>
          <a:prstGeom prst="rect">
            <a:avLst/>
          </a:prstGeom>
          <a:noFill/>
        </p:spPr>
        <p:txBody>
          <a:bodyPr wrap="square">
            <a:spAutoFit/>
          </a:bodyPr>
          <a:lstStyle/>
          <a:p>
            <a:pPr algn="l"/>
            <a:r>
              <a:rPr sz="1500" b="1">
                <a:solidFill>
                  <a:srgbClr val="E8A838"/>
                </a:solidFill>
                <a:latin typeface="Calibri"/>
              </a:rPr>
              <a:t>Read the bars</a:t>
            </a:r>
          </a:p>
        </p:txBody>
      </p:sp>
      <p:sp>
        <p:nvSpPr>
          <p:cNvPr id="8" name="TextBox 7"/>
          <p:cNvSpPr txBox="1"/>
          <p:nvPr/>
        </p:nvSpPr>
        <p:spPr>
          <a:xfrm>
            <a:off x="7955279" y="1280160"/>
            <a:ext cx="3749039" cy="4343400"/>
          </a:xfrm>
          <a:prstGeom prst="rect">
            <a:avLst/>
          </a:prstGeom>
          <a:noFill/>
        </p:spPr>
        <p:txBody>
          <a:bodyPr wrap="square">
            <a:spAutoFit/>
          </a:bodyPr>
          <a:lstStyle/>
          <a:p>
            <a:pPr algn="l"/>
            <a:r>
              <a:rPr sz="1300" b="0">
                <a:solidFill>
                  <a:srgbClr val="FFFFFF"/>
                </a:solidFill>
                <a:latin typeface="Calibri"/>
              </a:rPr>
              <a:t>Incident — the operational result
  Dijkstra          728 s
  Framework         599 s
  Reactive A*       604 s
  Oracle            581 s
Peak — small, real gap
  Framework         506 s
  Dijkstra          513 s
Off-peak — negative control
  Both about        403 s
The framework stays slower than the oracle. That is what an honest ceiling looks like.</a:t>
            </a:r>
          </a:p>
        </p:txBody>
      </p:sp>
      <p:sp>
        <p:nvSpPr>
          <p:cNvPr id="9" name="Rectangle 8"/>
          <p:cNvSpPr/>
          <p:nvPr/>
        </p:nvSpPr>
        <p:spPr>
          <a:xfrm>
            <a:off x="0" y="6748272"/>
            <a:ext cx="12191695" cy="109728"/>
          </a:xfrm>
          <a:prstGeom prst="rect">
            <a:avLst/>
          </a:prstGeom>
          <a:solidFill>
            <a:srgbClr val="E8A8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565392"/>
            <a:ext cx="9601200" cy="201168"/>
          </a:xfrm>
          <a:prstGeom prst="rect">
            <a:avLst/>
          </a:prstGeom>
          <a:noFill/>
        </p:spPr>
        <p:txBody>
          <a:bodyPr wrap="none">
            <a:spAutoFit/>
          </a:bodyPr>
          <a:lstStyle/>
          <a:p>
            <a:r>
              <a:rPr sz="1000">
                <a:solidFill>
                  <a:srgbClr val="A0B0D0"/>
                </a:solidFill>
                <a:latin typeface="Calibri"/>
              </a:rPr>
              <a:t>Kirinyaga University  ·  MSc Computer Science  ·  Freshia Njoki Macharia</a:t>
            </a:r>
          </a:p>
        </p:txBody>
      </p:sp>
      <p:sp>
        <p:nvSpPr>
          <p:cNvPr id="11" name="TextBox 10"/>
          <p:cNvSpPr txBox="1"/>
          <p:nvPr/>
        </p:nvSpPr>
        <p:spPr>
          <a:xfrm>
            <a:off x="10607040" y="6565392"/>
            <a:ext cx="1280160" cy="201168"/>
          </a:xfrm>
          <a:prstGeom prst="rect">
            <a:avLst/>
          </a:prstGeom>
          <a:noFill/>
        </p:spPr>
        <p:txBody>
          <a:bodyPr wrap="none">
            <a:spAutoFit/>
          </a:bodyPr>
          <a:lstStyle/>
          <a:p>
            <a:pPr algn="r"/>
            <a:r>
              <a:rPr sz="1000">
                <a:solidFill>
                  <a:srgbClr val="A0B0D0"/>
                </a:solidFill>
                <a:latin typeface="Calibri"/>
              </a:rPr>
              <a:t>8 / 12</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E2761"/>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E8A8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10972800" cy="347472"/>
          </a:xfrm>
          <a:prstGeom prst="rect">
            <a:avLst/>
          </a:prstGeom>
          <a:noFill/>
        </p:spPr>
        <p:txBody>
          <a:bodyPr wrap="square">
            <a:spAutoFit/>
          </a:bodyPr>
          <a:lstStyle/>
          <a:p>
            <a:pPr algn="l"/>
            <a:r>
              <a:rPr sz="2200" b="1">
                <a:solidFill>
                  <a:srgbClr val="FFFFFF"/>
                </a:solidFill>
                <a:latin typeface="Cambria"/>
              </a:rPr>
              <a:t>Objective 4 — percentage versus Dijkstra</a:t>
            </a:r>
          </a:p>
        </p:txBody>
      </p:sp>
      <p:sp>
        <p:nvSpPr>
          <p:cNvPr id="4" name="TextBox 3"/>
          <p:cNvSpPr txBox="1"/>
          <p:nvPr/>
        </p:nvSpPr>
        <p:spPr>
          <a:xfrm>
            <a:off x="457200" y="475488"/>
            <a:ext cx="11247120" cy="256032"/>
          </a:xfrm>
          <a:prstGeom prst="rect">
            <a:avLst/>
          </a:prstGeom>
          <a:noFill/>
        </p:spPr>
        <p:txBody>
          <a:bodyPr wrap="square">
            <a:spAutoFit/>
          </a:bodyPr>
          <a:lstStyle/>
          <a:p>
            <a:pPr algn="l"/>
            <a:r>
              <a:rPr sz="1300" b="0">
                <a:solidFill>
                  <a:srgbClr val="CADCFC"/>
                </a:solidFill>
                <a:latin typeface="Calibri"/>
              </a:rPr>
              <a:t>Figure: mean % reduction versus Dijkstra.  N = 300 per regime  (75 pairs × 4 values of δ).  Positive = faster than current-map dispatch.</a:t>
            </a:r>
          </a:p>
        </p:txBody>
      </p:sp>
      <p:pic>
        <p:nvPicPr>
          <p:cNvPr id="5" name="Picture 4" descr="fig2_reduction_by_scenario.png"/>
          <p:cNvPicPr>
            <a:picLocks noChangeAspect="1"/>
          </p:cNvPicPr>
          <p:nvPr/>
        </p:nvPicPr>
        <p:blipFill>
          <a:blip r:embed="rId2"/>
          <a:stretch>
            <a:fillRect/>
          </a:stretch>
        </p:blipFill>
        <p:spPr>
          <a:xfrm>
            <a:off x="182880" y="777240"/>
            <a:ext cx="7498079" cy="2962276"/>
          </a:xfrm>
          <a:prstGeom prst="rect">
            <a:avLst/>
          </a:prstGeom>
        </p:spPr>
      </p:pic>
      <p:sp>
        <p:nvSpPr>
          <p:cNvPr id="6" name="Rounded Rectangle 5"/>
          <p:cNvSpPr/>
          <p:nvPr/>
        </p:nvSpPr>
        <p:spPr>
          <a:xfrm>
            <a:off x="7818120" y="777240"/>
            <a:ext cx="4023360" cy="5074920"/>
          </a:xfrm>
          <a:prstGeom prst="roundRect">
            <a:avLst/>
          </a:prstGeom>
          <a:solidFill>
            <a:srgbClr val="2A35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001000" y="914400"/>
            <a:ext cx="3703320" cy="292608"/>
          </a:xfrm>
          <a:prstGeom prst="rect">
            <a:avLst/>
          </a:prstGeom>
          <a:noFill/>
        </p:spPr>
        <p:txBody>
          <a:bodyPr wrap="square">
            <a:spAutoFit/>
          </a:bodyPr>
          <a:lstStyle/>
          <a:p>
            <a:pPr algn="l"/>
            <a:r>
              <a:rPr sz="1500" b="1">
                <a:solidFill>
                  <a:srgbClr val="E8A838"/>
                </a:solidFill>
                <a:latin typeface="Calibri"/>
              </a:rPr>
              <a:t>What N and % mean</a:t>
            </a:r>
          </a:p>
        </p:txBody>
      </p:sp>
      <p:sp>
        <p:nvSpPr>
          <p:cNvPr id="8" name="TextBox 7"/>
          <p:cNvSpPr txBox="1"/>
          <p:nvPr/>
        </p:nvSpPr>
        <p:spPr>
          <a:xfrm>
            <a:off x="8001000" y="1280160"/>
            <a:ext cx="3703320" cy="4343400"/>
          </a:xfrm>
          <a:prstGeom prst="rect">
            <a:avLst/>
          </a:prstGeom>
          <a:noFill/>
        </p:spPr>
        <p:txBody>
          <a:bodyPr wrap="square">
            <a:spAutoFit/>
          </a:bodyPr>
          <a:lstStyle/>
          <a:p>
            <a:pPr algn="l"/>
            <a:r>
              <a:rPr sz="1200" b="0">
                <a:solidFill>
                  <a:srgbClr val="FFFFFF"/>
                </a:solidFill>
                <a:latin typeface="Calibri"/>
              </a:rPr>
              <a:t>N = 300 is 75 pairs pooled across the four δ values. Table 4.5 already showed δ does not change time, so pooling is valid.
Incident  +16.19%
  t = 26.43,  p &lt; .001
  about 1.03 replans
Peak  +1.03%
  t = 3.81,  p = .0002
Off-peak  +0.01%
  p = .90  — not significant
Overall versus Dijkstra  +5.74%
versus historical A*  +7.39%
versus reactive A*  +0.61%
versus oracle  −1.69%
The 16% figure is the incident regime. It is not a promise for every trip.</a:t>
            </a:r>
          </a:p>
        </p:txBody>
      </p:sp>
      <p:sp>
        <p:nvSpPr>
          <p:cNvPr id="9" name="Rectangle 8"/>
          <p:cNvSpPr/>
          <p:nvPr/>
        </p:nvSpPr>
        <p:spPr>
          <a:xfrm>
            <a:off x="0" y="6748272"/>
            <a:ext cx="12191695" cy="109728"/>
          </a:xfrm>
          <a:prstGeom prst="rect">
            <a:avLst/>
          </a:prstGeom>
          <a:solidFill>
            <a:srgbClr val="E8A8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565392"/>
            <a:ext cx="9601200" cy="201168"/>
          </a:xfrm>
          <a:prstGeom prst="rect">
            <a:avLst/>
          </a:prstGeom>
          <a:noFill/>
        </p:spPr>
        <p:txBody>
          <a:bodyPr wrap="none">
            <a:spAutoFit/>
          </a:bodyPr>
          <a:lstStyle/>
          <a:p>
            <a:r>
              <a:rPr sz="1000">
                <a:solidFill>
                  <a:srgbClr val="A0B0D0"/>
                </a:solidFill>
                <a:latin typeface="Calibri"/>
              </a:rPr>
              <a:t>Kirinyaga University  ·  MSc Computer Science  ·  Freshia Njoki Macharia</a:t>
            </a:r>
          </a:p>
        </p:txBody>
      </p:sp>
      <p:sp>
        <p:nvSpPr>
          <p:cNvPr id="11" name="TextBox 10"/>
          <p:cNvSpPr txBox="1"/>
          <p:nvPr/>
        </p:nvSpPr>
        <p:spPr>
          <a:xfrm>
            <a:off x="10607040" y="6565392"/>
            <a:ext cx="1280160" cy="201168"/>
          </a:xfrm>
          <a:prstGeom prst="rect">
            <a:avLst/>
          </a:prstGeom>
          <a:noFill/>
        </p:spPr>
        <p:txBody>
          <a:bodyPr wrap="none">
            <a:spAutoFit/>
          </a:bodyPr>
          <a:lstStyle/>
          <a:p>
            <a:pPr algn="r"/>
            <a:r>
              <a:rPr sz="1000">
                <a:solidFill>
                  <a:srgbClr val="A0B0D0"/>
                </a:solidFill>
                <a:latin typeface="Calibri"/>
              </a:rPr>
              <a:t>9 / 12</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E2761"/>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E8A8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10972800" cy="347472"/>
          </a:xfrm>
          <a:prstGeom prst="rect">
            <a:avLst/>
          </a:prstGeom>
          <a:noFill/>
        </p:spPr>
        <p:txBody>
          <a:bodyPr wrap="square">
            <a:spAutoFit/>
          </a:bodyPr>
          <a:lstStyle/>
          <a:p>
            <a:pPr algn="l"/>
            <a:r>
              <a:rPr sz="2200" b="1">
                <a:solidFill>
                  <a:srgbClr val="FFFFFF"/>
                </a:solidFill>
                <a:latin typeface="Cambria"/>
              </a:rPr>
              <a:t>Objective 4 — does the loop fit a dispatch second?</a:t>
            </a:r>
          </a:p>
        </p:txBody>
      </p:sp>
      <p:sp>
        <p:nvSpPr>
          <p:cNvPr id="4" name="TextBox 3"/>
          <p:cNvSpPr txBox="1"/>
          <p:nvPr/>
        </p:nvSpPr>
        <p:spPr>
          <a:xfrm>
            <a:off x="457200" y="475488"/>
            <a:ext cx="11247120" cy="256032"/>
          </a:xfrm>
          <a:prstGeom prst="rect">
            <a:avLst/>
          </a:prstGeom>
          <a:noFill/>
        </p:spPr>
        <p:txBody>
          <a:bodyPr wrap="square">
            <a:spAutoFit/>
          </a:bodyPr>
          <a:lstStyle/>
          <a:p>
            <a:pPr algn="l"/>
            <a:r>
              <a:rPr sz="1300" b="0">
                <a:solidFill>
                  <a:srgbClr val="CADCFC"/>
                </a:solidFill>
                <a:latin typeface="Calibri"/>
              </a:rPr>
              <a:t>Figure: time-dependent A* search time and GRU inference time. Combined wait is the sum. Target is 1,000 milliseconds.</a:t>
            </a:r>
          </a:p>
        </p:txBody>
      </p:sp>
      <p:pic>
        <p:nvPicPr>
          <p:cNvPr id="5" name="Picture 4" descr="fig4_computational_performance.png"/>
          <p:cNvPicPr>
            <a:picLocks noChangeAspect="1"/>
          </p:cNvPicPr>
          <p:nvPr/>
        </p:nvPicPr>
        <p:blipFill>
          <a:blip r:embed="rId2"/>
          <a:stretch>
            <a:fillRect/>
          </a:stretch>
        </p:blipFill>
        <p:spPr>
          <a:xfrm>
            <a:off x="182880" y="777240"/>
            <a:ext cx="7498079" cy="3116304"/>
          </a:xfrm>
          <a:prstGeom prst="rect">
            <a:avLst/>
          </a:prstGeom>
        </p:spPr>
      </p:pic>
      <p:sp>
        <p:nvSpPr>
          <p:cNvPr id="6" name="Rounded Rectangle 5"/>
          <p:cNvSpPr/>
          <p:nvPr/>
        </p:nvSpPr>
        <p:spPr>
          <a:xfrm>
            <a:off x="7818120" y="777240"/>
            <a:ext cx="4023360" cy="5074920"/>
          </a:xfrm>
          <a:prstGeom prst="roundRect">
            <a:avLst/>
          </a:prstGeom>
          <a:solidFill>
            <a:srgbClr val="2A35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001000" y="914400"/>
            <a:ext cx="3703320" cy="292608"/>
          </a:xfrm>
          <a:prstGeom prst="rect">
            <a:avLst/>
          </a:prstGeom>
          <a:noFill/>
        </p:spPr>
        <p:txBody>
          <a:bodyPr wrap="square">
            <a:spAutoFit/>
          </a:bodyPr>
          <a:lstStyle/>
          <a:p>
            <a:pPr algn="l"/>
            <a:r>
              <a:rPr sz="1500" b="1">
                <a:solidFill>
                  <a:srgbClr val="E8A838"/>
                </a:solidFill>
                <a:latin typeface="Calibri"/>
              </a:rPr>
              <a:t>Dispatcher wait</a:t>
            </a:r>
          </a:p>
        </p:txBody>
      </p:sp>
      <p:sp>
        <p:nvSpPr>
          <p:cNvPr id="8" name="TextBox 7"/>
          <p:cNvSpPr txBox="1"/>
          <p:nvPr/>
        </p:nvSpPr>
        <p:spPr>
          <a:xfrm>
            <a:off x="8001000" y="1325880"/>
            <a:ext cx="3703320" cy="4206240"/>
          </a:xfrm>
          <a:prstGeom prst="rect">
            <a:avLst/>
          </a:prstGeom>
          <a:noFill/>
        </p:spPr>
        <p:txBody>
          <a:bodyPr wrap="square">
            <a:spAutoFit/>
          </a:bodyPr>
          <a:lstStyle/>
          <a:p>
            <a:pPr algn="l"/>
            <a:r>
              <a:rPr sz="1400" b="0">
                <a:solidFill>
                  <a:srgbClr val="FFFFFF"/>
                </a:solidFill>
                <a:latin typeface="Calibri"/>
              </a:rPr>
              <a:t>Time-dependent A*    0.37 ms
GRU inference         39.3 ms
Combined              ≈ 40 ms
Dispatch cap          1,000 ms
Search is not the bottleneck. The predictor is. The loop still returns in far less than one second.
At 207 nodes, no heavy graph preprocessing was required, so edge times can refresh every five minutes.</a:t>
            </a:r>
          </a:p>
        </p:txBody>
      </p:sp>
      <p:sp>
        <p:nvSpPr>
          <p:cNvPr id="9" name="Rectangle 8"/>
          <p:cNvSpPr/>
          <p:nvPr/>
        </p:nvSpPr>
        <p:spPr>
          <a:xfrm>
            <a:off x="0" y="6748272"/>
            <a:ext cx="12191695" cy="109728"/>
          </a:xfrm>
          <a:prstGeom prst="rect">
            <a:avLst/>
          </a:prstGeom>
          <a:solidFill>
            <a:srgbClr val="E8A8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565392"/>
            <a:ext cx="9601200" cy="201168"/>
          </a:xfrm>
          <a:prstGeom prst="rect">
            <a:avLst/>
          </a:prstGeom>
          <a:noFill/>
        </p:spPr>
        <p:txBody>
          <a:bodyPr wrap="none">
            <a:spAutoFit/>
          </a:bodyPr>
          <a:lstStyle/>
          <a:p>
            <a:r>
              <a:rPr sz="1000">
                <a:solidFill>
                  <a:srgbClr val="A0B0D0"/>
                </a:solidFill>
                <a:latin typeface="Calibri"/>
              </a:rPr>
              <a:t>Kirinyaga University  ·  MSc Computer Science  ·  Freshia Njoki Macharia</a:t>
            </a:r>
          </a:p>
        </p:txBody>
      </p:sp>
      <p:sp>
        <p:nvSpPr>
          <p:cNvPr id="11" name="TextBox 10"/>
          <p:cNvSpPr txBox="1"/>
          <p:nvPr/>
        </p:nvSpPr>
        <p:spPr>
          <a:xfrm>
            <a:off x="10607040" y="6565392"/>
            <a:ext cx="1280160" cy="201168"/>
          </a:xfrm>
          <a:prstGeom prst="rect">
            <a:avLst/>
          </a:prstGeom>
          <a:noFill/>
        </p:spPr>
        <p:txBody>
          <a:bodyPr wrap="none">
            <a:spAutoFit/>
          </a:bodyPr>
          <a:lstStyle/>
          <a:p>
            <a:pPr algn="r"/>
            <a:r>
              <a:rPr sz="1000">
                <a:solidFill>
                  <a:srgbClr val="A0B0D0"/>
                </a:solidFill>
                <a:latin typeface="Calibri"/>
              </a:rPr>
              <a:t>10 / 12</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E2761"/>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E8A8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56032"/>
            <a:ext cx="10972800" cy="365760"/>
          </a:xfrm>
          <a:prstGeom prst="rect">
            <a:avLst/>
          </a:prstGeom>
          <a:noFill/>
        </p:spPr>
        <p:txBody>
          <a:bodyPr wrap="square">
            <a:spAutoFit/>
          </a:bodyPr>
          <a:lstStyle/>
          <a:p>
            <a:pPr algn="l"/>
            <a:r>
              <a:rPr sz="2200" b="1">
                <a:solidFill>
                  <a:srgbClr val="FFFFFF"/>
                </a:solidFill>
                <a:latin typeface="Cambria"/>
              </a:rPr>
              <a:t>Limits, and what this design already did about them</a:t>
            </a:r>
          </a:p>
        </p:txBody>
      </p:sp>
      <p:sp>
        <p:nvSpPr>
          <p:cNvPr id="4" name="Rounded Rectangle 3"/>
          <p:cNvSpPr/>
          <p:nvPr/>
        </p:nvSpPr>
        <p:spPr>
          <a:xfrm>
            <a:off x="411480" y="731520"/>
            <a:ext cx="5577840" cy="5074920"/>
          </a:xfrm>
          <a:prstGeom prst="roundRect">
            <a:avLst/>
          </a:prstGeom>
          <a:solidFill>
            <a:srgbClr val="2A35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896112"/>
            <a:ext cx="5120640" cy="365760"/>
          </a:xfrm>
          <a:prstGeom prst="rect">
            <a:avLst/>
          </a:prstGeom>
          <a:noFill/>
        </p:spPr>
        <p:txBody>
          <a:bodyPr wrap="square">
            <a:spAutoFit/>
          </a:bodyPr>
          <a:lstStyle/>
          <a:p>
            <a:pPr algn="l"/>
            <a:r>
              <a:rPr sz="1600" b="1">
                <a:solidFill>
                  <a:srgbClr val="E8A838"/>
                </a:solidFill>
                <a:latin typeface="Calibri"/>
              </a:rPr>
              <a:t>What these tables do not measure</a:t>
            </a:r>
          </a:p>
        </p:txBody>
      </p:sp>
      <p:sp>
        <p:nvSpPr>
          <p:cNvPr id="6" name="TextBox 5"/>
          <p:cNvSpPr txBox="1"/>
          <p:nvPr/>
        </p:nvSpPr>
        <p:spPr>
          <a:xfrm>
            <a:off x="640080" y="1371600"/>
            <a:ext cx="5120640" cy="4114800"/>
          </a:xfrm>
          <a:prstGeom prst="rect">
            <a:avLst/>
          </a:prstGeom>
          <a:noFill/>
        </p:spPr>
        <p:txBody>
          <a:bodyPr wrap="square">
            <a:spAutoFit/>
          </a:bodyPr>
          <a:lstStyle/>
          <a:p>
            <a:pPr algn="l">
              <a:spcAft>
                <a:spcPts val="900"/>
              </a:spcAft>
            </a:pPr>
            <a:r>
              <a:rPr sz="1400">
                <a:solidFill>
                  <a:srgbClr val="FFFFFF"/>
                </a:solidFill>
                <a:latin typeface="Calibri"/>
              </a:rPr>
              <a:t>•  METR-LA and PEMS-BAY are United States freeway detectors. They are not Nairobi mixed traffic.</a:t>
            </a:r>
          </a:p>
          <a:p>
            <a:pPr algn="l">
              <a:spcAft>
                <a:spcPts val="900"/>
              </a:spcAft>
            </a:pPr>
            <a:r>
              <a:rPr sz="1400">
                <a:solidFill>
                  <a:srgbClr val="FFFFFF"/>
                </a:solidFill>
                <a:latin typeface="Calibri"/>
              </a:rPr>
              <a:t>•  The 900 journeys used 100% detector coverage. The percentages describe that graph.</a:t>
            </a:r>
          </a:p>
          <a:p>
            <a:pPr algn="l">
              <a:spcAft>
                <a:spcPts val="900"/>
              </a:spcAft>
            </a:pPr>
            <a:r>
              <a:rPr sz="1400">
                <a:solidFill>
                  <a:srgbClr val="FFFFFF"/>
                </a:solidFill>
                <a:latin typeface="Calibri"/>
              </a:rPr>
              <a:t>•  PEMS-BAY was a second GRU, not a second 900-run routing city.</a:t>
            </a:r>
          </a:p>
          <a:p>
            <a:pPr algn="l">
              <a:spcAft>
                <a:spcPts val="900"/>
              </a:spcAft>
            </a:pPr>
            <a:r>
              <a:rPr sz="1400">
                <a:solidFill>
                  <a:srgbClr val="FFFFFF"/>
                </a:solidFill>
                <a:latin typeface="Calibri"/>
              </a:rPr>
              <a:t>•  A 10–30% coverage run, as a sparse-sensor analogue, was not executed.</a:t>
            </a:r>
          </a:p>
          <a:p>
            <a:pPr algn="l">
              <a:spcAft>
                <a:spcPts val="900"/>
              </a:spcAft>
            </a:pPr>
            <a:r>
              <a:rPr sz="1400">
                <a:solidFill>
                  <a:srgbClr val="FFFFFF"/>
                </a:solidFill>
                <a:latin typeface="Calibri"/>
              </a:rPr>
              <a:t>•  One vehicle. Multi-unit interference was not modelled.</a:t>
            </a:r>
          </a:p>
        </p:txBody>
      </p:sp>
      <p:sp>
        <p:nvSpPr>
          <p:cNvPr id="7" name="Rounded Rectangle 6"/>
          <p:cNvSpPr/>
          <p:nvPr/>
        </p:nvSpPr>
        <p:spPr>
          <a:xfrm>
            <a:off x="6217920" y="731520"/>
            <a:ext cx="5577840" cy="5074920"/>
          </a:xfrm>
          <a:prstGeom prst="roundRect">
            <a:avLst/>
          </a:prstGeom>
          <a:solidFill>
            <a:srgbClr val="2A35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46520" y="896112"/>
            <a:ext cx="5120640" cy="365760"/>
          </a:xfrm>
          <a:prstGeom prst="rect">
            <a:avLst/>
          </a:prstGeom>
          <a:noFill/>
        </p:spPr>
        <p:txBody>
          <a:bodyPr wrap="square">
            <a:spAutoFit/>
          </a:bodyPr>
          <a:lstStyle/>
          <a:p>
            <a:pPr algn="l"/>
            <a:r>
              <a:rPr sz="1600" b="1">
                <a:solidFill>
                  <a:srgbClr val="E8A838"/>
                </a:solidFill>
                <a:latin typeface="Calibri"/>
              </a:rPr>
              <a:t>What I already did to contain those risks</a:t>
            </a:r>
          </a:p>
        </p:txBody>
      </p:sp>
      <p:sp>
        <p:nvSpPr>
          <p:cNvPr id="9" name="TextBox 8"/>
          <p:cNvSpPr txBox="1"/>
          <p:nvPr/>
        </p:nvSpPr>
        <p:spPr>
          <a:xfrm>
            <a:off x="6446520" y="1371600"/>
            <a:ext cx="5120640" cy="4114800"/>
          </a:xfrm>
          <a:prstGeom prst="rect">
            <a:avLst/>
          </a:prstGeom>
          <a:noFill/>
        </p:spPr>
        <p:txBody>
          <a:bodyPr wrap="square">
            <a:spAutoFit/>
          </a:bodyPr>
          <a:lstStyle/>
          <a:p>
            <a:pPr algn="l">
              <a:spcAft>
                <a:spcPts val="900"/>
              </a:spcAft>
            </a:pPr>
            <a:r>
              <a:rPr sz="1400">
                <a:solidFill>
                  <a:srgbClr val="FFFFFF"/>
                </a:solidFill>
                <a:latin typeface="Calibri"/>
              </a:rPr>
              <a:t>•  Did not invent speeds on unmapped streets: routed only on fully instrumented detector links.</a:t>
            </a:r>
          </a:p>
          <a:p>
            <a:pPr algn="l">
              <a:spcAft>
                <a:spcPts val="900"/>
              </a:spcAft>
            </a:pPr>
            <a:r>
              <a:rPr sz="1400">
                <a:solidFill>
                  <a:srgbClr val="FFFFFF"/>
                </a:solidFill>
                <a:latin typeface="Calibri"/>
              </a:rPr>
              <a:t>•  Did not leak the future into training: chronological split; scaler on train only.</a:t>
            </a:r>
          </a:p>
          <a:p>
            <a:pPr algn="l">
              <a:spcAft>
                <a:spcPts val="900"/>
              </a:spcAft>
            </a:pPr>
            <a:r>
              <a:rPr sz="1400">
                <a:solidFill>
                  <a:srgbClr val="FFFFFF"/>
                </a:solidFill>
                <a:latin typeface="Calibri"/>
              </a:rPr>
              <a:t>•  Did not mark paths with predicted time: scored every method on actual future speeds.</a:t>
            </a:r>
          </a:p>
          <a:p>
            <a:pPr algn="l">
              <a:spcAft>
                <a:spcPts val="900"/>
              </a:spcAft>
            </a:pPr>
            <a:r>
              <a:rPr sz="1400">
                <a:solidFill>
                  <a:srgbClr val="FFFFFF"/>
                </a:solidFill>
                <a:latin typeface="Calibri"/>
              </a:rPr>
              <a:t>•  Did not compare only with weak dispatch: included reactive A* and an oracle.</a:t>
            </a:r>
          </a:p>
          <a:p>
            <a:pPr algn="l">
              <a:spcAft>
                <a:spcPts val="900"/>
              </a:spcAft>
            </a:pPr>
            <a:r>
              <a:rPr sz="1400">
                <a:solidFill>
                  <a:srgbClr val="FFFFFF"/>
                </a:solidFill>
                <a:latin typeface="Calibri"/>
              </a:rPr>
              <a:t>•  Did not assume delta: swept 5–20% and let travel time decide. Next: downsample this same 100% graph to 10–30% and repeat the 900-run.</a:t>
            </a:r>
          </a:p>
        </p:txBody>
      </p:sp>
      <p:sp>
        <p:nvSpPr>
          <p:cNvPr id="10" name="Rectangle 9"/>
          <p:cNvSpPr/>
          <p:nvPr/>
        </p:nvSpPr>
        <p:spPr>
          <a:xfrm>
            <a:off x="0" y="6748272"/>
            <a:ext cx="12191695" cy="109728"/>
          </a:xfrm>
          <a:prstGeom prst="rect">
            <a:avLst/>
          </a:prstGeom>
          <a:solidFill>
            <a:srgbClr val="E8A8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5760" y="6565392"/>
            <a:ext cx="9601200" cy="201168"/>
          </a:xfrm>
          <a:prstGeom prst="rect">
            <a:avLst/>
          </a:prstGeom>
          <a:noFill/>
        </p:spPr>
        <p:txBody>
          <a:bodyPr wrap="none">
            <a:spAutoFit/>
          </a:bodyPr>
          <a:lstStyle/>
          <a:p>
            <a:r>
              <a:rPr sz="1000">
                <a:solidFill>
                  <a:srgbClr val="A0B0D0"/>
                </a:solidFill>
                <a:latin typeface="Calibri"/>
              </a:rPr>
              <a:t>Kirinyaga University  ·  MSc Computer Science  ·  Freshia Njoki Macharia</a:t>
            </a:r>
          </a:p>
        </p:txBody>
      </p:sp>
      <p:sp>
        <p:nvSpPr>
          <p:cNvPr id="12" name="TextBox 11"/>
          <p:cNvSpPr txBox="1"/>
          <p:nvPr/>
        </p:nvSpPr>
        <p:spPr>
          <a:xfrm>
            <a:off x="10607040" y="6565392"/>
            <a:ext cx="1280160" cy="201168"/>
          </a:xfrm>
          <a:prstGeom prst="rect">
            <a:avLst/>
          </a:prstGeom>
          <a:noFill/>
        </p:spPr>
        <p:txBody>
          <a:bodyPr wrap="none">
            <a:spAutoFit/>
          </a:bodyPr>
          <a:lstStyle/>
          <a:p>
            <a:pPr algn="r"/>
            <a:r>
              <a:rPr sz="1000">
                <a:solidFill>
                  <a:srgbClr val="A0B0D0"/>
                </a:solidFill>
                <a:latin typeface="Calibri"/>
              </a:rPr>
              <a:t>11 / 12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1E2761"/>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E8A8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92608"/>
            <a:ext cx="10972800" cy="457200"/>
          </a:xfrm>
          <a:prstGeom prst="rect">
            <a:avLst/>
          </a:prstGeom>
          <a:noFill/>
        </p:spPr>
        <p:txBody>
          <a:bodyPr wrap="square">
            <a:spAutoFit/>
          </a:bodyPr>
          <a:lstStyle/>
          <a:p>
            <a:pPr algn="l"/>
            <a:r>
              <a:rPr sz="2400" b="1">
                <a:solidFill>
                  <a:srgbClr val="FFFFFF"/>
                </a:solidFill>
                <a:latin typeface="Cambria"/>
              </a:rPr>
              <a:t>What to take from the 900 journeys</a:t>
            </a:r>
          </a:p>
        </p:txBody>
      </p:sp>
      <p:sp>
        <p:nvSpPr>
          <p:cNvPr id="4" name="Rounded Rectangle 3"/>
          <p:cNvSpPr/>
          <p:nvPr/>
        </p:nvSpPr>
        <p:spPr>
          <a:xfrm>
            <a:off x="457200" y="960120"/>
            <a:ext cx="11247120" cy="1097280"/>
          </a:xfrm>
          <a:prstGeom prst="roundRect">
            <a:avLst/>
          </a:prstGeom>
          <a:solidFill>
            <a:srgbClr val="2A35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234440"/>
            <a:ext cx="640080" cy="502920"/>
          </a:xfrm>
          <a:prstGeom prst="rect">
            <a:avLst/>
          </a:prstGeom>
          <a:noFill/>
        </p:spPr>
        <p:txBody>
          <a:bodyPr wrap="square">
            <a:spAutoFit/>
          </a:bodyPr>
          <a:lstStyle/>
          <a:p>
            <a:pPr algn="l"/>
            <a:r>
              <a:rPr sz="2800" b="1">
                <a:solidFill>
                  <a:srgbClr val="E8A838"/>
                </a:solidFill>
                <a:latin typeface="Cambria"/>
              </a:rPr>
              <a:t>1</a:t>
            </a:r>
          </a:p>
        </p:txBody>
      </p:sp>
      <p:sp>
        <p:nvSpPr>
          <p:cNvPr id="6" name="TextBox 5"/>
          <p:cNvSpPr txBox="1"/>
          <p:nvPr/>
        </p:nvSpPr>
        <p:spPr>
          <a:xfrm>
            <a:off x="1463040" y="1161288"/>
            <a:ext cx="9875520" cy="731520"/>
          </a:xfrm>
          <a:prstGeom prst="rect">
            <a:avLst/>
          </a:prstGeom>
          <a:noFill/>
        </p:spPr>
        <p:txBody>
          <a:bodyPr wrap="square">
            <a:spAutoFit/>
          </a:bodyPr>
          <a:lstStyle/>
          <a:p>
            <a:pPr algn="l"/>
            <a:r>
              <a:rPr sz="1600" b="0">
                <a:solidFill>
                  <a:srgbClr val="FFFFFF"/>
                </a:solidFill>
                <a:latin typeface="Calibri"/>
              </a:rPr>
              <a:t>When the planned corridor is disrupted, mean time falls from 728 s to 599 s versus current-map Dijkstra — 16.19%, about one replan.</a:t>
            </a:r>
          </a:p>
        </p:txBody>
      </p:sp>
      <p:sp>
        <p:nvSpPr>
          <p:cNvPr id="7" name="Rounded Rectangle 6"/>
          <p:cNvSpPr/>
          <p:nvPr/>
        </p:nvSpPr>
        <p:spPr>
          <a:xfrm>
            <a:off x="457200" y="2194560"/>
            <a:ext cx="11247120" cy="1097280"/>
          </a:xfrm>
          <a:prstGeom prst="roundRect">
            <a:avLst/>
          </a:prstGeom>
          <a:solidFill>
            <a:srgbClr val="2A35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2468880"/>
            <a:ext cx="640080" cy="502920"/>
          </a:xfrm>
          <a:prstGeom prst="rect">
            <a:avLst/>
          </a:prstGeom>
          <a:noFill/>
        </p:spPr>
        <p:txBody>
          <a:bodyPr wrap="square">
            <a:spAutoFit/>
          </a:bodyPr>
          <a:lstStyle/>
          <a:p>
            <a:pPr algn="l"/>
            <a:r>
              <a:rPr sz="2800" b="1">
                <a:solidFill>
                  <a:srgbClr val="E8A838"/>
                </a:solidFill>
                <a:latin typeface="Cambria"/>
              </a:rPr>
              <a:t>2</a:t>
            </a:r>
          </a:p>
        </p:txBody>
      </p:sp>
      <p:sp>
        <p:nvSpPr>
          <p:cNvPr id="9" name="TextBox 8"/>
          <p:cNvSpPr txBox="1"/>
          <p:nvPr/>
        </p:nvSpPr>
        <p:spPr>
          <a:xfrm>
            <a:off x="1463040" y="2395728"/>
            <a:ext cx="9875520" cy="731520"/>
          </a:xfrm>
          <a:prstGeom prst="rect">
            <a:avLst/>
          </a:prstGeom>
          <a:noFill/>
        </p:spPr>
        <p:txBody>
          <a:bodyPr wrap="square">
            <a:spAutoFit/>
          </a:bodyPr>
          <a:lstStyle/>
          <a:p>
            <a:pPr algn="l"/>
            <a:r>
              <a:rPr sz="1600" b="0">
                <a:solidFill>
                  <a:srgbClr val="FFFFFF"/>
                </a:solidFill>
                <a:latin typeface="Calibri"/>
              </a:rPr>
              <a:t>Travel time does not depend on which δ in 5–20% we pick. The operational default is 0.20: same time, quieter alerts.</a:t>
            </a:r>
          </a:p>
        </p:txBody>
      </p:sp>
      <p:sp>
        <p:nvSpPr>
          <p:cNvPr id="10" name="Rounded Rectangle 9"/>
          <p:cNvSpPr/>
          <p:nvPr/>
        </p:nvSpPr>
        <p:spPr>
          <a:xfrm>
            <a:off x="457200" y="3429000"/>
            <a:ext cx="11247120" cy="1097280"/>
          </a:xfrm>
          <a:prstGeom prst="roundRect">
            <a:avLst/>
          </a:prstGeom>
          <a:solidFill>
            <a:srgbClr val="2A35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3703320"/>
            <a:ext cx="640080" cy="502920"/>
          </a:xfrm>
          <a:prstGeom prst="rect">
            <a:avLst/>
          </a:prstGeom>
          <a:noFill/>
        </p:spPr>
        <p:txBody>
          <a:bodyPr wrap="square">
            <a:spAutoFit/>
          </a:bodyPr>
          <a:lstStyle/>
          <a:p>
            <a:pPr algn="l"/>
            <a:r>
              <a:rPr sz="2800" b="1">
                <a:solidFill>
                  <a:srgbClr val="E8A838"/>
                </a:solidFill>
                <a:latin typeface="Cambria"/>
              </a:rPr>
              <a:t>3</a:t>
            </a:r>
          </a:p>
        </p:txBody>
      </p:sp>
      <p:sp>
        <p:nvSpPr>
          <p:cNvPr id="12" name="TextBox 11"/>
          <p:cNvSpPr txBox="1"/>
          <p:nvPr/>
        </p:nvSpPr>
        <p:spPr>
          <a:xfrm>
            <a:off x="1463040" y="3630168"/>
            <a:ext cx="9875520" cy="731520"/>
          </a:xfrm>
          <a:prstGeom prst="rect">
            <a:avLst/>
          </a:prstGeom>
          <a:noFill/>
        </p:spPr>
        <p:txBody>
          <a:bodyPr wrap="square">
            <a:spAutoFit/>
          </a:bodyPr>
          <a:lstStyle/>
          <a:p>
            <a:pPr algn="l"/>
            <a:r>
              <a:rPr sz="1600" b="0">
                <a:solidFill>
                  <a:srgbClr val="FFFFFF"/>
                </a:solidFill>
                <a:latin typeface="Calibri"/>
              </a:rPr>
              <a:t>The loop answers in about 40 milliseconds. The binding constraint for deployment is local sensor coverage, not compute.</a:t>
            </a:r>
          </a:p>
        </p:txBody>
      </p:sp>
      <p:sp>
        <p:nvSpPr>
          <p:cNvPr id="13" name="TextBox 12"/>
          <p:cNvSpPr txBox="1"/>
          <p:nvPr/>
        </p:nvSpPr>
        <p:spPr>
          <a:xfrm>
            <a:off x="457200" y="4846320"/>
            <a:ext cx="11247120" cy="365760"/>
          </a:xfrm>
          <a:prstGeom prst="rect">
            <a:avLst/>
          </a:prstGeom>
          <a:noFill/>
        </p:spPr>
        <p:txBody>
          <a:bodyPr wrap="square">
            <a:spAutoFit/>
          </a:bodyPr>
          <a:lstStyle/>
          <a:p>
            <a:pPr algn="ctr"/>
            <a:r>
              <a:rPr sz="2000" b="1">
                <a:solidFill>
                  <a:srgbClr val="CADCFC"/>
                </a:solidFill>
                <a:latin typeface="Cambria"/>
              </a:rPr>
              <a:t>Thank you. I welcome your questions.</a:t>
            </a:r>
          </a:p>
        </p:txBody>
      </p:sp>
      <p:sp>
        <p:nvSpPr>
          <p:cNvPr id="14" name="TextBox 13"/>
          <p:cNvSpPr txBox="1"/>
          <p:nvPr/>
        </p:nvSpPr>
        <p:spPr>
          <a:xfrm>
            <a:off x="457200" y="5349240"/>
            <a:ext cx="11247120" cy="411480"/>
          </a:xfrm>
          <a:prstGeom prst="rect">
            <a:avLst/>
          </a:prstGeom>
          <a:noFill/>
        </p:spPr>
        <p:txBody>
          <a:bodyPr wrap="square">
            <a:spAutoFit/>
          </a:bodyPr>
          <a:lstStyle/>
          <a:p>
            <a:pPr algn="ctr"/>
            <a:r>
              <a:rPr sz="1400" b="0">
                <a:solidFill>
                  <a:srgbClr val="A0B0D0"/>
                </a:solidFill>
                <a:latin typeface="Calibri"/>
              </a:rPr>
              <a:t>Freshia Njoki Macharia  ·  PA206/S/25427/24  ·  Kirinyaga University</a:t>
            </a:r>
          </a:p>
        </p:txBody>
      </p:sp>
      <p:sp>
        <p:nvSpPr>
          <p:cNvPr id="15" name="Rectangle 14"/>
          <p:cNvSpPr/>
          <p:nvPr/>
        </p:nvSpPr>
        <p:spPr>
          <a:xfrm>
            <a:off x="0" y="6748272"/>
            <a:ext cx="12191695" cy="109728"/>
          </a:xfrm>
          <a:prstGeom prst="rect">
            <a:avLst/>
          </a:prstGeom>
          <a:solidFill>
            <a:srgbClr val="E8A8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5760" y="6565392"/>
            <a:ext cx="9601200" cy="201168"/>
          </a:xfrm>
          <a:prstGeom prst="rect">
            <a:avLst/>
          </a:prstGeom>
          <a:noFill/>
        </p:spPr>
        <p:txBody>
          <a:bodyPr wrap="none">
            <a:spAutoFit/>
          </a:bodyPr>
          <a:lstStyle/>
          <a:p>
            <a:r>
              <a:rPr sz="1000">
                <a:solidFill>
                  <a:srgbClr val="A0B0D0"/>
                </a:solidFill>
                <a:latin typeface="Calibri"/>
              </a:rPr>
              <a:t>Kirinyaga University  ·  MSc Computer Science  ·  Freshia Njoki Macharia</a:t>
            </a:r>
          </a:p>
        </p:txBody>
      </p:sp>
      <p:sp>
        <p:nvSpPr>
          <p:cNvPr id="17" name="TextBox 16"/>
          <p:cNvSpPr txBox="1"/>
          <p:nvPr/>
        </p:nvSpPr>
        <p:spPr>
          <a:xfrm>
            <a:off x="10607040" y="6565392"/>
            <a:ext cx="1280160" cy="201168"/>
          </a:xfrm>
          <a:prstGeom prst="rect">
            <a:avLst/>
          </a:prstGeom>
          <a:noFill/>
        </p:spPr>
        <p:txBody>
          <a:bodyPr wrap="none">
            <a:spAutoFit/>
          </a:bodyPr>
          <a:lstStyle/>
          <a:p>
            <a:pPr algn="r"/>
            <a:r>
              <a:rPr sz="1000">
                <a:solidFill>
                  <a:srgbClr val="A0B0D0"/>
                </a:solidFill>
                <a:latin typeface="Calibri"/>
              </a:rPr>
              <a:t>12 / 12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