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0:00–0:30. Thank the chair, supervisors, and examiners. One sentence: this seminar reports a decision-support framework that forecasts short-horizon traffic speeds and uses those forecasts to route an emergency vehicle before congestion is met. The dispatcher keeps authority. Then preview the arc: problem → purpose and objectives → method → prediction → routing results → limits. Stay inside 15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0:30–1:45. State the problem in operational language. Do not open with architecture. If asked about Nairobi: the purpose is motivated by local EMS delay; the measured percentages come from Los Angeles detectors. Method can transfer; numbers cannot until local sensors exist.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1:45–3:15. Read the purpose once. Then: four questions map onto four objectives. RQ3’s δ is a dispatcher setting, not a p-value. RQ4’s 1-second cap is the operational constraint. Tell them you will spend most of the remaining time on Objectives 3 and 4 because that is new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3:15–4:15. Walk 1→6 left to right, then down. Emphasise remaining time from the vehicle’s current position, not the original station-to-scene total. Two GRUs exist (METR-LA and PEMS-BAY); only the Los Angeles model feeds routing. This is decision support, not an automated ambulance.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4:15–5:30. Two datasets, two models — not one joint 207+325 tensor. Routing uses only METR-LA. The graph is the detector adjacency with 100% coverage, not an OpenStreetMap downtown extract. Incident means the vehicle actually meets a slowed corridor. B4 is an unreachable ceiling so the framework must not beat it. B3 replans after the jam is already visible.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5:30–6:30. Quote 3.48 and 2.38. Chronological 70/15/15 split. Train-only scaler. If asked why not a graph neural net: latency budget and a proof-of-concept two-layer GRU; literature already shows GNNs can win on MAE. You traded a little accuracy for a 40 ms loop.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6:30–8:00. Point at the flat incident line. A 40% corridor drop exceeds a 20% remaining-time trigger, so every policy still fires in incidents. That is why travel time tied and you pick the least chatty setting. APA: p = .0002, no leading zero. Do not call F ≈ 0 a failed study.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8:00–9:15. When the planned road is jammed, 728 seconds falls to about 599. Off-peak bars sit together: empty roads do not need a 30-minute forecast. Peak is a small gap. Reactive A* is close in incidents once the jam is visible — the extra value of the forecast is anticipatory, not magic.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9:15–10:45. The 16% bar is the result that matches the purpose: time reduction when traffic actually breaks. Peak +1% is statistically detectable but operationally small. Off-peak ≈ 0% is a successful negative control. Versus reactive A* the extra is small: once the jam is visible, a 30-minute forecast adds little. That is an honest finding. If asked about literature: 16% sits near Abuaisha et al. (2025) 12–18% on a different (fixed-route) problem; Werner et al. (2022) is the closest router and does not use this GRU + δ loop.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10:45–11:30. Combined ≈ 40 milliseconds is the system claim. Quote both pieces if asked: 0.37 ms is search only. Werner et al. showed that time-dependent A* can be fast on very large maps with preprocessing; at 207 nodes that preprocessing was unnecessary.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11:30–13:00. This is the examiners’ honesty slide. State what was measured and what was not. The next sparse-sensor study starts from the 100% detector graph and downsamples it. Do not discuss shrinking an unused downtown map. If asked whether Nairobi now meets an eight-minute target: no. Motivation is not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13:00–15:00 including questions. Repeat the three numbered lines if asked to summarise. If asked for the code: the evaluation lives in the project repository; the defended tables match results/full_report.txt on the improved-evaluation branch. If asked why two datasets: prediction generalisation versus routing on one consistent graph. If asked about δ = 0.10: that was the planned guess; measurement selected 0.20.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972800" cy="320040"/>
          </a:xfrm>
          <a:prstGeom prst="rect">
            <a:avLst/>
          </a:prstGeom>
          <a:noFill/>
        </p:spPr>
        <p:txBody>
          <a:bodyPr wrap="square">
            <a:spAutoFit/>
          </a:bodyPr>
          <a:lstStyle/>
          <a:p>
            <a:pPr algn="l"/>
            <a:r>
              <a:rPr sz="1400" b="0">
                <a:solidFill>
                  <a:srgbClr val="CADCFC"/>
                </a:solidFill>
                <a:latin typeface="Calibri"/>
              </a:rPr>
              <a:t>KIRINYAGA UNIVERSITY  ·  SCHOOL OF PURE AND APPLIED SCIENCES</a:t>
            </a:r>
          </a:p>
        </p:txBody>
      </p:sp>
      <p:sp>
        <p:nvSpPr>
          <p:cNvPr id="4" name="TextBox 3"/>
          <p:cNvSpPr txBox="1"/>
          <p:nvPr/>
        </p:nvSpPr>
        <p:spPr>
          <a:xfrm>
            <a:off x="548640" y="960120"/>
            <a:ext cx="10972800" cy="1554480"/>
          </a:xfrm>
          <a:prstGeom prst="rect">
            <a:avLst/>
          </a:prstGeom>
          <a:noFill/>
        </p:spPr>
        <p:txBody>
          <a:bodyPr wrap="square">
            <a:spAutoFit/>
          </a:bodyPr>
          <a:lstStyle/>
          <a:p>
            <a:pPr algn="l"/>
            <a:r>
              <a:rPr sz="3200" b="1">
                <a:solidFill>
                  <a:srgbClr val="FFFFFF"/>
                </a:solidFill>
                <a:latin typeface="Cambria"/>
              </a:rPr>
              <a:t>GRU-Based Predictive Route Optimisation
for Emergency Vehicle Navigation</a:t>
            </a:r>
          </a:p>
        </p:txBody>
      </p:sp>
      <p:sp>
        <p:nvSpPr>
          <p:cNvPr id="5" name="Rectangle 4"/>
          <p:cNvSpPr/>
          <p:nvPr/>
        </p:nvSpPr>
        <p:spPr>
          <a:xfrm>
            <a:off x="548640" y="2606040"/>
            <a:ext cx="2743200" cy="54864"/>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834640"/>
            <a:ext cx="10972800" cy="365760"/>
          </a:xfrm>
          <a:prstGeom prst="rect">
            <a:avLst/>
          </a:prstGeom>
          <a:noFill/>
        </p:spPr>
        <p:txBody>
          <a:bodyPr wrap="square">
            <a:spAutoFit/>
          </a:bodyPr>
          <a:lstStyle/>
          <a:p>
            <a:pPr algn="l"/>
            <a:r>
              <a:rPr sz="1800" b="0">
                <a:solidFill>
                  <a:srgbClr val="CADCFC"/>
                </a:solidFill>
                <a:latin typeface="Calibri"/>
              </a:rPr>
              <a:t>Master of Science in Computer Science  ·  Research seminar (15 minutes)</a:t>
            </a:r>
          </a:p>
        </p:txBody>
      </p:sp>
      <p:sp>
        <p:nvSpPr>
          <p:cNvPr id="7" name="TextBox 6"/>
          <p:cNvSpPr txBox="1"/>
          <p:nvPr/>
        </p:nvSpPr>
        <p:spPr>
          <a:xfrm>
            <a:off x="548640" y="3383280"/>
            <a:ext cx="10972800" cy="1005840"/>
          </a:xfrm>
          <a:prstGeom prst="rect">
            <a:avLst/>
          </a:prstGeom>
          <a:noFill/>
        </p:spPr>
        <p:txBody>
          <a:bodyPr wrap="square">
            <a:spAutoFit/>
          </a:bodyPr>
          <a:lstStyle/>
          <a:p>
            <a:pPr algn="l"/>
            <a:r>
              <a:rPr sz="1600" b="0">
                <a:solidFill>
                  <a:srgbClr val="A0B0D0"/>
                </a:solidFill>
                <a:latin typeface="Calibri"/>
              </a:rPr>
              <a:t>Freshia Njoki Macharia  |  PA206/S/25427/24
Supervisors: Dr Gilbert Langat  ·  Dr Stephen Mageto</a:t>
            </a:r>
          </a:p>
        </p:txBody>
      </p:sp>
      <p:sp>
        <p:nvSpPr>
          <p:cNvPr id="8" name="TextBox 7"/>
          <p:cNvSpPr txBox="1"/>
          <p:nvPr/>
        </p:nvSpPr>
        <p:spPr>
          <a:xfrm>
            <a:off x="548640" y="4709160"/>
            <a:ext cx="10972800" cy="640080"/>
          </a:xfrm>
          <a:prstGeom prst="rect">
            <a:avLst/>
          </a:prstGeom>
          <a:noFill/>
        </p:spPr>
        <p:txBody>
          <a:bodyPr wrap="square">
            <a:spAutoFit/>
          </a:bodyPr>
          <a:lstStyle/>
          <a:p>
            <a:pPr algn="l"/>
            <a:r>
              <a:rPr sz="1500" b="0">
                <a:solidFill>
                  <a:srgbClr val="E8A838"/>
                </a:solidFill>
                <a:latin typeface="Calibri"/>
              </a:rPr>
              <a:t>Artefact: two-layer GRU speed forecasts + time-dependent A* + remaining-time controller
Evaluation: 900 ground-truth journeys on the METR-LA detector graph</a:t>
            </a:r>
          </a:p>
        </p:txBody>
      </p:sp>
      <p:sp>
        <p:nvSpPr>
          <p:cNvPr id="9" name="Rectangle 8"/>
          <p:cNvSpPr/>
          <p:nvPr/>
        </p:nvSpPr>
        <p:spPr>
          <a:xfrm>
            <a:off x="0" y="6748272"/>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565392"/>
            <a:ext cx="9601200" cy="201168"/>
          </a:xfrm>
          <a:prstGeom prst="rect">
            <a:avLst/>
          </a:prstGeom>
          <a:noFill/>
        </p:spPr>
        <p:txBody>
          <a:bodyPr wrap="none">
            <a:spAutoFit/>
          </a:bodyPr>
          <a:lstStyle/>
          <a:p>
            <a:r>
              <a:rPr sz="1000">
                <a:solidFill>
                  <a:srgbClr val="A0B0D0"/>
                </a:solidFill>
                <a:latin typeface="Calibri"/>
              </a:rPr>
              <a:t>Kirinyaga University  ·  MSc Computer Science  ·  Freshia Njoki Macharia</a:t>
            </a:r>
          </a:p>
        </p:txBody>
      </p:sp>
      <p:sp>
        <p:nvSpPr>
          <p:cNvPr id="11" name="TextBox 10"/>
          <p:cNvSpPr txBox="1"/>
          <p:nvPr/>
        </p:nvSpPr>
        <p:spPr>
          <a:xfrm>
            <a:off x="10607040" y="6565392"/>
            <a:ext cx="1280160" cy="201168"/>
          </a:xfrm>
          <a:prstGeom prst="rect">
            <a:avLst/>
          </a:prstGeom>
          <a:noFill/>
        </p:spPr>
        <p:txBody>
          <a:bodyPr wrap="none">
            <a:spAutoFit/>
          </a:bodyPr>
          <a:lstStyle/>
          <a:p>
            <a:pPr algn="r"/>
            <a:r>
              <a:rPr sz="1000">
                <a:solidFill>
                  <a:srgbClr val="A0B0D0"/>
                </a:solidFill>
                <a:latin typeface="Calibri"/>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11480"/>
          </a:xfrm>
          <a:prstGeom prst="rect">
            <a:avLst/>
          </a:prstGeom>
          <a:noFill/>
        </p:spPr>
        <p:txBody>
          <a:bodyPr wrap="square">
            <a:spAutoFit/>
          </a:bodyPr>
          <a:lstStyle/>
          <a:p>
            <a:pPr algn="l"/>
            <a:r>
              <a:rPr sz="2600" b="1">
                <a:solidFill>
                  <a:srgbClr val="FFFFFF"/>
                </a:solidFill>
                <a:latin typeface="Cambria"/>
              </a:rPr>
              <a:t>Problem statement</a:t>
            </a:r>
          </a:p>
        </p:txBody>
      </p:sp>
      <p:sp>
        <p:nvSpPr>
          <p:cNvPr id="4" name="Rounded Rectangle 3"/>
          <p:cNvSpPr/>
          <p:nvPr/>
        </p:nvSpPr>
        <p:spPr>
          <a:xfrm>
            <a:off x="457200" y="822960"/>
            <a:ext cx="11247120" cy="141732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960120"/>
            <a:ext cx="10789920" cy="1143000"/>
          </a:xfrm>
          <a:prstGeom prst="rect">
            <a:avLst/>
          </a:prstGeom>
          <a:noFill/>
        </p:spPr>
        <p:txBody>
          <a:bodyPr wrap="square">
            <a:spAutoFit/>
          </a:bodyPr>
          <a:lstStyle/>
          <a:p>
            <a:pPr algn="l"/>
            <a:r>
              <a:rPr sz="1600" b="0">
                <a:solidFill>
                  <a:srgbClr val="FFFFFF"/>
                </a:solidFill>
                <a:latin typeface="Calibri"/>
              </a:rPr>
              <a:t>Emergency vehicles lose time in congestion when dispatch uses a current-map shortest path. That path is optimal only for the speeds observed at departure. It does not anticipate a jam forming 15–30 minutes ahead on the planned corridor.</a:t>
            </a:r>
          </a:p>
        </p:txBody>
      </p:sp>
      <p:sp>
        <p:nvSpPr>
          <p:cNvPr id="6" name="Rounded Rectangle 5"/>
          <p:cNvSpPr/>
          <p:nvPr/>
        </p:nvSpPr>
        <p:spPr>
          <a:xfrm>
            <a:off x="457200" y="2423160"/>
            <a:ext cx="11247120" cy="1115568"/>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32888"/>
            <a:ext cx="10789920" cy="292608"/>
          </a:xfrm>
          <a:prstGeom prst="rect">
            <a:avLst/>
          </a:prstGeom>
          <a:noFill/>
        </p:spPr>
        <p:txBody>
          <a:bodyPr wrap="square">
            <a:spAutoFit/>
          </a:bodyPr>
          <a:lstStyle/>
          <a:p>
            <a:pPr algn="l"/>
            <a:r>
              <a:rPr sz="1600" b="1">
                <a:solidFill>
                  <a:srgbClr val="E8A838"/>
                </a:solidFill>
                <a:latin typeface="Calibri"/>
              </a:rPr>
              <a:t>Practice</a:t>
            </a:r>
          </a:p>
        </p:txBody>
      </p:sp>
      <p:sp>
        <p:nvSpPr>
          <p:cNvPr id="8" name="TextBox 7"/>
          <p:cNvSpPr txBox="1"/>
          <p:nvPr/>
        </p:nvSpPr>
        <p:spPr>
          <a:xfrm>
            <a:off x="685800" y="2843784"/>
            <a:ext cx="10789920" cy="594360"/>
          </a:xfrm>
          <a:prstGeom prst="rect">
            <a:avLst/>
          </a:prstGeom>
          <a:noFill/>
        </p:spPr>
        <p:txBody>
          <a:bodyPr wrap="square">
            <a:spAutoFit/>
          </a:bodyPr>
          <a:lstStyle/>
          <a:p>
            <a:pPr algn="l"/>
            <a:r>
              <a:rPr sz="1500" b="0">
                <a:solidFill>
                  <a:srgbClr val="FFFFFF"/>
                </a:solidFill>
                <a:latin typeface="Calibri"/>
              </a:rPr>
              <a:t>Dijkstra (or equivalent) on the snapshot available at dispatch.</a:t>
            </a:r>
          </a:p>
        </p:txBody>
      </p:sp>
      <p:sp>
        <p:nvSpPr>
          <p:cNvPr id="9" name="Rounded Rectangle 8"/>
          <p:cNvSpPr/>
          <p:nvPr/>
        </p:nvSpPr>
        <p:spPr>
          <a:xfrm>
            <a:off x="457200" y="3657600"/>
            <a:ext cx="11247120" cy="1115568"/>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767328"/>
            <a:ext cx="10789920" cy="292608"/>
          </a:xfrm>
          <a:prstGeom prst="rect">
            <a:avLst/>
          </a:prstGeom>
          <a:noFill/>
        </p:spPr>
        <p:txBody>
          <a:bodyPr wrap="square">
            <a:spAutoFit/>
          </a:bodyPr>
          <a:lstStyle/>
          <a:p>
            <a:pPr algn="l"/>
            <a:r>
              <a:rPr sz="1600" b="1">
                <a:solidFill>
                  <a:srgbClr val="E8A838"/>
                </a:solidFill>
                <a:latin typeface="Calibri"/>
              </a:rPr>
              <a:t>Literature</a:t>
            </a:r>
          </a:p>
        </p:txBody>
      </p:sp>
      <p:sp>
        <p:nvSpPr>
          <p:cNvPr id="11" name="TextBox 10"/>
          <p:cNvSpPr txBox="1"/>
          <p:nvPr/>
        </p:nvSpPr>
        <p:spPr>
          <a:xfrm>
            <a:off x="685800" y="4078224"/>
            <a:ext cx="10789920" cy="594360"/>
          </a:xfrm>
          <a:prstGeom prst="rect">
            <a:avLst/>
          </a:prstGeom>
          <a:noFill/>
        </p:spPr>
        <p:txBody>
          <a:bodyPr wrap="square">
            <a:spAutoFit/>
          </a:bodyPr>
          <a:lstStyle/>
          <a:p>
            <a:pPr algn="l"/>
            <a:r>
              <a:rPr sz="1500" b="0">
                <a:solidFill>
                  <a:srgbClr val="FFFFFF"/>
                </a:solidFill>
                <a:latin typeface="Calibri"/>
              </a:rPr>
              <a:t>Strong speed predictors and strong time-dependent routers usually sit in separate papers. Few emergency loops join a learned forecast, time-dependent search, and a tested remaining-time trigger under one second.</a:t>
            </a:r>
          </a:p>
        </p:txBody>
      </p:sp>
      <p:sp>
        <p:nvSpPr>
          <p:cNvPr id="12" name="Rounded Rectangle 11"/>
          <p:cNvSpPr/>
          <p:nvPr/>
        </p:nvSpPr>
        <p:spPr>
          <a:xfrm>
            <a:off x="457200" y="4892040"/>
            <a:ext cx="11247120" cy="1115568"/>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5001768"/>
            <a:ext cx="10789920" cy="292608"/>
          </a:xfrm>
          <a:prstGeom prst="rect">
            <a:avLst/>
          </a:prstGeom>
          <a:noFill/>
        </p:spPr>
        <p:txBody>
          <a:bodyPr wrap="square">
            <a:spAutoFit/>
          </a:bodyPr>
          <a:lstStyle/>
          <a:p>
            <a:pPr algn="l"/>
            <a:r>
              <a:rPr sz="1600" b="1">
                <a:solidFill>
                  <a:srgbClr val="E8A838"/>
                </a:solidFill>
                <a:latin typeface="Calibri"/>
              </a:rPr>
              <a:t>Motivation</a:t>
            </a:r>
          </a:p>
        </p:txBody>
      </p:sp>
      <p:sp>
        <p:nvSpPr>
          <p:cNvPr id="14" name="TextBox 13"/>
          <p:cNvSpPr txBox="1"/>
          <p:nvPr/>
        </p:nvSpPr>
        <p:spPr>
          <a:xfrm>
            <a:off x="685800" y="5312664"/>
            <a:ext cx="10789920" cy="594360"/>
          </a:xfrm>
          <a:prstGeom prst="rect">
            <a:avLst/>
          </a:prstGeom>
          <a:noFill/>
        </p:spPr>
        <p:txBody>
          <a:bodyPr wrap="square">
            <a:spAutoFit/>
          </a:bodyPr>
          <a:lstStyle/>
          <a:p>
            <a:pPr algn="l"/>
            <a:r>
              <a:rPr sz="1500" b="0">
                <a:solidFill>
                  <a:srgbClr val="FFFFFF"/>
                </a:solidFill>
                <a:latin typeface="Calibri"/>
              </a:rPr>
              <a:t>Kenyan EMS delay and sparse roadside sensing motivate the work. This study is a proof of concept on United States freeway detectors; it is not a Nairobi field trial.</a:t>
            </a:r>
          </a:p>
        </p:txBody>
      </p:sp>
      <p:sp>
        <p:nvSpPr>
          <p:cNvPr id="15" name="Rectangle 14"/>
          <p:cNvSpPr/>
          <p:nvPr/>
        </p:nvSpPr>
        <p:spPr>
          <a:xfrm>
            <a:off x="0" y="6748272"/>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6565392"/>
            <a:ext cx="9601200" cy="201168"/>
          </a:xfrm>
          <a:prstGeom prst="rect">
            <a:avLst/>
          </a:prstGeom>
          <a:noFill/>
        </p:spPr>
        <p:txBody>
          <a:bodyPr wrap="none">
            <a:spAutoFit/>
          </a:bodyPr>
          <a:lstStyle/>
          <a:p>
            <a:r>
              <a:rPr sz="1000">
                <a:solidFill>
                  <a:srgbClr val="A0B0D0"/>
                </a:solidFill>
                <a:latin typeface="Calibri"/>
              </a:rPr>
              <a:t>Kirinyaga University  ·  MSc Computer Science  ·  Freshia Njoki Macharia</a:t>
            </a:r>
          </a:p>
        </p:txBody>
      </p:sp>
      <p:sp>
        <p:nvSpPr>
          <p:cNvPr id="17" name="TextBox 16"/>
          <p:cNvSpPr txBox="1"/>
          <p:nvPr/>
        </p:nvSpPr>
        <p:spPr>
          <a:xfrm>
            <a:off x="10607040" y="6565392"/>
            <a:ext cx="1280160" cy="201168"/>
          </a:xfrm>
          <a:prstGeom prst="rect">
            <a:avLst/>
          </a:prstGeom>
          <a:noFill/>
        </p:spPr>
        <p:txBody>
          <a:bodyPr wrap="none">
            <a:spAutoFit/>
          </a:bodyPr>
          <a:lstStyle/>
          <a:p>
            <a:pPr algn="r"/>
            <a:r>
              <a:rPr sz="1000">
                <a:solidFill>
                  <a:srgbClr val="A0B0D0"/>
                </a:solidFill>
                <a:latin typeface="Calibri"/>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65760"/>
          </a:xfrm>
          <a:prstGeom prst="rect">
            <a:avLst/>
          </a:prstGeom>
          <a:noFill/>
        </p:spPr>
        <p:txBody>
          <a:bodyPr wrap="square">
            <a:spAutoFit/>
          </a:bodyPr>
          <a:lstStyle/>
          <a:p>
            <a:pPr algn="l"/>
            <a:r>
              <a:rPr sz="2600" b="1">
                <a:solidFill>
                  <a:srgbClr val="FFFFFF"/>
                </a:solidFill>
                <a:latin typeface="Cambria"/>
              </a:rPr>
              <a:t>Purpose, questions, and objectives</a:t>
            </a:r>
          </a:p>
        </p:txBody>
      </p:sp>
      <p:sp>
        <p:nvSpPr>
          <p:cNvPr id="4" name="Rounded Rectangle 3"/>
          <p:cNvSpPr/>
          <p:nvPr/>
        </p:nvSpPr>
        <p:spPr>
          <a:xfrm>
            <a:off x="457200" y="731520"/>
            <a:ext cx="11247120" cy="114300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41248"/>
            <a:ext cx="10789920" cy="256032"/>
          </a:xfrm>
          <a:prstGeom prst="rect">
            <a:avLst/>
          </a:prstGeom>
          <a:noFill/>
        </p:spPr>
        <p:txBody>
          <a:bodyPr wrap="square">
            <a:spAutoFit/>
          </a:bodyPr>
          <a:lstStyle/>
          <a:p>
            <a:pPr algn="l"/>
            <a:r>
              <a:rPr sz="1400" b="1">
                <a:solidFill>
                  <a:srgbClr val="E8A838"/>
                </a:solidFill>
                <a:latin typeface="Calibri"/>
              </a:rPr>
              <a:t>Purpose</a:t>
            </a:r>
          </a:p>
        </p:txBody>
      </p:sp>
      <p:sp>
        <p:nvSpPr>
          <p:cNvPr id="6" name="TextBox 5"/>
          <p:cNvSpPr txBox="1"/>
          <p:nvPr/>
        </p:nvSpPr>
        <p:spPr>
          <a:xfrm>
            <a:off x="685800" y="1115568"/>
            <a:ext cx="10789920" cy="640080"/>
          </a:xfrm>
          <a:prstGeom prst="rect">
            <a:avLst/>
          </a:prstGeom>
          <a:noFill/>
        </p:spPr>
        <p:txBody>
          <a:bodyPr wrap="square">
            <a:spAutoFit/>
          </a:bodyPr>
          <a:lstStyle/>
          <a:p>
            <a:pPr algn="l"/>
            <a:r>
              <a:rPr sz="1500" b="0">
                <a:solidFill>
                  <a:srgbClr val="FFFFFF"/>
                </a:solidFill>
                <a:latin typeface="Calibri"/>
              </a:rPr>
              <a:t>To reduce emergency-vehicle travel time under congestion by combining short-horizon GRU speed forecasts with time-dependent A* and a remaining-time replanning threshold, as dispatcher support.</a:t>
            </a:r>
          </a:p>
        </p:txBody>
      </p:sp>
      <p:sp>
        <p:nvSpPr>
          <p:cNvPr id="7" name="TextBox 6"/>
          <p:cNvSpPr txBox="1"/>
          <p:nvPr/>
        </p:nvSpPr>
        <p:spPr>
          <a:xfrm>
            <a:off x="502920" y="2011680"/>
            <a:ext cx="1005840" cy="411480"/>
          </a:xfrm>
          <a:prstGeom prst="rect">
            <a:avLst/>
          </a:prstGeom>
          <a:noFill/>
        </p:spPr>
        <p:txBody>
          <a:bodyPr wrap="square">
            <a:spAutoFit/>
          </a:bodyPr>
          <a:lstStyle/>
          <a:p>
            <a:pPr algn="l"/>
            <a:r>
              <a:rPr sz="1400" b="1">
                <a:solidFill>
                  <a:srgbClr val="E8A838"/>
                </a:solidFill>
                <a:latin typeface="Calibri"/>
              </a:rPr>
              <a:t>RQ1</a:t>
            </a:r>
          </a:p>
        </p:txBody>
      </p:sp>
      <p:sp>
        <p:nvSpPr>
          <p:cNvPr id="8" name="TextBox 7"/>
          <p:cNvSpPr txBox="1"/>
          <p:nvPr/>
        </p:nvSpPr>
        <p:spPr>
          <a:xfrm>
            <a:off x="1554480" y="2011680"/>
            <a:ext cx="10058400" cy="457200"/>
          </a:xfrm>
          <a:prstGeom prst="rect">
            <a:avLst/>
          </a:prstGeom>
          <a:noFill/>
        </p:spPr>
        <p:txBody>
          <a:bodyPr wrap="square">
            <a:spAutoFit/>
          </a:bodyPr>
          <a:lstStyle/>
          <a:p>
            <a:pPr algn="l"/>
            <a:r>
              <a:rPr sz="1400" b="0">
                <a:solidFill>
                  <a:srgbClr val="FFFFFF"/>
                </a:solidFill>
                <a:latin typeface="Calibri"/>
              </a:rPr>
              <a:t>What gaps remain among EV routing, traffic prediction, and time-dependent pathfinding?</a:t>
            </a:r>
          </a:p>
        </p:txBody>
      </p:sp>
      <p:sp>
        <p:nvSpPr>
          <p:cNvPr id="9" name="TextBox 8"/>
          <p:cNvSpPr txBox="1"/>
          <p:nvPr/>
        </p:nvSpPr>
        <p:spPr>
          <a:xfrm>
            <a:off x="502920" y="2514600"/>
            <a:ext cx="1005840" cy="411480"/>
          </a:xfrm>
          <a:prstGeom prst="rect">
            <a:avLst/>
          </a:prstGeom>
          <a:noFill/>
        </p:spPr>
        <p:txBody>
          <a:bodyPr wrap="square">
            <a:spAutoFit/>
          </a:bodyPr>
          <a:lstStyle/>
          <a:p>
            <a:pPr algn="l"/>
            <a:r>
              <a:rPr sz="1400" b="1">
                <a:solidFill>
                  <a:srgbClr val="E8A838"/>
                </a:solidFill>
                <a:latin typeface="Calibri"/>
              </a:rPr>
              <a:t>RQ2</a:t>
            </a:r>
          </a:p>
        </p:txBody>
      </p:sp>
      <p:sp>
        <p:nvSpPr>
          <p:cNvPr id="10" name="TextBox 9"/>
          <p:cNvSpPr txBox="1"/>
          <p:nvPr/>
        </p:nvSpPr>
        <p:spPr>
          <a:xfrm>
            <a:off x="1554480" y="2514600"/>
            <a:ext cx="10058400" cy="457200"/>
          </a:xfrm>
          <a:prstGeom prst="rect">
            <a:avLst/>
          </a:prstGeom>
          <a:noFill/>
        </p:spPr>
        <p:txBody>
          <a:bodyPr wrap="square">
            <a:spAutoFit/>
          </a:bodyPr>
          <a:lstStyle/>
          <a:p>
            <a:pPr algn="l"/>
            <a:r>
              <a:rPr sz="1400" b="0">
                <a:solidFill>
                  <a:srgbClr val="FFFFFF"/>
                </a:solidFill>
                <a:latin typeface="Calibri"/>
              </a:rPr>
              <a:t>How accurately can a lightweight GRU forecast 15–30 minute speeds on loop-detector traces?</a:t>
            </a:r>
          </a:p>
        </p:txBody>
      </p:sp>
      <p:sp>
        <p:nvSpPr>
          <p:cNvPr id="11" name="TextBox 10"/>
          <p:cNvSpPr txBox="1"/>
          <p:nvPr/>
        </p:nvSpPr>
        <p:spPr>
          <a:xfrm>
            <a:off x="502920" y="3017520"/>
            <a:ext cx="1005840" cy="411480"/>
          </a:xfrm>
          <a:prstGeom prst="rect">
            <a:avLst/>
          </a:prstGeom>
          <a:noFill/>
        </p:spPr>
        <p:txBody>
          <a:bodyPr wrap="square">
            <a:spAutoFit/>
          </a:bodyPr>
          <a:lstStyle/>
          <a:p>
            <a:pPr algn="l"/>
            <a:r>
              <a:rPr sz="1400" b="1">
                <a:solidFill>
                  <a:srgbClr val="E8A838"/>
                </a:solidFill>
                <a:latin typeface="Calibri"/>
              </a:rPr>
              <a:t>RQ3</a:t>
            </a:r>
          </a:p>
        </p:txBody>
      </p:sp>
      <p:sp>
        <p:nvSpPr>
          <p:cNvPr id="12" name="TextBox 11"/>
          <p:cNvSpPr txBox="1"/>
          <p:nvPr/>
        </p:nvSpPr>
        <p:spPr>
          <a:xfrm>
            <a:off x="1554480" y="3017520"/>
            <a:ext cx="10058400" cy="457200"/>
          </a:xfrm>
          <a:prstGeom prst="rect">
            <a:avLst/>
          </a:prstGeom>
          <a:noFill/>
        </p:spPr>
        <p:txBody>
          <a:bodyPr wrap="square">
            <a:spAutoFit/>
          </a:bodyPr>
          <a:lstStyle/>
          <a:p>
            <a:pPr algn="l"/>
            <a:r>
              <a:rPr sz="1400" b="0">
                <a:solidFill>
                  <a:srgbClr val="FFFFFF"/>
                </a:solidFill>
                <a:latin typeface="Calibri"/>
              </a:rPr>
              <a:t>Which remaining-time threshold δ balances route quality against extra dispatcher alerts?</a:t>
            </a:r>
          </a:p>
        </p:txBody>
      </p:sp>
      <p:sp>
        <p:nvSpPr>
          <p:cNvPr id="13" name="TextBox 12"/>
          <p:cNvSpPr txBox="1"/>
          <p:nvPr/>
        </p:nvSpPr>
        <p:spPr>
          <a:xfrm>
            <a:off x="502920" y="3520440"/>
            <a:ext cx="1005840" cy="411480"/>
          </a:xfrm>
          <a:prstGeom prst="rect">
            <a:avLst/>
          </a:prstGeom>
          <a:noFill/>
        </p:spPr>
        <p:txBody>
          <a:bodyPr wrap="square">
            <a:spAutoFit/>
          </a:bodyPr>
          <a:lstStyle/>
          <a:p>
            <a:pPr algn="l"/>
            <a:r>
              <a:rPr sz="1400" b="1">
                <a:solidFill>
                  <a:srgbClr val="E8A838"/>
                </a:solidFill>
                <a:latin typeface="Calibri"/>
              </a:rPr>
              <a:t>RQ4</a:t>
            </a:r>
          </a:p>
        </p:txBody>
      </p:sp>
      <p:sp>
        <p:nvSpPr>
          <p:cNvPr id="14" name="TextBox 13"/>
          <p:cNvSpPr txBox="1"/>
          <p:nvPr/>
        </p:nvSpPr>
        <p:spPr>
          <a:xfrm>
            <a:off x="1554480" y="3520440"/>
            <a:ext cx="10058400" cy="457200"/>
          </a:xfrm>
          <a:prstGeom prst="rect">
            <a:avLst/>
          </a:prstGeom>
          <a:noFill/>
        </p:spPr>
        <p:txBody>
          <a:bodyPr wrap="square">
            <a:spAutoFit/>
          </a:bodyPr>
          <a:lstStyle/>
          <a:p>
            <a:pPr algn="l"/>
            <a:r>
              <a:rPr sz="1400" b="0">
                <a:solidFill>
                  <a:srgbClr val="FFFFFF"/>
                </a:solidFill>
                <a:latin typeface="Calibri"/>
              </a:rPr>
              <a:t>Does the integrated loop cut realised travel time versus baselines while staying under 1 s?</a:t>
            </a:r>
          </a:p>
        </p:txBody>
      </p:sp>
      <p:sp>
        <p:nvSpPr>
          <p:cNvPr id="15" name="TextBox 14"/>
          <p:cNvSpPr txBox="1"/>
          <p:nvPr/>
        </p:nvSpPr>
        <p:spPr>
          <a:xfrm>
            <a:off x="457200" y="4069080"/>
            <a:ext cx="11247120" cy="274320"/>
          </a:xfrm>
          <a:prstGeom prst="rect">
            <a:avLst/>
          </a:prstGeom>
          <a:noFill/>
        </p:spPr>
        <p:txBody>
          <a:bodyPr wrap="square">
            <a:spAutoFit/>
          </a:bodyPr>
          <a:lstStyle/>
          <a:p>
            <a:pPr algn="l"/>
            <a:r>
              <a:rPr sz="1300" b="0">
                <a:solidFill>
                  <a:srgbClr val="CADCFC"/>
                </a:solidFill>
                <a:latin typeface="Calibri"/>
              </a:rPr>
              <a:t>Objectives  —  Obj. 1 design the GRU  ·  Obj. 2 train and validate  ·  Obj. 3 integrate TD-A* and test δ  ·  Obj. 4 evaluate travel time and latency</a:t>
            </a:r>
          </a:p>
        </p:txBody>
      </p:sp>
      <p:sp>
        <p:nvSpPr>
          <p:cNvPr id="16" name="Rounded Rectangle 15"/>
          <p:cNvSpPr/>
          <p:nvPr/>
        </p:nvSpPr>
        <p:spPr>
          <a:xfrm>
            <a:off x="457200" y="4480560"/>
            <a:ext cx="11247120" cy="137160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617720"/>
            <a:ext cx="10789920" cy="256032"/>
          </a:xfrm>
          <a:prstGeom prst="rect">
            <a:avLst/>
          </a:prstGeom>
          <a:noFill/>
        </p:spPr>
        <p:txBody>
          <a:bodyPr wrap="square">
            <a:spAutoFit/>
          </a:bodyPr>
          <a:lstStyle/>
          <a:p>
            <a:pPr algn="l"/>
            <a:r>
              <a:rPr sz="1400" b="1">
                <a:solidFill>
                  <a:srgbClr val="E8A838"/>
                </a:solidFill>
                <a:latin typeface="Calibri"/>
              </a:rPr>
              <a:t>Scope of this seminar</a:t>
            </a:r>
          </a:p>
        </p:txBody>
      </p:sp>
      <p:sp>
        <p:nvSpPr>
          <p:cNvPr id="18" name="TextBox 17"/>
          <p:cNvSpPr txBox="1"/>
          <p:nvPr/>
        </p:nvSpPr>
        <p:spPr>
          <a:xfrm>
            <a:off x="685800" y="4937760"/>
            <a:ext cx="10789920" cy="731520"/>
          </a:xfrm>
          <a:prstGeom prst="rect">
            <a:avLst/>
          </a:prstGeom>
          <a:noFill/>
        </p:spPr>
        <p:txBody>
          <a:bodyPr wrap="square">
            <a:spAutoFit/>
          </a:bodyPr>
          <a:lstStyle/>
          <a:p>
            <a:pPr algn="l"/>
            <a:r>
              <a:rPr sz="1500" b="0">
                <a:solidFill>
                  <a:srgbClr val="FFFFFF"/>
                </a:solidFill>
                <a:latin typeface="Calibri"/>
              </a:rPr>
              <a:t>Objectives 1–2 are summarised (architecture, MAE, two datasets). Objectives 3–4 are reported in full: δ sweep, 900 matched journeys, four baselines, and computational feasibility.</a:t>
            </a:r>
          </a:p>
        </p:txBody>
      </p:sp>
      <p:sp>
        <p:nvSpPr>
          <p:cNvPr id="19" name="Rectangle 18"/>
          <p:cNvSpPr/>
          <p:nvPr/>
        </p:nvSpPr>
        <p:spPr>
          <a:xfrm>
            <a:off x="0" y="6748272"/>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565392"/>
            <a:ext cx="9601200" cy="201168"/>
          </a:xfrm>
          <a:prstGeom prst="rect">
            <a:avLst/>
          </a:prstGeom>
          <a:noFill/>
        </p:spPr>
        <p:txBody>
          <a:bodyPr wrap="none">
            <a:spAutoFit/>
          </a:bodyPr>
          <a:lstStyle/>
          <a:p>
            <a:r>
              <a:rPr sz="1000">
                <a:solidFill>
                  <a:srgbClr val="A0B0D0"/>
                </a:solidFill>
                <a:latin typeface="Calibri"/>
              </a:rPr>
              <a:t>Kirinyaga University  ·  MSc Computer Science  ·  Freshia Njoki Macharia</a:t>
            </a:r>
          </a:p>
        </p:txBody>
      </p:sp>
      <p:sp>
        <p:nvSpPr>
          <p:cNvPr id="21" name="TextBox 20"/>
          <p:cNvSpPr txBox="1"/>
          <p:nvPr/>
        </p:nvSpPr>
        <p:spPr>
          <a:xfrm>
            <a:off x="10607040" y="6565392"/>
            <a:ext cx="1280160" cy="201168"/>
          </a:xfrm>
          <a:prstGeom prst="rect">
            <a:avLst/>
          </a:prstGeom>
          <a:noFill/>
        </p:spPr>
        <p:txBody>
          <a:bodyPr wrap="none">
            <a:spAutoFit/>
          </a:bodyPr>
          <a:lstStyle/>
          <a:p>
            <a:pPr algn="r"/>
            <a:r>
              <a:rPr sz="1000">
                <a:solidFill>
                  <a:srgbClr val="A0B0D0"/>
                </a:solidFill>
                <a:latin typeface="Calibri"/>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11480"/>
          </a:xfrm>
          <a:prstGeom prst="rect">
            <a:avLst/>
          </a:prstGeom>
          <a:noFill/>
        </p:spPr>
        <p:txBody>
          <a:bodyPr wrap="square">
            <a:spAutoFit/>
          </a:bodyPr>
          <a:lstStyle/>
          <a:p>
            <a:pPr algn="l"/>
            <a:r>
              <a:rPr sz="2600" b="1">
                <a:solidFill>
                  <a:srgbClr val="FFFFFF"/>
                </a:solidFill>
                <a:latin typeface="Cambria"/>
              </a:rPr>
              <a:t>Proposed framework</a:t>
            </a:r>
          </a:p>
        </p:txBody>
      </p:sp>
      <p:sp>
        <p:nvSpPr>
          <p:cNvPr id="4" name="Rounded Rectangle 3"/>
          <p:cNvSpPr/>
          <p:nvPr/>
        </p:nvSpPr>
        <p:spPr>
          <a:xfrm>
            <a:off x="411480" y="868680"/>
            <a:ext cx="3657600" cy="214884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051560"/>
            <a:ext cx="3291840" cy="411480"/>
          </a:xfrm>
          <a:prstGeom prst="rect">
            <a:avLst/>
          </a:prstGeom>
          <a:noFill/>
        </p:spPr>
        <p:txBody>
          <a:bodyPr wrap="square">
            <a:spAutoFit/>
          </a:bodyPr>
          <a:lstStyle/>
          <a:p>
            <a:pPr algn="l"/>
            <a:r>
              <a:rPr sz="2800" b="1">
                <a:solidFill>
                  <a:srgbClr val="E8A838"/>
                </a:solidFill>
                <a:latin typeface="Cambria"/>
              </a:rPr>
              <a:t>1</a:t>
            </a:r>
          </a:p>
        </p:txBody>
      </p:sp>
      <p:sp>
        <p:nvSpPr>
          <p:cNvPr id="6" name="TextBox 5"/>
          <p:cNvSpPr txBox="1"/>
          <p:nvPr/>
        </p:nvSpPr>
        <p:spPr>
          <a:xfrm>
            <a:off x="594360" y="1554480"/>
            <a:ext cx="3291840" cy="365760"/>
          </a:xfrm>
          <a:prstGeom prst="rect">
            <a:avLst/>
          </a:prstGeom>
          <a:noFill/>
        </p:spPr>
        <p:txBody>
          <a:bodyPr wrap="square">
            <a:spAutoFit/>
          </a:bodyPr>
          <a:lstStyle/>
          <a:p>
            <a:pPr algn="l"/>
            <a:r>
              <a:rPr sz="1800" b="1">
                <a:solidFill>
                  <a:srgbClr val="CADCFC"/>
                </a:solidFill>
                <a:latin typeface="Calibri"/>
              </a:rPr>
              <a:t>Observe</a:t>
            </a:r>
          </a:p>
        </p:txBody>
      </p:sp>
      <p:sp>
        <p:nvSpPr>
          <p:cNvPr id="7" name="TextBox 6"/>
          <p:cNvSpPr txBox="1"/>
          <p:nvPr/>
        </p:nvSpPr>
        <p:spPr>
          <a:xfrm>
            <a:off x="594360" y="2011680"/>
            <a:ext cx="3291840" cy="777240"/>
          </a:xfrm>
          <a:prstGeom prst="rect">
            <a:avLst/>
          </a:prstGeom>
          <a:noFill/>
        </p:spPr>
        <p:txBody>
          <a:bodyPr wrap="square">
            <a:spAutoFit/>
          </a:bodyPr>
          <a:lstStyle/>
          <a:p>
            <a:pPr algn="l"/>
            <a:r>
              <a:rPr sz="1400" b="0">
                <a:solidFill>
                  <a:srgbClr val="FFFFFF"/>
                </a:solidFill>
                <a:latin typeface="Calibri"/>
              </a:rPr>
              <a:t>12 steps of detector speeds (60 minutes).</a:t>
            </a:r>
          </a:p>
        </p:txBody>
      </p:sp>
      <p:sp>
        <p:nvSpPr>
          <p:cNvPr id="8" name="Rounded Rectangle 7"/>
          <p:cNvSpPr/>
          <p:nvPr/>
        </p:nvSpPr>
        <p:spPr>
          <a:xfrm>
            <a:off x="4251960" y="868680"/>
            <a:ext cx="3657600" cy="214884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34840" y="1051560"/>
            <a:ext cx="3291840" cy="411480"/>
          </a:xfrm>
          <a:prstGeom prst="rect">
            <a:avLst/>
          </a:prstGeom>
          <a:noFill/>
        </p:spPr>
        <p:txBody>
          <a:bodyPr wrap="square">
            <a:spAutoFit/>
          </a:bodyPr>
          <a:lstStyle/>
          <a:p>
            <a:pPr algn="l"/>
            <a:r>
              <a:rPr sz="2800" b="1">
                <a:solidFill>
                  <a:srgbClr val="E8A838"/>
                </a:solidFill>
                <a:latin typeface="Cambria"/>
              </a:rPr>
              <a:t>2</a:t>
            </a:r>
          </a:p>
        </p:txBody>
      </p:sp>
      <p:sp>
        <p:nvSpPr>
          <p:cNvPr id="10" name="TextBox 9"/>
          <p:cNvSpPr txBox="1"/>
          <p:nvPr/>
        </p:nvSpPr>
        <p:spPr>
          <a:xfrm>
            <a:off x="4434840" y="1554480"/>
            <a:ext cx="3291840" cy="365760"/>
          </a:xfrm>
          <a:prstGeom prst="rect">
            <a:avLst/>
          </a:prstGeom>
          <a:noFill/>
        </p:spPr>
        <p:txBody>
          <a:bodyPr wrap="square">
            <a:spAutoFit/>
          </a:bodyPr>
          <a:lstStyle/>
          <a:p>
            <a:pPr algn="l"/>
            <a:r>
              <a:rPr sz="1800" b="1">
                <a:solidFill>
                  <a:srgbClr val="CADCFC"/>
                </a:solidFill>
                <a:latin typeface="Calibri"/>
              </a:rPr>
              <a:t>Forecast</a:t>
            </a:r>
          </a:p>
        </p:txBody>
      </p:sp>
      <p:sp>
        <p:nvSpPr>
          <p:cNvPr id="11" name="TextBox 10"/>
          <p:cNvSpPr txBox="1"/>
          <p:nvPr/>
        </p:nvSpPr>
        <p:spPr>
          <a:xfrm>
            <a:off x="4434840" y="2011680"/>
            <a:ext cx="3291840" cy="777240"/>
          </a:xfrm>
          <a:prstGeom prst="rect">
            <a:avLst/>
          </a:prstGeom>
          <a:noFill/>
        </p:spPr>
        <p:txBody>
          <a:bodyPr wrap="square">
            <a:spAutoFit/>
          </a:bodyPr>
          <a:lstStyle/>
          <a:p>
            <a:pPr algn="l"/>
            <a:r>
              <a:rPr sz="1400" b="0">
                <a:solidFill>
                  <a:srgbClr val="FFFFFF"/>
                </a:solidFill>
                <a:latin typeface="Calibri"/>
              </a:rPr>
              <a:t>Two-layer GRU, 64 units, dropout 0.2 → 6 steps (30 minutes).</a:t>
            </a:r>
          </a:p>
        </p:txBody>
      </p:sp>
      <p:sp>
        <p:nvSpPr>
          <p:cNvPr id="12" name="Rounded Rectangle 11"/>
          <p:cNvSpPr/>
          <p:nvPr/>
        </p:nvSpPr>
        <p:spPr>
          <a:xfrm>
            <a:off x="8092440" y="868680"/>
            <a:ext cx="3657600" cy="214884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75319" y="1051560"/>
            <a:ext cx="3291840" cy="411480"/>
          </a:xfrm>
          <a:prstGeom prst="rect">
            <a:avLst/>
          </a:prstGeom>
          <a:noFill/>
        </p:spPr>
        <p:txBody>
          <a:bodyPr wrap="square">
            <a:spAutoFit/>
          </a:bodyPr>
          <a:lstStyle/>
          <a:p>
            <a:pPr algn="l"/>
            <a:r>
              <a:rPr sz="2800" b="1">
                <a:solidFill>
                  <a:srgbClr val="E8A838"/>
                </a:solidFill>
                <a:latin typeface="Cambria"/>
              </a:rPr>
              <a:t>3</a:t>
            </a:r>
          </a:p>
        </p:txBody>
      </p:sp>
      <p:sp>
        <p:nvSpPr>
          <p:cNvPr id="14" name="TextBox 13"/>
          <p:cNvSpPr txBox="1"/>
          <p:nvPr/>
        </p:nvSpPr>
        <p:spPr>
          <a:xfrm>
            <a:off x="8275319" y="1554480"/>
            <a:ext cx="3291840" cy="365760"/>
          </a:xfrm>
          <a:prstGeom prst="rect">
            <a:avLst/>
          </a:prstGeom>
          <a:noFill/>
        </p:spPr>
        <p:txBody>
          <a:bodyPr wrap="square">
            <a:spAutoFit/>
          </a:bodyPr>
          <a:lstStyle/>
          <a:p>
            <a:pPr algn="l"/>
            <a:r>
              <a:rPr sz="1800" b="1">
                <a:solidFill>
                  <a:srgbClr val="CADCFC"/>
                </a:solidFill>
                <a:latin typeface="Calibri"/>
              </a:rPr>
              <a:t>Cost</a:t>
            </a:r>
          </a:p>
        </p:txBody>
      </p:sp>
      <p:sp>
        <p:nvSpPr>
          <p:cNvPr id="15" name="TextBox 14"/>
          <p:cNvSpPr txBox="1"/>
          <p:nvPr/>
        </p:nvSpPr>
        <p:spPr>
          <a:xfrm>
            <a:off x="8275319" y="2011680"/>
            <a:ext cx="3291840" cy="777240"/>
          </a:xfrm>
          <a:prstGeom prst="rect">
            <a:avLst/>
          </a:prstGeom>
          <a:noFill/>
        </p:spPr>
        <p:txBody>
          <a:bodyPr wrap="square">
            <a:spAutoFit/>
          </a:bodyPr>
          <a:lstStyle/>
          <a:p>
            <a:pPr algn="l"/>
            <a:r>
              <a:rPr sz="1400" b="0">
                <a:solidFill>
                  <a:srgbClr val="FFFFFF"/>
                </a:solidFill>
                <a:latin typeface="Calibri"/>
              </a:rPr>
              <a:t>Predicted mph converted to edge travel times on the detector graph.</a:t>
            </a:r>
          </a:p>
        </p:txBody>
      </p:sp>
      <p:sp>
        <p:nvSpPr>
          <p:cNvPr id="16" name="Rounded Rectangle 15"/>
          <p:cNvSpPr/>
          <p:nvPr/>
        </p:nvSpPr>
        <p:spPr>
          <a:xfrm>
            <a:off x="411480" y="3200400"/>
            <a:ext cx="3657600" cy="214884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383280"/>
            <a:ext cx="3291840" cy="411480"/>
          </a:xfrm>
          <a:prstGeom prst="rect">
            <a:avLst/>
          </a:prstGeom>
          <a:noFill/>
        </p:spPr>
        <p:txBody>
          <a:bodyPr wrap="square">
            <a:spAutoFit/>
          </a:bodyPr>
          <a:lstStyle/>
          <a:p>
            <a:pPr algn="l"/>
            <a:r>
              <a:rPr sz="2800" b="1">
                <a:solidFill>
                  <a:srgbClr val="E8A838"/>
                </a:solidFill>
                <a:latin typeface="Cambria"/>
              </a:rPr>
              <a:t>4</a:t>
            </a:r>
          </a:p>
        </p:txBody>
      </p:sp>
      <p:sp>
        <p:nvSpPr>
          <p:cNvPr id="18" name="TextBox 17"/>
          <p:cNvSpPr txBox="1"/>
          <p:nvPr/>
        </p:nvSpPr>
        <p:spPr>
          <a:xfrm>
            <a:off x="594360" y="3886200"/>
            <a:ext cx="3291840" cy="365760"/>
          </a:xfrm>
          <a:prstGeom prst="rect">
            <a:avLst/>
          </a:prstGeom>
          <a:noFill/>
        </p:spPr>
        <p:txBody>
          <a:bodyPr wrap="square">
            <a:spAutoFit/>
          </a:bodyPr>
          <a:lstStyle/>
          <a:p>
            <a:pPr algn="l"/>
            <a:r>
              <a:rPr sz="1800" b="1">
                <a:solidFill>
                  <a:srgbClr val="CADCFC"/>
                </a:solidFill>
                <a:latin typeface="Calibri"/>
              </a:rPr>
              <a:t>Route</a:t>
            </a:r>
          </a:p>
        </p:txBody>
      </p:sp>
      <p:sp>
        <p:nvSpPr>
          <p:cNvPr id="19" name="TextBox 18"/>
          <p:cNvSpPr txBox="1"/>
          <p:nvPr/>
        </p:nvSpPr>
        <p:spPr>
          <a:xfrm>
            <a:off x="594360" y="4343400"/>
            <a:ext cx="3291840" cy="777240"/>
          </a:xfrm>
          <a:prstGeom prst="rect">
            <a:avLst/>
          </a:prstGeom>
          <a:noFill/>
        </p:spPr>
        <p:txBody>
          <a:bodyPr wrap="square">
            <a:spAutoFit/>
          </a:bodyPr>
          <a:lstStyle/>
          <a:p>
            <a:pPr algn="l"/>
            <a:r>
              <a:rPr sz="1400" b="0">
                <a:solidFill>
                  <a:srgbClr val="FFFFFF"/>
                </a:solidFill>
                <a:latin typeface="Calibri"/>
              </a:rPr>
              <a:t>Time-dependent A* from origin to destination.</a:t>
            </a:r>
          </a:p>
        </p:txBody>
      </p:sp>
      <p:sp>
        <p:nvSpPr>
          <p:cNvPr id="20" name="Rounded Rectangle 19"/>
          <p:cNvSpPr/>
          <p:nvPr/>
        </p:nvSpPr>
        <p:spPr>
          <a:xfrm>
            <a:off x="4251960" y="3200400"/>
            <a:ext cx="3657600" cy="214884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4840" y="3383280"/>
            <a:ext cx="3291840" cy="411480"/>
          </a:xfrm>
          <a:prstGeom prst="rect">
            <a:avLst/>
          </a:prstGeom>
          <a:noFill/>
        </p:spPr>
        <p:txBody>
          <a:bodyPr wrap="square">
            <a:spAutoFit/>
          </a:bodyPr>
          <a:lstStyle/>
          <a:p>
            <a:pPr algn="l"/>
            <a:r>
              <a:rPr sz="2800" b="1">
                <a:solidFill>
                  <a:srgbClr val="E8A838"/>
                </a:solidFill>
                <a:latin typeface="Cambria"/>
              </a:rPr>
              <a:t>5</a:t>
            </a:r>
          </a:p>
        </p:txBody>
      </p:sp>
      <p:sp>
        <p:nvSpPr>
          <p:cNvPr id="22" name="TextBox 21"/>
          <p:cNvSpPr txBox="1"/>
          <p:nvPr/>
        </p:nvSpPr>
        <p:spPr>
          <a:xfrm>
            <a:off x="4434840" y="3886200"/>
            <a:ext cx="3291840" cy="365760"/>
          </a:xfrm>
          <a:prstGeom prst="rect">
            <a:avLst/>
          </a:prstGeom>
          <a:noFill/>
        </p:spPr>
        <p:txBody>
          <a:bodyPr wrap="square">
            <a:spAutoFit/>
          </a:bodyPr>
          <a:lstStyle/>
          <a:p>
            <a:pPr algn="l"/>
            <a:r>
              <a:rPr sz="1800" b="1">
                <a:solidFill>
                  <a:srgbClr val="CADCFC"/>
                </a:solidFill>
                <a:latin typeface="Calibri"/>
              </a:rPr>
              <a:t>Control</a:t>
            </a:r>
          </a:p>
        </p:txBody>
      </p:sp>
      <p:sp>
        <p:nvSpPr>
          <p:cNvPr id="23" name="TextBox 22"/>
          <p:cNvSpPr txBox="1"/>
          <p:nvPr/>
        </p:nvSpPr>
        <p:spPr>
          <a:xfrm>
            <a:off x="4434840" y="4343400"/>
            <a:ext cx="3291840" cy="777240"/>
          </a:xfrm>
          <a:prstGeom prst="rect">
            <a:avLst/>
          </a:prstGeom>
          <a:noFill/>
        </p:spPr>
        <p:txBody>
          <a:bodyPr wrap="square">
            <a:spAutoFit/>
          </a:bodyPr>
          <a:lstStyle/>
          <a:p>
            <a:pPr algn="l"/>
            <a:r>
              <a:rPr sz="1400" b="0">
                <a:solidFill>
                  <a:srgbClr val="FFFFFF"/>
                </a:solidFill>
                <a:latin typeface="Calibri"/>
              </a:rPr>
              <a:t>Offer a new path if remaining time grows by more than δ.</a:t>
            </a:r>
          </a:p>
        </p:txBody>
      </p:sp>
      <p:sp>
        <p:nvSpPr>
          <p:cNvPr id="24" name="Rounded Rectangle 23"/>
          <p:cNvSpPr/>
          <p:nvPr/>
        </p:nvSpPr>
        <p:spPr>
          <a:xfrm>
            <a:off x="8092440" y="3200400"/>
            <a:ext cx="3657600" cy="214884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75319" y="3383280"/>
            <a:ext cx="3291840" cy="411480"/>
          </a:xfrm>
          <a:prstGeom prst="rect">
            <a:avLst/>
          </a:prstGeom>
          <a:noFill/>
        </p:spPr>
        <p:txBody>
          <a:bodyPr wrap="square">
            <a:spAutoFit/>
          </a:bodyPr>
          <a:lstStyle/>
          <a:p>
            <a:pPr algn="l"/>
            <a:r>
              <a:rPr sz="2800" b="1">
                <a:solidFill>
                  <a:srgbClr val="E8A838"/>
                </a:solidFill>
                <a:latin typeface="Cambria"/>
              </a:rPr>
              <a:t>6</a:t>
            </a:r>
          </a:p>
        </p:txBody>
      </p:sp>
      <p:sp>
        <p:nvSpPr>
          <p:cNvPr id="26" name="TextBox 25"/>
          <p:cNvSpPr txBox="1"/>
          <p:nvPr/>
        </p:nvSpPr>
        <p:spPr>
          <a:xfrm>
            <a:off x="8275319" y="3886200"/>
            <a:ext cx="3291840" cy="365760"/>
          </a:xfrm>
          <a:prstGeom prst="rect">
            <a:avLst/>
          </a:prstGeom>
          <a:noFill/>
        </p:spPr>
        <p:txBody>
          <a:bodyPr wrap="square">
            <a:spAutoFit/>
          </a:bodyPr>
          <a:lstStyle/>
          <a:p>
            <a:pPr algn="l"/>
            <a:r>
              <a:rPr sz="1800" b="1">
                <a:solidFill>
                  <a:srgbClr val="CADCFC"/>
                </a:solidFill>
                <a:latin typeface="Calibri"/>
              </a:rPr>
              <a:t>Authority</a:t>
            </a:r>
          </a:p>
        </p:txBody>
      </p:sp>
      <p:sp>
        <p:nvSpPr>
          <p:cNvPr id="27" name="TextBox 26"/>
          <p:cNvSpPr txBox="1"/>
          <p:nvPr/>
        </p:nvSpPr>
        <p:spPr>
          <a:xfrm>
            <a:off x="8275319" y="4343400"/>
            <a:ext cx="3291840" cy="777240"/>
          </a:xfrm>
          <a:prstGeom prst="rect">
            <a:avLst/>
          </a:prstGeom>
          <a:noFill/>
        </p:spPr>
        <p:txBody>
          <a:bodyPr wrap="square">
            <a:spAutoFit/>
          </a:bodyPr>
          <a:lstStyle/>
          <a:p>
            <a:pPr algn="l"/>
            <a:r>
              <a:rPr sz="1400" b="0">
                <a:solidFill>
                  <a:srgbClr val="FFFFFF"/>
                </a:solidFill>
                <a:latin typeface="Calibri"/>
              </a:rPr>
              <a:t>Dispatcher accepts or rejects. The vehicle is not autonomous.</a:t>
            </a:r>
          </a:p>
        </p:txBody>
      </p:sp>
      <p:sp>
        <p:nvSpPr>
          <p:cNvPr id="28" name="Rectangle 27"/>
          <p:cNvSpPr/>
          <p:nvPr/>
        </p:nvSpPr>
        <p:spPr>
          <a:xfrm>
            <a:off x="0" y="6748272"/>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565392"/>
            <a:ext cx="9601200" cy="201168"/>
          </a:xfrm>
          <a:prstGeom prst="rect">
            <a:avLst/>
          </a:prstGeom>
          <a:noFill/>
        </p:spPr>
        <p:txBody>
          <a:bodyPr wrap="none">
            <a:spAutoFit/>
          </a:bodyPr>
          <a:lstStyle/>
          <a:p>
            <a:r>
              <a:rPr sz="1000">
                <a:solidFill>
                  <a:srgbClr val="A0B0D0"/>
                </a:solidFill>
                <a:latin typeface="Calibri"/>
              </a:rPr>
              <a:t>Kirinyaga University  ·  MSc Computer Science  ·  Freshia Njoki Macharia</a:t>
            </a:r>
          </a:p>
        </p:txBody>
      </p:sp>
      <p:sp>
        <p:nvSpPr>
          <p:cNvPr id="30" name="TextBox 29"/>
          <p:cNvSpPr txBox="1"/>
          <p:nvPr/>
        </p:nvSpPr>
        <p:spPr>
          <a:xfrm>
            <a:off x="10607040" y="6565392"/>
            <a:ext cx="1280160" cy="201168"/>
          </a:xfrm>
          <a:prstGeom prst="rect">
            <a:avLst/>
          </a:prstGeom>
          <a:noFill/>
        </p:spPr>
        <p:txBody>
          <a:bodyPr wrap="none">
            <a:spAutoFit/>
          </a:bodyPr>
          <a:lstStyle/>
          <a:p>
            <a:pPr algn="r"/>
            <a:r>
              <a:rPr sz="1000">
                <a:solidFill>
                  <a:srgbClr val="A0B0D0"/>
                </a:solidFill>
                <a:latin typeface="Calibri"/>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65760"/>
          </a:xfrm>
          <a:prstGeom prst="rect">
            <a:avLst/>
          </a:prstGeom>
          <a:noFill/>
        </p:spPr>
        <p:txBody>
          <a:bodyPr wrap="square">
            <a:spAutoFit/>
          </a:bodyPr>
          <a:lstStyle/>
          <a:p>
            <a:pPr algn="l"/>
            <a:r>
              <a:rPr sz="2600" b="1">
                <a:solidFill>
                  <a:srgbClr val="FFFFFF"/>
                </a:solidFill>
                <a:latin typeface="Cambria"/>
              </a:rPr>
              <a:t>Data, graph, and experimental design</a:t>
            </a:r>
          </a:p>
        </p:txBody>
      </p:sp>
      <p:sp>
        <p:nvSpPr>
          <p:cNvPr id="4" name="Rounded Rectangle 3"/>
          <p:cNvSpPr/>
          <p:nvPr/>
        </p:nvSpPr>
        <p:spPr>
          <a:xfrm>
            <a:off x="411480" y="777240"/>
            <a:ext cx="5577840" cy="502920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60120"/>
            <a:ext cx="5120640" cy="320040"/>
          </a:xfrm>
          <a:prstGeom prst="rect">
            <a:avLst/>
          </a:prstGeom>
          <a:noFill/>
        </p:spPr>
        <p:txBody>
          <a:bodyPr wrap="square">
            <a:spAutoFit/>
          </a:bodyPr>
          <a:lstStyle/>
          <a:p>
            <a:pPr algn="l"/>
            <a:r>
              <a:rPr sz="1600" b="1">
                <a:solidFill>
                  <a:srgbClr val="E8A838"/>
                </a:solidFill>
                <a:latin typeface="Calibri"/>
              </a:rPr>
              <a:t>Data and network</a:t>
            </a:r>
          </a:p>
        </p:txBody>
      </p:sp>
      <p:sp>
        <p:nvSpPr>
          <p:cNvPr id="6" name="TextBox 5"/>
          <p:cNvSpPr txBox="1"/>
          <p:nvPr/>
        </p:nvSpPr>
        <p:spPr>
          <a:xfrm>
            <a:off x="640080" y="1417320"/>
            <a:ext cx="5120640" cy="4114800"/>
          </a:xfrm>
          <a:prstGeom prst="rect">
            <a:avLst/>
          </a:prstGeom>
          <a:noFill/>
        </p:spPr>
        <p:txBody>
          <a:bodyPr wrap="square">
            <a:spAutoFit/>
          </a:bodyPr>
          <a:lstStyle/>
          <a:p>
            <a:pPr algn="l">
              <a:spcAft>
                <a:spcPts val="1400"/>
              </a:spcAft>
            </a:pPr>
            <a:r>
              <a:rPr sz="1500">
                <a:solidFill>
                  <a:srgbClr val="FFFFFF"/>
                </a:solidFill>
                <a:latin typeface="Calibri"/>
              </a:rPr>
              <a:t>•  METR-LA: 207 loop detectors, 34,272 five-minute frames (Li et al., 2018).</a:t>
            </a:r>
          </a:p>
          <a:p>
            <a:pPr algn="l">
              <a:spcAft>
                <a:spcPts val="1400"/>
              </a:spcAft>
            </a:pPr>
            <a:r>
              <a:rPr sz="1500">
                <a:solidFill>
                  <a:srgbClr val="FFFFFF"/>
                </a:solidFill>
                <a:latin typeface="Calibri"/>
              </a:rPr>
              <a:t>•  PEMS-BAY: 325 detectors, January–May 2017 (five months). Separate GRU; prediction only.</a:t>
            </a:r>
          </a:p>
          <a:p>
            <a:pPr algn="l">
              <a:spcAft>
                <a:spcPts val="1400"/>
              </a:spcAft>
            </a:pPr>
            <a:r>
              <a:rPr sz="1500">
                <a:solidFill>
                  <a:srgbClr val="FFFFFF"/>
                </a:solidFill>
                <a:latin typeface="Calibri"/>
              </a:rPr>
              <a:t>•  StandardScaler fitted on the training split only (no leakage from val/test).</a:t>
            </a:r>
          </a:p>
          <a:p>
            <a:pPr algn="l">
              <a:spcAft>
                <a:spcPts val="1400"/>
              </a:spcAft>
            </a:pPr>
            <a:r>
              <a:rPr sz="1500">
                <a:solidFill>
                  <a:srgbClr val="FFFFFF"/>
                </a:solidFill>
                <a:latin typeface="Calibri"/>
              </a:rPr>
              <a:t>•  Routing graph: METR-LA detector adjacency — 207 nodes, 1,515 edges, every edge instrumented.</a:t>
            </a:r>
          </a:p>
        </p:txBody>
      </p:sp>
      <p:sp>
        <p:nvSpPr>
          <p:cNvPr id="7" name="Rounded Rectangle 6"/>
          <p:cNvSpPr/>
          <p:nvPr/>
        </p:nvSpPr>
        <p:spPr>
          <a:xfrm>
            <a:off x="6217920" y="777240"/>
            <a:ext cx="5577840" cy="502920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960120"/>
            <a:ext cx="5120640" cy="320040"/>
          </a:xfrm>
          <a:prstGeom prst="rect">
            <a:avLst/>
          </a:prstGeom>
          <a:noFill/>
        </p:spPr>
        <p:txBody>
          <a:bodyPr wrap="square">
            <a:spAutoFit/>
          </a:bodyPr>
          <a:lstStyle/>
          <a:p>
            <a:pPr algn="l"/>
            <a:r>
              <a:rPr sz="1600" b="1">
                <a:solidFill>
                  <a:srgbClr val="E8A838"/>
                </a:solidFill>
                <a:latin typeface="Calibri"/>
              </a:rPr>
              <a:t>900-run design</a:t>
            </a:r>
          </a:p>
        </p:txBody>
      </p:sp>
      <p:sp>
        <p:nvSpPr>
          <p:cNvPr id="9" name="TextBox 8"/>
          <p:cNvSpPr txBox="1"/>
          <p:nvPr/>
        </p:nvSpPr>
        <p:spPr>
          <a:xfrm>
            <a:off x="6446520" y="1417320"/>
            <a:ext cx="5120640" cy="4114800"/>
          </a:xfrm>
          <a:prstGeom prst="rect">
            <a:avLst/>
          </a:prstGeom>
          <a:noFill/>
        </p:spPr>
        <p:txBody>
          <a:bodyPr wrap="square">
            <a:spAutoFit/>
          </a:bodyPr>
          <a:lstStyle/>
          <a:p>
            <a:pPr algn="l">
              <a:spcAft>
                <a:spcPts val="1400"/>
              </a:spcAft>
            </a:pPr>
            <a:r>
              <a:rPr sz="1500">
                <a:solidFill>
                  <a:srgbClr val="FFFFFF"/>
                </a:solidFill>
                <a:latin typeface="Calibri"/>
              </a:rPr>
              <a:t>•  75 origin–destination pairs (seed 42) × 3 scenarios × 4 δ values = 900 journeys.</a:t>
            </a:r>
          </a:p>
          <a:p>
            <a:pPr algn="l">
              <a:spcAft>
                <a:spcPts val="1400"/>
              </a:spcAft>
            </a:pPr>
            <a:r>
              <a:rPr sz="1500">
                <a:solidFill>
                  <a:srgbClr val="FFFFFF"/>
                </a:solidFill>
                <a:latin typeface="Calibri"/>
              </a:rPr>
              <a:t>•  Scenarios: peak (slowest quartile), off-peak (fastest quartile), incident (40% slowdown on the planned corridor).</a:t>
            </a:r>
          </a:p>
          <a:p>
            <a:pPr algn="l">
              <a:spcAft>
                <a:spcPts val="1400"/>
              </a:spcAft>
            </a:pPr>
            <a:r>
              <a:rPr sz="1500">
                <a:solidFill>
                  <a:srgbClr val="FFFFFF"/>
                </a:solidFill>
                <a:latin typeface="Calibri"/>
              </a:rPr>
              <a:t>•  Every method is walked on actual future speeds. Pairing is identical origin, destination, and clock.</a:t>
            </a:r>
          </a:p>
          <a:p>
            <a:pPr algn="l">
              <a:spcAft>
                <a:spcPts val="1400"/>
              </a:spcAft>
            </a:pPr>
            <a:r>
              <a:rPr sz="1500">
                <a:solidFill>
                  <a:srgbClr val="FFFFFF"/>
                </a:solidFill>
                <a:latin typeface="Calibri"/>
              </a:rPr>
              <a:t>•  B1 Dijkstra (current snapshot)  ·  B2 static A* (historical mean)  ·  B3 reactive A*  ·  B4 oracle.</a:t>
            </a:r>
          </a:p>
        </p:txBody>
      </p:sp>
      <p:sp>
        <p:nvSpPr>
          <p:cNvPr id="10" name="Rectangle 9"/>
          <p:cNvSpPr/>
          <p:nvPr/>
        </p:nvSpPr>
        <p:spPr>
          <a:xfrm>
            <a:off x="0" y="6748272"/>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565392"/>
            <a:ext cx="9601200" cy="201168"/>
          </a:xfrm>
          <a:prstGeom prst="rect">
            <a:avLst/>
          </a:prstGeom>
          <a:noFill/>
        </p:spPr>
        <p:txBody>
          <a:bodyPr wrap="none">
            <a:spAutoFit/>
          </a:bodyPr>
          <a:lstStyle/>
          <a:p>
            <a:r>
              <a:rPr sz="1000">
                <a:solidFill>
                  <a:srgbClr val="A0B0D0"/>
                </a:solidFill>
                <a:latin typeface="Calibri"/>
              </a:rPr>
              <a:t>Kirinyaga University  ·  MSc Computer Science  ·  Freshia Njoki Macharia</a:t>
            </a:r>
          </a:p>
        </p:txBody>
      </p:sp>
      <p:sp>
        <p:nvSpPr>
          <p:cNvPr id="12" name="TextBox 11"/>
          <p:cNvSpPr txBox="1"/>
          <p:nvPr/>
        </p:nvSpPr>
        <p:spPr>
          <a:xfrm>
            <a:off x="10607040" y="6565392"/>
            <a:ext cx="1280160" cy="201168"/>
          </a:xfrm>
          <a:prstGeom prst="rect">
            <a:avLst/>
          </a:prstGeom>
          <a:noFill/>
        </p:spPr>
        <p:txBody>
          <a:bodyPr wrap="none">
            <a:spAutoFit/>
          </a:bodyPr>
          <a:lstStyle/>
          <a:p>
            <a:pPr algn="r"/>
            <a:r>
              <a:rPr sz="1000">
                <a:solidFill>
                  <a:srgbClr val="A0B0D0"/>
                </a:solidFill>
                <a:latin typeface="Calibri"/>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0972800" cy="365760"/>
          </a:xfrm>
          <a:prstGeom prst="rect">
            <a:avLst/>
          </a:prstGeom>
          <a:noFill/>
        </p:spPr>
        <p:txBody>
          <a:bodyPr wrap="square">
            <a:spAutoFit/>
          </a:bodyPr>
          <a:lstStyle/>
          <a:p>
            <a:pPr algn="l"/>
            <a:r>
              <a:rPr sz="2600" b="1">
                <a:solidFill>
                  <a:srgbClr val="FFFFFF"/>
                </a:solidFill>
                <a:latin typeface="Cambria"/>
              </a:rPr>
              <a:t>Objectives 1 and 2 — prediction</a:t>
            </a:r>
          </a:p>
        </p:txBody>
      </p:sp>
      <p:sp>
        <p:nvSpPr>
          <p:cNvPr id="4" name="Rounded Rectangle 3"/>
          <p:cNvSpPr/>
          <p:nvPr/>
        </p:nvSpPr>
        <p:spPr>
          <a:xfrm>
            <a:off x="411480" y="731520"/>
            <a:ext cx="3657600" cy="169164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68680"/>
            <a:ext cx="3474720" cy="640080"/>
          </a:xfrm>
          <a:prstGeom prst="rect">
            <a:avLst/>
          </a:prstGeom>
          <a:noFill/>
        </p:spPr>
        <p:txBody>
          <a:bodyPr wrap="square">
            <a:spAutoFit/>
          </a:bodyPr>
          <a:lstStyle/>
          <a:p>
            <a:pPr algn="ctr"/>
            <a:r>
              <a:rPr sz="2800" b="1">
                <a:solidFill>
                  <a:srgbClr val="E8A838"/>
                </a:solidFill>
                <a:latin typeface="Cambria"/>
              </a:rPr>
              <a:t>3.48 mph</a:t>
            </a:r>
          </a:p>
        </p:txBody>
      </p:sp>
      <p:sp>
        <p:nvSpPr>
          <p:cNvPr id="6" name="TextBox 5"/>
          <p:cNvSpPr txBox="1"/>
          <p:nvPr/>
        </p:nvSpPr>
        <p:spPr>
          <a:xfrm>
            <a:off x="502920" y="1554480"/>
            <a:ext cx="3474720" cy="685800"/>
          </a:xfrm>
          <a:prstGeom prst="rect">
            <a:avLst/>
          </a:prstGeom>
          <a:noFill/>
        </p:spPr>
        <p:txBody>
          <a:bodyPr wrap="square">
            <a:spAutoFit/>
          </a:bodyPr>
          <a:lstStyle/>
          <a:p>
            <a:pPr algn="ctr"/>
            <a:r>
              <a:rPr sz="1300" b="0">
                <a:solidFill>
                  <a:srgbClr val="FFFFFF"/>
                </a:solidFill>
                <a:latin typeface="Calibri"/>
              </a:rPr>
              <a:t>METR-LA test MAE
RMSE 6.04 mph  ·  27 epochs</a:t>
            </a:r>
          </a:p>
        </p:txBody>
      </p:sp>
      <p:sp>
        <p:nvSpPr>
          <p:cNvPr id="7" name="Rounded Rectangle 6"/>
          <p:cNvSpPr/>
          <p:nvPr/>
        </p:nvSpPr>
        <p:spPr>
          <a:xfrm>
            <a:off x="4251960" y="731520"/>
            <a:ext cx="3657600" cy="169164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43400" y="868680"/>
            <a:ext cx="3474720" cy="640080"/>
          </a:xfrm>
          <a:prstGeom prst="rect">
            <a:avLst/>
          </a:prstGeom>
          <a:noFill/>
        </p:spPr>
        <p:txBody>
          <a:bodyPr wrap="square">
            <a:spAutoFit/>
          </a:bodyPr>
          <a:lstStyle/>
          <a:p>
            <a:pPr algn="ctr"/>
            <a:r>
              <a:rPr sz="2800" b="1">
                <a:solidFill>
                  <a:srgbClr val="E8A838"/>
                </a:solidFill>
                <a:latin typeface="Cambria"/>
              </a:rPr>
              <a:t>2.38 mph</a:t>
            </a:r>
          </a:p>
        </p:txBody>
      </p:sp>
      <p:sp>
        <p:nvSpPr>
          <p:cNvPr id="9" name="TextBox 8"/>
          <p:cNvSpPr txBox="1"/>
          <p:nvPr/>
        </p:nvSpPr>
        <p:spPr>
          <a:xfrm>
            <a:off x="4343400" y="1554480"/>
            <a:ext cx="3474720" cy="685800"/>
          </a:xfrm>
          <a:prstGeom prst="rect">
            <a:avLst/>
          </a:prstGeom>
          <a:noFill/>
        </p:spPr>
        <p:txBody>
          <a:bodyPr wrap="square">
            <a:spAutoFit/>
          </a:bodyPr>
          <a:lstStyle/>
          <a:p>
            <a:pPr algn="ctr"/>
            <a:r>
              <a:rPr sz="1300" b="0">
                <a:solidFill>
                  <a:srgbClr val="FFFFFF"/>
                </a:solidFill>
                <a:latin typeface="Calibri"/>
              </a:rPr>
              <a:t>PEMS-BAY test MAE
separate model  ·  79 epochs</a:t>
            </a:r>
          </a:p>
        </p:txBody>
      </p:sp>
      <p:sp>
        <p:nvSpPr>
          <p:cNvPr id="10" name="Rounded Rectangle 9"/>
          <p:cNvSpPr/>
          <p:nvPr/>
        </p:nvSpPr>
        <p:spPr>
          <a:xfrm>
            <a:off x="8092440" y="731520"/>
            <a:ext cx="3657600" cy="169164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80" y="868680"/>
            <a:ext cx="3474720" cy="640080"/>
          </a:xfrm>
          <a:prstGeom prst="rect">
            <a:avLst/>
          </a:prstGeom>
          <a:noFill/>
        </p:spPr>
        <p:txBody>
          <a:bodyPr wrap="square">
            <a:spAutoFit/>
          </a:bodyPr>
          <a:lstStyle/>
          <a:p>
            <a:pPr algn="ctr"/>
            <a:r>
              <a:rPr sz="2800" b="1">
                <a:solidFill>
                  <a:srgbClr val="E8A838"/>
                </a:solidFill>
                <a:latin typeface="Cambria"/>
              </a:rPr>
              <a:t>158 k</a:t>
            </a:r>
          </a:p>
        </p:txBody>
      </p:sp>
      <p:sp>
        <p:nvSpPr>
          <p:cNvPr id="12" name="TextBox 11"/>
          <p:cNvSpPr txBox="1"/>
          <p:nvPr/>
        </p:nvSpPr>
        <p:spPr>
          <a:xfrm>
            <a:off x="8183880" y="1554480"/>
            <a:ext cx="3474720" cy="685800"/>
          </a:xfrm>
          <a:prstGeom prst="rect">
            <a:avLst/>
          </a:prstGeom>
          <a:noFill/>
        </p:spPr>
        <p:txBody>
          <a:bodyPr wrap="square">
            <a:spAutoFit/>
          </a:bodyPr>
          <a:lstStyle/>
          <a:p>
            <a:pPr algn="ctr"/>
            <a:r>
              <a:rPr sz="1300" b="0">
                <a:solidFill>
                  <a:srgbClr val="FFFFFF"/>
                </a:solidFill>
                <a:latin typeface="Calibri"/>
              </a:rPr>
              <a:t>Trainable parameters
2 × 64 GRU, dropout 0.2</a:t>
            </a:r>
          </a:p>
        </p:txBody>
      </p:sp>
      <p:sp>
        <p:nvSpPr>
          <p:cNvPr id="13" name="Rounded Rectangle 12"/>
          <p:cNvSpPr/>
          <p:nvPr/>
        </p:nvSpPr>
        <p:spPr>
          <a:xfrm>
            <a:off x="411480" y="2651760"/>
            <a:ext cx="11338560" cy="315468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834640"/>
            <a:ext cx="10972800" cy="320040"/>
          </a:xfrm>
          <a:prstGeom prst="rect">
            <a:avLst/>
          </a:prstGeom>
          <a:noFill/>
        </p:spPr>
        <p:txBody>
          <a:bodyPr wrap="square">
            <a:spAutoFit/>
          </a:bodyPr>
          <a:lstStyle/>
          <a:p>
            <a:pPr algn="l"/>
            <a:r>
              <a:rPr sz="1600" b="1">
                <a:solidFill>
                  <a:srgbClr val="E8A838"/>
                </a:solidFill>
                <a:latin typeface="Calibri"/>
              </a:rPr>
              <a:t>What this means for routing</a:t>
            </a:r>
          </a:p>
        </p:txBody>
      </p:sp>
      <p:sp>
        <p:nvSpPr>
          <p:cNvPr id="15" name="TextBox 14"/>
          <p:cNvSpPr txBox="1"/>
          <p:nvPr/>
        </p:nvSpPr>
        <p:spPr>
          <a:xfrm>
            <a:off x="640080" y="3246120"/>
            <a:ext cx="10881360" cy="2331720"/>
          </a:xfrm>
          <a:prstGeom prst="rect">
            <a:avLst/>
          </a:prstGeom>
          <a:noFill/>
        </p:spPr>
        <p:txBody>
          <a:bodyPr wrap="square">
            <a:spAutoFit/>
          </a:bodyPr>
          <a:lstStyle/>
          <a:p>
            <a:pPr algn="l">
              <a:spcAft>
                <a:spcPts val="1000"/>
              </a:spcAft>
            </a:pPr>
            <a:r>
              <a:rPr sz="1500">
                <a:solidFill>
                  <a:srgbClr val="FFFFFF"/>
                </a:solidFill>
                <a:latin typeface="Calibri"/>
              </a:rPr>
              <a:t>•  A 3.48 mph error on freeway speeds is small enough to rank corridors, not to replace a dispatcher.</a:t>
            </a:r>
          </a:p>
          <a:p>
            <a:pPr algn="l">
              <a:spcAft>
                <a:spcPts val="1000"/>
              </a:spcAft>
            </a:pPr>
            <a:r>
              <a:rPr sz="1500">
                <a:solidFill>
                  <a:srgbClr val="FFFFFF"/>
                </a:solidFill>
                <a:latin typeface="Calibri"/>
              </a:rPr>
              <a:t>•  PEMS-BAY confirms the architecture in a second city. It is not a second 900-run routing city.</a:t>
            </a:r>
          </a:p>
          <a:p>
            <a:pPr algn="l">
              <a:spcAft>
                <a:spcPts val="1000"/>
              </a:spcAft>
            </a:pPr>
            <a:r>
              <a:rPr sz="1500">
                <a:solidFill>
                  <a:srgbClr val="FFFFFF"/>
                </a:solidFill>
                <a:latin typeface="Calibri"/>
              </a:rPr>
              <a:t>•  Input window 60 minutes; forecast horizon 30 minutes — matched to a typical urban emergency trip.</a:t>
            </a:r>
          </a:p>
          <a:p>
            <a:pPr algn="l">
              <a:spcAft>
                <a:spcPts val="1000"/>
              </a:spcAft>
            </a:pPr>
            <a:r>
              <a:rPr sz="1500">
                <a:solidFill>
                  <a:srgbClr val="FFFFFF"/>
                </a:solidFill>
                <a:latin typeface="Calibri"/>
              </a:rPr>
              <a:t>•  The defended METR-LA checkpoint is the 27-epoch model (MAE 3.48 mph) used for the 900 journeys.</a:t>
            </a:r>
          </a:p>
        </p:txBody>
      </p:sp>
      <p:sp>
        <p:nvSpPr>
          <p:cNvPr id="16" name="Rectangle 15"/>
          <p:cNvSpPr/>
          <p:nvPr/>
        </p:nvSpPr>
        <p:spPr>
          <a:xfrm>
            <a:off x="0" y="6748272"/>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565392"/>
            <a:ext cx="9601200" cy="201168"/>
          </a:xfrm>
          <a:prstGeom prst="rect">
            <a:avLst/>
          </a:prstGeom>
          <a:noFill/>
        </p:spPr>
        <p:txBody>
          <a:bodyPr wrap="none">
            <a:spAutoFit/>
          </a:bodyPr>
          <a:lstStyle/>
          <a:p>
            <a:r>
              <a:rPr sz="1000">
                <a:solidFill>
                  <a:srgbClr val="A0B0D0"/>
                </a:solidFill>
                <a:latin typeface="Calibri"/>
              </a:rPr>
              <a:t>Kirinyaga University  ·  MSc Computer Science  ·  Freshia Njoki Macharia</a:t>
            </a:r>
          </a:p>
        </p:txBody>
      </p:sp>
      <p:sp>
        <p:nvSpPr>
          <p:cNvPr id="18" name="TextBox 17"/>
          <p:cNvSpPr txBox="1"/>
          <p:nvPr/>
        </p:nvSpPr>
        <p:spPr>
          <a:xfrm>
            <a:off x="10607040" y="6565392"/>
            <a:ext cx="1280160" cy="201168"/>
          </a:xfrm>
          <a:prstGeom prst="rect">
            <a:avLst/>
          </a:prstGeom>
          <a:noFill/>
        </p:spPr>
        <p:txBody>
          <a:bodyPr wrap="none">
            <a:spAutoFit/>
          </a:bodyPr>
          <a:lstStyle/>
          <a:p>
            <a:pPr algn="r"/>
            <a:r>
              <a:rPr sz="1000">
                <a:solidFill>
                  <a:srgbClr val="A0B0D0"/>
                </a:solidFill>
                <a:latin typeface="Calibri"/>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0972800" cy="365760"/>
          </a:xfrm>
          <a:prstGeom prst="rect">
            <a:avLst/>
          </a:prstGeom>
          <a:noFill/>
        </p:spPr>
        <p:txBody>
          <a:bodyPr wrap="square">
            <a:spAutoFit/>
          </a:bodyPr>
          <a:lstStyle/>
          <a:p>
            <a:pPr algn="l"/>
            <a:r>
              <a:rPr sz="2400" b="1">
                <a:solidFill>
                  <a:srgbClr val="FFFFFF"/>
                </a:solidFill>
                <a:latin typeface="Cambria"/>
              </a:rPr>
              <a:t>Objective 3 — remaining-time threshold δ</a:t>
            </a:r>
          </a:p>
        </p:txBody>
      </p:sp>
      <p:pic>
        <p:nvPicPr>
          <p:cNvPr id="4" name="Picture 3" descr="fig3_delta_sensitivity.png"/>
          <p:cNvPicPr>
            <a:picLocks noChangeAspect="1"/>
          </p:cNvPicPr>
          <p:nvPr/>
        </p:nvPicPr>
        <p:blipFill>
          <a:blip r:embed="rId2"/>
          <a:stretch>
            <a:fillRect/>
          </a:stretch>
        </p:blipFill>
        <p:spPr>
          <a:xfrm>
            <a:off x="274320" y="640080"/>
            <a:ext cx="7498079" cy="3127722"/>
          </a:xfrm>
          <a:prstGeom prst="rect">
            <a:avLst/>
          </a:prstGeom>
        </p:spPr>
      </p:pic>
      <p:sp>
        <p:nvSpPr>
          <p:cNvPr id="5" name="Rounded Rectangle 4"/>
          <p:cNvSpPr/>
          <p:nvPr/>
        </p:nvSpPr>
        <p:spPr>
          <a:xfrm>
            <a:off x="7909560" y="640080"/>
            <a:ext cx="3886200" cy="521208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92440" y="777240"/>
            <a:ext cx="3566160" cy="320040"/>
          </a:xfrm>
          <a:prstGeom prst="rect">
            <a:avLst/>
          </a:prstGeom>
          <a:noFill/>
        </p:spPr>
        <p:txBody>
          <a:bodyPr wrap="square">
            <a:spAutoFit/>
          </a:bodyPr>
          <a:lstStyle/>
          <a:p>
            <a:pPr algn="l"/>
            <a:r>
              <a:rPr sz="1600" b="1">
                <a:solidFill>
                  <a:srgbClr val="E8A838"/>
                </a:solidFill>
                <a:latin typeface="Calibri"/>
              </a:rPr>
              <a:t>Finding</a:t>
            </a:r>
          </a:p>
        </p:txBody>
      </p:sp>
      <p:sp>
        <p:nvSpPr>
          <p:cNvPr id="7" name="TextBox 6"/>
          <p:cNvSpPr txBox="1"/>
          <p:nvPr/>
        </p:nvSpPr>
        <p:spPr>
          <a:xfrm>
            <a:off x="8092440" y="1188720"/>
            <a:ext cx="3566160" cy="4434840"/>
          </a:xfrm>
          <a:prstGeom prst="rect">
            <a:avLst/>
          </a:prstGeom>
          <a:noFill/>
        </p:spPr>
        <p:txBody>
          <a:bodyPr wrap="square">
            <a:spAutoFit/>
          </a:bodyPr>
          <a:lstStyle/>
          <a:p>
            <a:pPr algn="l"/>
            <a:r>
              <a:rPr sz="1300" b="0">
                <a:solidFill>
                  <a:srgbClr val="FFFFFF"/>
                </a:solidFill>
                <a:latin typeface="Calibri"/>
              </a:rPr>
              <a:t>δ = 0.05 means: offer a new path if remaining time from the current position grows by 5%.
Tested {0.05, 0.10, 0.15, 0.20}.
Travel time did not move (ANOVA F ≈ 0.001, p = 1.00).
Incident reduction stayed ≈ 16% at every δ, with about one replan per journey.
Recommended default: δ = 0.20 — same travel time, slightly fewer alerts.
0.10 was the Chapter 3 starting guess, not the measured default.
δ is a policy. α = .05 is a significance level. They are not the same 0.05.</a:t>
            </a:r>
          </a:p>
        </p:txBody>
      </p:sp>
      <p:sp>
        <p:nvSpPr>
          <p:cNvPr id="8" name="Rectangle 7"/>
          <p:cNvSpPr/>
          <p:nvPr/>
        </p:nvSpPr>
        <p:spPr>
          <a:xfrm>
            <a:off x="0" y="6748272"/>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65392"/>
            <a:ext cx="9601200" cy="201168"/>
          </a:xfrm>
          <a:prstGeom prst="rect">
            <a:avLst/>
          </a:prstGeom>
          <a:noFill/>
        </p:spPr>
        <p:txBody>
          <a:bodyPr wrap="none">
            <a:spAutoFit/>
          </a:bodyPr>
          <a:lstStyle/>
          <a:p>
            <a:r>
              <a:rPr sz="1000">
                <a:solidFill>
                  <a:srgbClr val="A0B0D0"/>
                </a:solidFill>
                <a:latin typeface="Calibri"/>
              </a:rPr>
              <a:t>Kirinyaga University  ·  MSc Computer Science  ·  Freshia Njoki Macharia</a:t>
            </a:r>
          </a:p>
        </p:txBody>
      </p:sp>
      <p:sp>
        <p:nvSpPr>
          <p:cNvPr id="10" name="TextBox 9"/>
          <p:cNvSpPr txBox="1"/>
          <p:nvPr/>
        </p:nvSpPr>
        <p:spPr>
          <a:xfrm>
            <a:off x="10607040" y="6565392"/>
            <a:ext cx="1280160" cy="201168"/>
          </a:xfrm>
          <a:prstGeom prst="rect">
            <a:avLst/>
          </a:prstGeom>
          <a:noFill/>
        </p:spPr>
        <p:txBody>
          <a:bodyPr wrap="none">
            <a:spAutoFit/>
          </a:bodyPr>
          <a:lstStyle/>
          <a:p>
            <a:pPr algn="r"/>
            <a:r>
              <a:rPr sz="1000">
                <a:solidFill>
                  <a:srgbClr val="A0B0D0"/>
                </a:solidFill>
                <a:latin typeface="Calibri"/>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0972800" cy="365760"/>
          </a:xfrm>
          <a:prstGeom prst="rect">
            <a:avLst/>
          </a:prstGeom>
          <a:noFill/>
        </p:spPr>
        <p:txBody>
          <a:bodyPr wrap="square">
            <a:spAutoFit/>
          </a:bodyPr>
          <a:lstStyle/>
          <a:p>
            <a:pPr algn="l"/>
            <a:r>
              <a:rPr sz="2400" b="1">
                <a:solidFill>
                  <a:srgbClr val="FFFFFF"/>
                </a:solidFill>
                <a:latin typeface="Cambria"/>
              </a:rPr>
              <a:t>Objective 4 — realised journey time</a:t>
            </a:r>
          </a:p>
        </p:txBody>
      </p:sp>
      <p:pic>
        <p:nvPicPr>
          <p:cNvPr id="4" name="Picture 3" descr="fig1_travel_time_comparison.png"/>
          <p:cNvPicPr>
            <a:picLocks noChangeAspect="1"/>
          </p:cNvPicPr>
          <p:nvPr/>
        </p:nvPicPr>
        <p:blipFill>
          <a:blip r:embed="rId2"/>
          <a:stretch>
            <a:fillRect/>
          </a:stretch>
        </p:blipFill>
        <p:spPr>
          <a:xfrm>
            <a:off x="228600" y="640080"/>
            <a:ext cx="7498079" cy="4118584"/>
          </a:xfrm>
          <a:prstGeom prst="rect">
            <a:avLst/>
          </a:prstGeom>
        </p:spPr>
      </p:pic>
      <p:sp>
        <p:nvSpPr>
          <p:cNvPr id="5" name="Rounded Rectangle 4"/>
          <p:cNvSpPr/>
          <p:nvPr/>
        </p:nvSpPr>
        <p:spPr>
          <a:xfrm>
            <a:off x="7818120" y="640080"/>
            <a:ext cx="4023360" cy="521208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01000" y="777240"/>
            <a:ext cx="3657600" cy="320040"/>
          </a:xfrm>
          <a:prstGeom prst="rect">
            <a:avLst/>
          </a:prstGeom>
          <a:noFill/>
        </p:spPr>
        <p:txBody>
          <a:bodyPr wrap="square">
            <a:spAutoFit/>
          </a:bodyPr>
          <a:lstStyle/>
          <a:p>
            <a:pPr algn="l"/>
            <a:r>
              <a:rPr sz="1600" b="1">
                <a:solidFill>
                  <a:srgbClr val="E8A838"/>
                </a:solidFill>
                <a:latin typeface="Calibri"/>
              </a:rPr>
              <a:t>Mean travel time (s)</a:t>
            </a:r>
          </a:p>
        </p:txBody>
      </p:sp>
      <p:sp>
        <p:nvSpPr>
          <p:cNvPr id="7" name="TextBox 6"/>
          <p:cNvSpPr txBox="1"/>
          <p:nvPr/>
        </p:nvSpPr>
        <p:spPr>
          <a:xfrm>
            <a:off x="8001000" y="1188720"/>
            <a:ext cx="3657600" cy="4480560"/>
          </a:xfrm>
          <a:prstGeom prst="rect">
            <a:avLst/>
          </a:prstGeom>
          <a:noFill/>
        </p:spPr>
        <p:txBody>
          <a:bodyPr wrap="square">
            <a:spAutoFit/>
          </a:bodyPr>
          <a:lstStyle/>
          <a:p>
            <a:pPr algn="l"/>
            <a:r>
              <a:rPr sz="1400" b="0">
                <a:solidFill>
                  <a:srgbClr val="FFFFFF"/>
                </a:solidFill>
                <a:latin typeface="Calibri"/>
              </a:rPr>
              <a:t>Incident
  Dijkstra  ≈  728 s
  Framework  ≈  599 s
  Reactive A*  ≈  604 s
  Oracle  ≈  581 s
Peak
  Framework  ≈  506 s
  Dijkstra  ≈  513 s
Off-peak
  Both  ≈  403 s
The framework does not beat the oracle. That is required if B4 is an honest ceiling.</a:t>
            </a:r>
          </a:p>
        </p:txBody>
      </p:sp>
      <p:sp>
        <p:nvSpPr>
          <p:cNvPr id="8" name="Rectangle 7"/>
          <p:cNvSpPr/>
          <p:nvPr/>
        </p:nvSpPr>
        <p:spPr>
          <a:xfrm>
            <a:off x="0" y="6748272"/>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65392"/>
            <a:ext cx="9601200" cy="201168"/>
          </a:xfrm>
          <a:prstGeom prst="rect">
            <a:avLst/>
          </a:prstGeom>
          <a:noFill/>
        </p:spPr>
        <p:txBody>
          <a:bodyPr wrap="none">
            <a:spAutoFit/>
          </a:bodyPr>
          <a:lstStyle/>
          <a:p>
            <a:r>
              <a:rPr sz="1000">
                <a:solidFill>
                  <a:srgbClr val="A0B0D0"/>
                </a:solidFill>
                <a:latin typeface="Calibri"/>
              </a:rPr>
              <a:t>Kirinyaga University  ·  MSc Computer Science  ·  Freshia Njoki Macharia</a:t>
            </a:r>
          </a:p>
        </p:txBody>
      </p:sp>
      <p:sp>
        <p:nvSpPr>
          <p:cNvPr id="10" name="TextBox 9"/>
          <p:cNvSpPr txBox="1"/>
          <p:nvPr/>
        </p:nvSpPr>
        <p:spPr>
          <a:xfrm>
            <a:off x="10607040" y="6565392"/>
            <a:ext cx="1280160" cy="201168"/>
          </a:xfrm>
          <a:prstGeom prst="rect">
            <a:avLst/>
          </a:prstGeom>
          <a:noFill/>
        </p:spPr>
        <p:txBody>
          <a:bodyPr wrap="none">
            <a:spAutoFit/>
          </a:bodyPr>
          <a:lstStyle/>
          <a:p>
            <a:pPr algn="r"/>
            <a:r>
              <a:rPr sz="1000">
                <a:solidFill>
                  <a:srgbClr val="A0B0D0"/>
                </a:solidFill>
                <a:latin typeface="Calibri"/>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0972800" cy="365760"/>
          </a:xfrm>
          <a:prstGeom prst="rect">
            <a:avLst/>
          </a:prstGeom>
          <a:noFill/>
        </p:spPr>
        <p:txBody>
          <a:bodyPr wrap="square">
            <a:spAutoFit/>
          </a:bodyPr>
          <a:lstStyle/>
          <a:p>
            <a:pPr algn="l"/>
            <a:r>
              <a:rPr sz="2400" b="1">
                <a:solidFill>
                  <a:srgbClr val="FFFFFF"/>
                </a:solidFill>
                <a:latin typeface="Cambria"/>
              </a:rPr>
              <a:t>Objective 4 — reduction versus Dijkstra</a:t>
            </a:r>
          </a:p>
        </p:txBody>
      </p:sp>
      <p:pic>
        <p:nvPicPr>
          <p:cNvPr id="4" name="Picture 3" descr="fig2_reduction_by_scenario.png"/>
          <p:cNvPicPr>
            <a:picLocks noChangeAspect="1"/>
          </p:cNvPicPr>
          <p:nvPr/>
        </p:nvPicPr>
        <p:blipFill>
          <a:blip r:embed="rId2"/>
          <a:stretch>
            <a:fillRect/>
          </a:stretch>
        </p:blipFill>
        <p:spPr>
          <a:xfrm>
            <a:off x="228600" y="640080"/>
            <a:ext cx="7589520" cy="2998402"/>
          </a:xfrm>
          <a:prstGeom prst="rect">
            <a:avLst/>
          </a:prstGeom>
        </p:spPr>
      </p:pic>
      <p:sp>
        <p:nvSpPr>
          <p:cNvPr id="5" name="Rounded Rectangle 4"/>
          <p:cNvSpPr/>
          <p:nvPr/>
        </p:nvSpPr>
        <p:spPr>
          <a:xfrm>
            <a:off x="7955279" y="640080"/>
            <a:ext cx="3840480" cy="521208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38160" y="777240"/>
            <a:ext cx="3520440" cy="320040"/>
          </a:xfrm>
          <a:prstGeom prst="rect">
            <a:avLst/>
          </a:prstGeom>
          <a:noFill/>
        </p:spPr>
        <p:txBody>
          <a:bodyPr wrap="square">
            <a:spAutoFit/>
          </a:bodyPr>
          <a:lstStyle/>
          <a:p>
            <a:pPr algn="l"/>
            <a:r>
              <a:rPr sz="1600" b="1">
                <a:solidFill>
                  <a:srgbClr val="E8A838"/>
                </a:solidFill>
                <a:latin typeface="Calibri"/>
              </a:rPr>
              <a:t>Paired results (N = 300)</a:t>
            </a:r>
          </a:p>
        </p:txBody>
      </p:sp>
      <p:sp>
        <p:nvSpPr>
          <p:cNvPr id="7" name="TextBox 6"/>
          <p:cNvSpPr txBox="1"/>
          <p:nvPr/>
        </p:nvSpPr>
        <p:spPr>
          <a:xfrm>
            <a:off x="8138160" y="1188720"/>
            <a:ext cx="3520440" cy="4480560"/>
          </a:xfrm>
          <a:prstGeom prst="rect">
            <a:avLst/>
          </a:prstGeom>
          <a:noFill/>
        </p:spPr>
        <p:txBody>
          <a:bodyPr wrap="square">
            <a:spAutoFit/>
          </a:bodyPr>
          <a:lstStyle/>
          <a:p>
            <a:pPr algn="l"/>
            <a:r>
              <a:rPr sz="1300" b="0">
                <a:solidFill>
                  <a:srgbClr val="FFFFFF"/>
                </a:solidFill>
                <a:latin typeface="Calibri"/>
              </a:rPr>
              <a:t>Incident  +16.19%
  t = 26.43,  p &lt; .001
  ~1.03 replans / journey
Peak  +1.03%
  t = 3.81,  p = .0002
Off-peak  +0.01%
  p = .90  (not significant)
Overall  +5.74%
vs static A*  +7.39%
vs reactive A*  +0.61%
vs oracle  −1.69%
Overall is a mixture. Do not promise 16% on every trip.</a:t>
            </a:r>
          </a:p>
        </p:txBody>
      </p:sp>
      <p:sp>
        <p:nvSpPr>
          <p:cNvPr id="8" name="Rectangle 7"/>
          <p:cNvSpPr/>
          <p:nvPr/>
        </p:nvSpPr>
        <p:spPr>
          <a:xfrm>
            <a:off x="0" y="6748272"/>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65392"/>
            <a:ext cx="9601200" cy="201168"/>
          </a:xfrm>
          <a:prstGeom prst="rect">
            <a:avLst/>
          </a:prstGeom>
          <a:noFill/>
        </p:spPr>
        <p:txBody>
          <a:bodyPr wrap="none">
            <a:spAutoFit/>
          </a:bodyPr>
          <a:lstStyle/>
          <a:p>
            <a:r>
              <a:rPr sz="1000">
                <a:solidFill>
                  <a:srgbClr val="A0B0D0"/>
                </a:solidFill>
                <a:latin typeface="Calibri"/>
              </a:rPr>
              <a:t>Kirinyaga University  ·  MSc Computer Science  ·  Freshia Njoki Macharia</a:t>
            </a:r>
          </a:p>
        </p:txBody>
      </p:sp>
      <p:sp>
        <p:nvSpPr>
          <p:cNvPr id="10" name="TextBox 9"/>
          <p:cNvSpPr txBox="1"/>
          <p:nvPr/>
        </p:nvSpPr>
        <p:spPr>
          <a:xfrm>
            <a:off x="10607040" y="6565392"/>
            <a:ext cx="1280160" cy="201168"/>
          </a:xfrm>
          <a:prstGeom prst="rect">
            <a:avLst/>
          </a:prstGeom>
          <a:noFill/>
        </p:spPr>
        <p:txBody>
          <a:bodyPr wrap="none">
            <a:spAutoFit/>
          </a:bodyPr>
          <a:lstStyle/>
          <a:p>
            <a:pPr algn="r"/>
            <a:r>
              <a:rPr sz="1000">
                <a:solidFill>
                  <a:srgbClr val="A0B0D0"/>
                </a:solidFill>
                <a:latin typeface="Calibri"/>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0972800" cy="365760"/>
          </a:xfrm>
          <a:prstGeom prst="rect">
            <a:avLst/>
          </a:prstGeom>
          <a:noFill/>
        </p:spPr>
        <p:txBody>
          <a:bodyPr wrap="square">
            <a:spAutoFit/>
          </a:bodyPr>
          <a:lstStyle/>
          <a:p>
            <a:pPr algn="l"/>
            <a:r>
              <a:rPr sz="2400" b="1">
                <a:solidFill>
                  <a:srgbClr val="FFFFFF"/>
                </a:solidFill>
                <a:latin typeface="Cambria"/>
              </a:rPr>
              <a:t>Computational feasibility</a:t>
            </a:r>
          </a:p>
        </p:txBody>
      </p:sp>
      <p:pic>
        <p:nvPicPr>
          <p:cNvPr id="4" name="Picture 3" descr="fig4_computational_performance.png"/>
          <p:cNvPicPr>
            <a:picLocks noChangeAspect="1"/>
          </p:cNvPicPr>
          <p:nvPr/>
        </p:nvPicPr>
        <p:blipFill>
          <a:blip r:embed="rId2"/>
          <a:stretch>
            <a:fillRect/>
          </a:stretch>
        </p:blipFill>
        <p:spPr>
          <a:xfrm>
            <a:off x="228600" y="640080"/>
            <a:ext cx="7589520" cy="3154308"/>
          </a:xfrm>
          <a:prstGeom prst="rect">
            <a:avLst/>
          </a:prstGeom>
        </p:spPr>
      </p:pic>
      <p:sp>
        <p:nvSpPr>
          <p:cNvPr id="5" name="Rounded Rectangle 4"/>
          <p:cNvSpPr/>
          <p:nvPr/>
        </p:nvSpPr>
        <p:spPr>
          <a:xfrm>
            <a:off x="7955279" y="640080"/>
            <a:ext cx="3886200" cy="521208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38160" y="822960"/>
            <a:ext cx="3566160" cy="320040"/>
          </a:xfrm>
          <a:prstGeom prst="rect">
            <a:avLst/>
          </a:prstGeom>
          <a:noFill/>
        </p:spPr>
        <p:txBody>
          <a:bodyPr wrap="square">
            <a:spAutoFit/>
          </a:bodyPr>
          <a:lstStyle/>
          <a:p>
            <a:pPr algn="l"/>
            <a:r>
              <a:rPr sz="1600" b="1">
                <a:solidFill>
                  <a:srgbClr val="E8A838"/>
                </a:solidFill>
                <a:latin typeface="Calibri"/>
              </a:rPr>
              <a:t>Dispatcher wait</a:t>
            </a:r>
          </a:p>
        </p:txBody>
      </p:sp>
      <p:sp>
        <p:nvSpPr>
          <p:cNvPr id="7" name="TextBox 6"/>
          <p:cNvSpPr txBox="1"/>
          <p:nvPr/>
        </p:nvSpPr>
        <p:spPr>
          <a:xfrm>
            <a:off x="8138160" y="1280160"/>
            <a:ext cx="3566160" cy="4297680"/>
          </a:xfrm>
          <a:prstGeom prst="rect">
            <a:avLst/>
          </a:prstGeom>
          <a:noFill/>
        </p:spPr>
        <p:txBody>
          <a:bodyPr wrap="square">
            <a:spAutoFit/>
          </a:bodyPr>
          <a:lstStyle/>
          <a:p>
            <a:pPr algn="l"/>
            <a:r>
              <a:rPr sz="1500" b="0">
                <a:solidFill>
                  <a:srgbClr val="FFFFFF"/>
                </a:solidFill>
                <a:latin typeface="Calibri"/>
              </a:rPr>
              <a:t>TD-A* search   0.37 ms
GRU inference   39.3 ms
Combined        ≈ 40 ms
Operational cap  1,000 ms
Headroom         ≈ 25×
Routing is not the bottleneck. The predictor is, and the loop still fits comfortably inside one second.
No preprocessing of the graph is required at this urban scale, so edge weights can refresh every five minutes.</a:t>
            </a:r>
          </a:p>
        </p:txBody>
      </p:sp>
      <p:sp>
        <p:nvSpPr>
          <p:cNvPr id="8" name="Rectangle 7"/>
          <p:cNvSpPr/>
          <p:nvPr/>
        </p:nvSpPr>
        <p:spPr>
          <a:xfrm>
            <a:off x="0" y="6748272"/>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65392"/>
            <a:ext cx="9601200" cy="201168"/>
          </a:xfrm>
          <a:prstGeom prst="rect">
            <a:avLst/>
          </a:prstGeom>
          <a:noFill/>
        </p:spPr>
        <p:txBody>
          <a:bodyPr wrap="none">
            <a:spAutoFit/>
          </a:bodyPr>
          <a:lstStyle/>
          <a:p>
            <a:r>
              <a:rPr sz="1000">
                <a:solidFill>
                  <a:srgbClr val="A0B0D0"/>
                </a:solidFill>
                <a:latin typeface="Calibri"/>
              </a:rPr>
              <a:t>Kirinyaga University  ·  MSc Computer Science  ·  Freshia Njoki Macharia</a:t>
            </a:r>
          </a:p>
        </p:txBody>
      </p:sp>
      <p:sp>
        <p:nvSpPr>
          <p:cNvPr id="10" name="TextBox 9"/>
          <p:cNvSpPr txBox="1"/>
          <p:nvPr/>
        </p:nvSpPr>
        <p:spPr>
          <a:xfrm>
            <a:off x="10607040" y="6565392"/>
            <a:ext cx="1280160" cy="201168"/>
          </a:xfrm>
          <a:prstGeom prst="rect">
            <a:avLst/>
          </a:prstGeom>
          <a:noFill/>
        </p:spPr>
        <p:txBody>
          <a:bodyPr wrap="none">
            <a:spAutoFit/>
          </a:bodyPr>
          <a:lstStyle/>
          <a:p>
            <a:pPr algn="r"/>
            <a:r>
              <a:rPr sz="1000">
                <a:solidFill>
                  <a:srgbClr val="A0B0D0"/>
                </a:solidFill>
                <a:latin typeface="Calibri"/>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11480"/>
          </a:xfrm>
          <a:prstGeom prst="rect">
            <a:avLst/>
          </a:prstGeom>
          <a:noFill/>
        </p:spPr>
        <p:txBody>
          <a:bodyPr wrap="square">
            <a:spAutoFit/>
          </a:bodyPr>
          <a:lstStyle/>
          <a:p>
            <a:pPr algn="l"/>
            <a:r>
              <a:rPr sz="2600" b="1">
                <a:solidFill>
                  <a:srgbClr val="FFFFFF"/>
                </a:solidFill>
                <a:latin typeface="Cambria"/>
              </a:rPr>
              <a:t>Limitations and further research</a:t>
            </a:r>
          </a:p>
        </p:txBody>
      </p:sp>
      <p:sp>
        <p:nvSpPr>
          <p:cNvPr id="4" name="Rounded Rectangle 3"/>
          <p:cNvSpPr/>
          <p:nvPr/>
        </p:nvSpPr>
        <p:spPr>
          <a:xfrm>
            <a:off x="411480" y="777240"/>
            <a:ext cx="5577840" cy="502920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60120"/>
            <a:ext cx="5120640" cy="320040"/>
          </a:xfrm>
          <a:prstGeom prst="rect">
            <a:avLst/>
          </a:prstGeom>
          <a:noFill/>
        </p:spPr>
        <p:txBody>
          <a:bodyPr wrap="square">
            <a:spAutoFit/>
          </a:bodyPr>
          <a:lstStyle/>
          <a:p>
            <a:pPr algn="l"/>
            <a:r>
              <a:rPr sz="1600" b="1">
                <a:solidFill>
                  <a:srgbClr val="E8A838"/>
                </a:solidFill>
                <a:latin typeface="Calibri"/>
              </a:rPr>
              <a:t>Limits of the present evidence</a:t>
            </a:r>
          </a:p>
        </p:txBody>
      </p:sp>
      <p:sp>
        <p:nvSpPr>
          <p:cNvPr id="6" name="TextBox 5"/>
          <p:cNvSpPr txBox="1"/>
          <p:nvPr/>
        </p:nvSpPr>
        <p:spPr>
          <a:xfrm>
            <a:off x="640080" y="1417320"/>
            <a:ext cx="5120640" cy="4114800"/>
          </a:xfrm>
          <a:prstGeom prst="rect">
            <a:avLst/>
          </a:prstGeom>
          <a:noFill/>
        </p:spPr>
        <p:txBody>
          <a:bodyPr wrap="square">
            <a:spAutoFit/>
          </a:bodyPr>
          <a:lstStyle/>
          <a:p>
            <a:pPr algn="l">
              <a:spcAft>
                <a:spcPts val="1000"/>
              </a:spcAft>
            </a:pPr>
            <a:r>
              <a:rPr sz="1400">
                <a:solidFill>
                  <a:srgbClr val="FFFFFF"/>
                </a:solidFill>
                <a:latin typeface="Calibri"/>
              </a:rPr>
              <a:t>•  METR-LA and PEMS-BAY are United States freeway traces. They do not reproduce Nairobi mixed traffic.</a:t>
            </a:r>
          </a:p>
          <a:p>
            <a:pPr algn="l">
              <a:spcAft>
                <a:spcPts val="1000"/>
              </a:spcAft>
            </a:pPr>
            <a:r>
              <a:rPr sz="1400">
                <a:solidFill>
                  <a:srgbClr val="FFFFFF"/>
                </a:solidFill>
                <a:latin typeface="Calibri"/>
              </a:rPr>
              <a:t>•  The 900 journeys used 100% detector coverage (207 nodes, 1,515 edges). Reported percentages describe that graph.</a:t>
            </a:r>
          </a:p>
          <a:p>
            <a:pPr algn="l">
              <a:spcAft>
                <a:spcPts val="1000"/>
              </a:spcAft>
            </a:pPr>
            <a:r>
              <a:rPr sz="1400">
                <a:solidFill>
                  <a:srgbClr val="FFFFFF"/>
                </a:solidFill>
                <a:latin typeface="Calibri"/>
              </a:rPr>
              <a:t>•  PEMS-BAY confirmed prediction in a second city (MAE 2.38 mph) but was not given a routing 900-run.</a:t>
            </a:r>
          </a:p>
          <a:p>
            <a:pPr algn="l">
              <a:spcAft>
                <a:spcPts val="1000"/>
              </a:spcAft>
            </a:pPr>
            <a:r>
              <a:rPr sz="1400">
                <a:solidFill>
                  <a:srgbClr val="FFFFFF"/>
                </a:solidFill>
                <a:latin typeface="Calibri"/>
              </a:rPr>
              <a:t>•  A sparse-sensor analogue (10–30% coverage) was not executed.</a:t>
            </a:r>
          </a:p>
          <a:p>
            <a:pPr algn="l">
              <a:spcAft>
                <a:spcPts val="1000"/>
              </a:spcAft>
            </a:pPr>
            <a:r>
              <a:rPr sz="1400">
                <a:solidFill>
                  <a:srgbClr val="FFFFFF"/>
                </a:solidFill>
                <a:latin typeface="Calibri"/>
              </a:rPr>
              <a:t>•  Single-vehicle simulation: multi-ambulance interference was not modelled.</a:t>
            </a:r>
          </a:p>
        </p:txBody>
      </p:sp>
      <p:sp>
        <p:nvSpPr>
          <p:cNvPr id="7" name="Rounded Rectangle 6"/>
          <p:cNvSpPr/>
          <p:nvPr/>
        </p:nvSpPr>
        <p:spPr>
          <a:xfrm>
            <a:off x="6217920" y="777240"/>
            <a:ext cx="5577840" cy="502920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960120"/>
            <a:ext cx="5120640" cy="320040"/>
          </a:xfrm>
          <a:prstGeom prst="rect">
            <a:avLst/>
          </a:prstGeom>
          <a:noFill/>
        </p:spPr>
        <p:txBody>
          <a:bodyPr wrap="square">
            <a:spAutoFit/>
          </a:bodyPr>
          <a:lstStyle/>
          <a:p>
            <a:pPr algn="l"/>
            <a:r>
              <a:rPr sz="1600" b="1">
                <a:solidFill>
                  <a:srgbClr val="E8A838"/>
                </a:solidFill>
                <a:latin typeface="Calibri"/>
              </a:rPr>
              <a:t>Suggested further work</a:t>
            </a:r>
          </a:p>
        </p:txBody>
      </p:sp>
      <p:sp>
        <p:nvSpPr>
          <p:cNvPr id="9" name="TextBox 8"/>
          <p:cNvSpPr txBox="1"/>
          <p:nvPr/>
        </p:nvSpPr>
        <p:spPr>
          <a:xfrm>
            <a:off x="6446520" y="1417320"/>
            <a:ext cx="5120640" cy="4114800"/>
          </a:xfrm>
          <a:prstGeom prst="rect">
            <a:avLst/>
          </a:prstGeom>
          <a:noFill/>
        </p:spPr>
        <p:txBody>
          <a:bodyPr wrap="square">
            <a:spAutoFit/>
          </a:bodyPr>
          <a:lstStyle/>
          <a:p>
            <a:pPr algn="l">
              <a:spcAft>
                <a:spcPts val="1000"/>
              </a:spcAft>
            </a:pPr>
            <a:r>
              <a:rPr sz="1400">
                <a:solidFill>
                  <a:srgbClr val="FFFFFF"/>
                </a:solidFill>
                <a:latin typeface="Calibri"/>
              </a:rPr>
              <a:t>•  Downsample the present 100% detector graph to 10–30% coverage and repeat the 900-run, as a Nairobi-density analogue.</a:t>
            </a:r>
          </a:p>
          <a:p>
            <a:pPr algn="l">
              <a:spcAft>
                <a:spcPts val="1000"/>
              </a:spcAft>
            </a:pPr>
            <a:r>
              <a:rPr sz="1400">
                <a:solidFill>
                  <a:srgbClr val="FFFFFF"/>
                </a:solidFill>
                <a:latin typeface="Calibri"/>
              </a:rPr>
              <a:t>•  Build a PEMS-BAY routing graph and repeat Objectives 3 and 4.</a:t>
            </a:r>
          </a:p>
          <a:p>
            <a:pPr algn="l">
              <a:spcAft>
                <a:spcPts val="1000"/>
              </a:spcAft>
            </a:pPr>
            <a:r>
              <a:rPr sz="1400">
                <a:solidFill>
                  <a:srgbClr val="FFFFFF"/>
                </a:solidFill>
                <a:latin typeface="Calibri"/>
              </a:rPr>
              <a:t>•  Field trial with local sensors. The dispatcher remains in authority.</a:t>
            </a:r>
          </a:p>
          <a:p>
            <a:pPr algn="l">
              <a:spcAft>
                <a:spcPts val="1000"/>
              </a:spcAft>
            </a:pPr>
            <a:r>
              <a:rPr sz="1400">
                <a:solidFill>
                  <a:srgbClr val="FFFFFF"/>
                </a:solidFill>
                <a:latin typeface="Calibri"/>
              </a:rPr>
              <a:t>•  Multi-vehicle and live incident feeds lie beyond this proof of concept.</a:t>
            </a:r>
          </a:p>
          <a:p>
            <a:pPr algn="l">
              <a:spcAft>
                <a:spcPts val="1000"/>
              </a:spcAft>
            </a:pPr>
            <a:r>
              <a:rPr sz="1400">
                <a:solidFill>
                  <a:srgbClr val="FFFFFF"/>
                </a:solidFill>
                <a:latin typeface="Calibri"/>
              </a:rPr>
              <a:t>•  No conversion of +16% into Nairobi CBD minutes against an eight-minute target is claimed.</a:t>
            </a:r>
          </a:p>
        </p:txBody>
      </p:sp>
      <p:sp>
        <p:nvSpPr>
          <p:cNvPr id="10" name="Rectangle 9"/>
          <p:cNvSpPr/>
          <p:nvPr/>
        </p:nvSpPr>
        <p:spPr>
          <a:xfrm>
            <a:off x="0" y="6748272"/>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565392"/>
            <a:ext cx="9601200" cy="201168"/>
          </a:xfrm>
          <a:prstGeom prst="rect">
            <a:avLst/>
          </a:prstGeom>
          <a:noFill/>
        </p:spPr>
        <p:txBody>
          <a:bodyPr wrap="none">
            <a:spAutoFit/>
          </a:bodyPr>
          <a:lstStyle/>
          <a:p>
            <a:r>
              <a:rPr sz="1000">
                <a:solidFill>
                  <a:srgbClr val="A0B0D0"/>
                </a:solidFill>
                <a:latin typeface="Calibri"/>
              </a:rPr>
              <a:t>Kirinyaga University  ·  MSc Computer Science  ·  Freshia Njoki Macharia</a:t>
            </a:r>
          </a:p>
        </p:txBody>
      </p:sp>
      <p:sp>
        <p:nvSpPr>
          <p:cNvPr id="12" name="TextBox 11"/>
          <p:cNvSpPr txBox="1"/>
          <p:nvPr/>
        </p:nvSpPr>
        <p:spPr>
          <a:xfrm>
            <a:off x="10607040" y="6565392"/>
            <a:ext cx="1280160" cy="201168"/>
          </a:xfrm>
          <a:prstGeom prst="rect">
            <a:avLst/>
          </a:prstGeom>
          <a:noFill/>
        </p:spPr>
        <p:txBody>
          <a:bodyPr wrap="none">
            <a:spAutoFit/>
          </a:bodyPr>
          <a:lstStyle/>
          <a:p>
            <a:pPr algn="r"/>
            <a:r>
              <a:rPr sz="1000">
                <a:solidFill>
                  <a:srgbClr val="A0B0D0"/>
                </a:solidFill>
                <a:latin typeface="Calibri"/>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972800" cy="457200"/>
          </a:xfrm>
          <a:prstGeom prst="rect">
            <a:avLst/>
          </a:prstGeom>
          <a:noFill/>
        </p:spPr>
        <p:txBody>
          <a:bodyPr wrap="square">
            <a:spAutoFit/>
          </a:bodyPr>
          <a:lstStyle/>
          <a:p>
            <a:pPr algn="l"/>
            <a:r>
              <a:rPr sz="2600" b="1">
                <a:solidFill>
                  <a:srgbClr val="FFFFFF"/>
                </a:solidFill>
                <a:latin typeface="Cambria"/>
              </a:rPr>
              <a:t>Conclusions</a:t>
            </a:r>
          </a:p>
        </p:txBody>
      </p:sp>
      <p:sp>
        <p:nvSpPr>
          <p:cNvPr id="4" name="Rounded Rectangle 3"/>
          <p:cNvSpPr/>
          <p:nvPr/>
        </p:nvSpPr>
        <p:spPr>
          <a:xfrm>
            <a:off x="457200" y="914400"/>
            <a:ext cx="11247120" cy="109728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188720"/>
            <a:ext cx="640080" cy="502920"/>
          </a:xfrm>
          <a:prstGeom prst="rect">
            <a:avLst/>
          </a:prstGeom>
          <a:noFill/>
        </p:spPr>
        <p:txBody>
          <a:bodyPr wrap="square">
            <a:spAutoFit/>
          </a:bodyPr>
          <a:lstStyle/>
          <a:p>
            <a:pPr algn="l"/>
            <a:r>
              <a:rPr sz="2800" b="1">
                <a:solidFill>
                  <a:srgbClr val="E8A838"/>
                </a:solidFill>
                <a:latin typeface="Cambria"/>
              </a:rPr>
              <a:t>1</a:t>
            </a:r>
          </a:p>
        </p:txBody>
      </p:sp>
      <p:sp>
        <p:nvSpPr>
          <p:cNvPr id="6" name="TextBox 5"/>
          <p:cNvSpPr txBox="1"/>
          <p:nvPr/>
        </p:nvSpPr>
        <p:spPr>
          <a:xfrm>
            <a:off x="1463040" y="1143000"/>
            <a:ext cx="9875520" cy="685800"/>
          </a:xfrm>
          <a:prstGeom prst="rect">
            <a:avLst/>
          </a:prstGeom>
          <a:noFill/>
        </p:spPr>
        <p:txBody>
          <a:bodyPr wrap="square">
            <a:spAutoFit/>
          </a:bodyPr>
          <a:lstStyle/>
          <a:p>
            <a:pPr algn="l"/>
            <a:r>
              <a:rPr sz="1600" b="0">
                <a:solidFill>
                  <a:srgbClr val="FFFFFF"/>
                </a:solidFill>
                <a:latin typeface="Calibri"/>
              </a:rPr>
              <a:t>Under incident conditions the framework cut Dijkstra travel time by 16.19% (about 599 s versus 728 s), with about one replan per journey.</a:t>
            </a:r>
          </a:p>
        </p:txBody>
      </p:sp>
      <p:sp>
        <p:nvSpPr>
          <p:cNvPr id="7" name="Rounded Rectangle 6"/>
          <p:cNvSpPr/>
          <p:nvPr/>
        </p:nvSpPr>
        <p:spPr>
          <a:xfrm>
            <a:off x="457200" y="2148840"/>
            <a:ext cx="11247120" cy="109728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423160"/>
            <a:ext cx="640080" cy="502920"/>
          </a:xfrm>
          <a:prstGeom prst="rect">
            <a:avLst/>
          </a:prstGeom>
          <a:noFill/>
        </p:spPr>
        <p:txBody>
          <a:bodyPr wrap="square">
            <a:spAutoFit/>
          </a:bodyPr>
          <a:lstStyle/>
          <a:p>
            <a:pPr algn="l"/>
            <a:r>
              <a:rPr sz="2800" b="1">
                <a:solidFill>
                  <a:srgbClr val="E8A838"/>
                </a:solidFill>
                <a:latin typeface="Cambria"/>
              </a:rPr>
              <a:t>2</a:t>
            </a:r>
          </a:p>
        </p:txBody>
      </p:sp>
      <p:sp>
        <p:nvSpPr>
          <p:cNvPr id="9" name="TextBox 8"/>
          <p:cNvSpPr txBox="1"/>
          <p:nvPr/>
        </p:nvSpPr>
        <p:spPr>
          <a:xfrm>
            <a:off x="1463040" y="2377440"/>
            <a:ext cx="9875520" cy="685800"/>
          </a:xfrm>
          <a:prstGeom prst="rect">
            <a:avLst/>
          </a:prstGeom>
          <a:noFill/>
        </p:spPr>
        <p:txBody>
          <a:bodyPr wrap="square">
            <a:spAutoFit/>
          </a:bodyPr>
          <a:lstStyle/>
          <a:p>
            <a:pPr algn="l"/>
            <a:r>
              <a:rPr sz="1600" b="0">
                <a:solidFill>
                  <a:srgbClr val="FFFFFF"/>
                </a:solidFill>
                <a:latin typeface="Calibri"/>
              </a:rPr>
              <a:t>Travel time did not differ among δ = 0.05–0.20. The operational default is δ = 0.20: the same quality, fewer extra alerts.</a:t>
            </a:r>
          </a:p>
        </p:txBody>
      </p:sp>
      <p:sp>
        <p:nvSpPr>
          <p:cNvPr id="10" name="Rounded Rectangle 9"/>
          <p:cNvSpPr/>
          <p:nvPr/>
        </p:nvSpPr>
        <p:spPr>
          <a:xfrm>
            <a:off x="457200" y="3383280"/>
            <a:ext cx="11247120" cy="1097280"/>
          </a:xfrm>
          <a:prstGeom prst="roundRect">
            <a:avLst/>
          </a:prstGeom>
          <a:solidFill>
            <a:srgbClr val="2A35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657600"/>
            <a:ext cx="640080" cy="502920"/>
          </a:xfrm>
          <a:prstGeom prst="rect">
            <a:avLst/>
          </a:prstGeom>
          <a:noFill/>
        </p:spPr>
        <p:txBody>
          <a:bodyPr wrap="square">
            <a:spAutoFit/>
          </a:bodyPr>
          <a:lstStyle/>
          <a:p>
            <a:pPr algn="l"/>
            <a:r>
              <a:rPr sz="2800" b="1">
                <a:solidFill>
                  <a:srgbClr val="E8A838"/>
                </a:solidFill>
                <a:latin typeface="Cambria"/>
              </a:rPr>
              <a:t>3</a:t>
            </a:r>
          </a:p>
        </p:txBody>
      </p:sp>
      <p:sp>
        <p:nvSpPr>
          <p:cNvPr id="12" name="TextBox 11"/>
          <p:cNvSpPr txBox="1"/>
          <p:nvPr/>
        </p:nvSpPr>
        <p:spPr>
          <a:xfrm>
            <a:off x="1463040" y="3611880"/>
            <a:ext cx="9875520" cy="685800"/>
          </a:xfrm>
          <a:prstGeom prst="rect">
            <a:avLst/>
          </a:prstGeom>
          <a:noFill/>
        </p:spPr>
        <p:txBody>
          <a:bodyPr wrap="square">
            <a:spAutoFit/>
          </a:bodyPr>
          <a:lstStyle/>
          <a:p>
            <a:pPr algn="l"/>
            <a:r>
              <a:rPr sz="1600" b="0">
                <a:solidFill>
                  <a:srgbClr val="FFFFFF"/>
                </a:solidFill>
                <a:latin typeface="Calibri"/>
              </a:rPr>
              <a:t>Combined GRU and routing latency is about 40 ms, well inside the 1,000 ms dispatch cap. The binding constraint is local sensor data, not compute.</a:t>
            </a:r>
          </a:p>
        </p:txBody>
      </p:sp>
      <p:sp>
        <p:nvSpPr>
          <p:cNvPr id="13" name="TextBox 12"/>
          <p:cNvSpPr txBox="1"/>
          <p:nvPr/>
        </p:nvSpPr>
        <p:spPr>
          <a:xfrm>
            <a:off x="457200" y="4800600"/>
            <a:ext cx="11247120" cy="411480"/>
          </a:xfrm>
          <a:prstGeom prst="rect">
            <a:avLst/>
          </a:prstGeom>
          <a:noFill/>
        </p:spPr>
        <p:txBody>
          <a:bodyPr wrap="square">
            <a:spAutoFit/>
          </a:bodyPr>
          <a:lstStyle/>
          <a:p>
            <a:pPr algn="ctr"/>
            <a:r>
              <a:rPr sz="2200" b="1">
                <a:solidFill>
                  <a:srgbClr val="CADCFC"/>
                </a:solidFill>
                <a:latin typeface="Cambria"/>
              </a:rPr>
              <a:t>Thank you  ·  Questions</a:t>
            </a:r>
          </a:p>
        </p:txBody>
      </p:sp>
      <p:sp>
        <p:nvSpPr>
          <p:cNvPr id="14" name="TextBox 13"/>
          <p:cNvSpPr txBox="1"/>
          <p:nvPr/>
        </p:nvSpPr>
        <p:spPr>
          <a:xfrm>
            <a:off x="457200" y="5303520"/>
            <a:ext cx="11247120" cy="502920"/>
          </a:xfrm>
          <a:prstGeom prst="rect">
            <a:avLst/>
          </a:prstGeom>
          <a:noFill/>
        </p:spPr>
        <p:txBody>
          <a:bodyPr wrap="square">
            <a:spAutoFit/>
          </a:bodyPr>
          <a:lstStyle/>
          <a:p>
            <a:pPr algn="ctr"/>
            <a:r>
              <a:rPr sz="1400" b="0">
                <a:solidFill>
                  <a:srgbClr val="A0B0D0"/>
                </a:solidFill>
                <a:latin typeface="Calibri"/>
              </a:rPr>
              <a:t>Freshia Njoki Macharia  ·  PA206/S/25427/24  ·  Kirinyaga University</a:t>
            </a:r>
          </a:p>
        </p:txBody>
      </p:sp>
      <p:sp>
        <p:nvSpPr>
          <p:cNvPr id="15" name="Rectangle 14"/>
          <p:cNvSpPr/>
          <p:nvPr/>
        </p:nvSpPr>
        <p:spPr>
          <a:xfrm>
            <a:off x="0" y="6748272"/>
            <a:ext cx="12191695"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6565392"/>
            <a:ext cx="9601200" cy="201168"/>
          </a:xfrm>
          <a:prstGeom prst="rect">
            <a:avLst/>
          </a:prstGeom>
          <a:noFill/>
        </p:spPr>
        <p:txBody>
          <a:bodyPr wrap="none">
            <a:spAutoFit/>
          </a:bodyPr>
          <a:lstStyle/>
          <a:p>
            <a:r>
              <a:rPr sz="1000">
                <a:solidFill>
                  <a:srgbClr val="A0B0D0"/>
                </a:solidFill>
                <a:latin typeface="Calibri"/>
              </a:rPr>
              <a:t>Kirinyaga University  ·  MSc Computer Science  ·  Freshia Njoki Macharia</a:t>
            </a:r>
          </a:p>
        </p:txBody>
      </p:sp>
      <p:sp>
        <p:nvSpPr>
          <p:cNvPr id="17" name="TextBox 16"/>
          <p:cNvSpPr txBox="1"/>
          <p:nvPr/>
        </p:nvSpPr>
        <p:spPr>
          <a:xfrm>
            <a:off x="10607040" y="6565392"/>
            <a:ext cx="1280160" cy="201168"/>
          </a:xfrm>
          <a:prstGeom prst="rect">
            <a:avLst/>
          </a:prstGeom>
          <a:noFill/>
        </p:spPr>
        <p:txBody>
          <a:bodyPr wrap="none">
            <a:spAutoFit/>
          </a:bodyPr>
          <a:lstStyle/>
          <a:p>
            <a:pPr algn="r"/>
            <a:r>
              <a:rPr sz="1000">
                <a:solidFill>
                  <a:srgbClr val="A0B0D0"/>
                </a:solidFill>
                <a:latin typeface="Calibri"/>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