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74" r:id="rId9"/>
    <p:sldId id="263" r:id="rId10"/>
    <p:sldId id="264" r:id="rId11"/>
    <p:sldId id="265" r:id="rId12"/>
    <p:sldId id="266" r:id="rId13"/>
    <p:sldId id="267" r:id="rId14"/>
    <p:sldId id="268" r:id="rId15"/>
    <p:sldId id="269" r:id="rId16"/>
    <p:sldId id="270" r:id="rId17"/>
    <p:sldId id="271" r:id="rId18"/>
    <p:sldId id="272" r:id="rId19"/>
    <p:sldId id="273"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499" autoAdjust="0"/>
    <p:restoredTop sz="51895" autoAdjust="0"/>
  </p:normalViewPr>
  <p:slideViewPr>
    <p:cSldViewPr snapToGrid="0" snapToObjects="1">
      <p:cViewPr varScale="1">
        <p:scale>
          <a:sx n="43" d="100"/>
          <a:sy n="43" d="100"/>
        </p:scale>
        <p:origin x="52" y="10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4121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chair and panelists present, Today I am presenting research progress covering Objectives 1 and 2 of my thesis, which focuses on developing a GRU-based predictive route optimisation framework for emergency vehicle navigation.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flow of today's presentation. problem statement, objectives and research questions, the literature review, methodology, findings for Objectives 1 and 2, and then conclusions and the way forward. Objectives 3 and 4, which cover threshold policy analysis and full framework evaluation, will be presented at the next progress session.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research is motivated by a critical public safety gap. In Nairobi, ambulances take 18 to 25 minutes to respond during peak hours — more than double the WHO recommended 8-minute threshold. Research shows that every additional minute of delay in a cardiac arrest scenario increases mortality by approximately 10 percent. The root cause is that current navigation systems use static or real-time-only traffic data. They cannot anticipate congestion that builds up while the vehicle is already en route. And critically, no existing framework brings together machine learning traffic prediction and time-dependent routing in a way that is computationally feasible for an emergency dispatch centre.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general objective is to design, develop, and evaluate an intelligent route optimisation framework. Today's presentation covers Specific Objective 1, which is the literature review, and Specific Objective 2, which is framework development. Objective 1 produced the gap analysis that directly informed the design of Objective 2. The link between them is intentional: the gaps confirmed by the literature review justified the architecture of the framework I’ve built.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research is significant for three reasons. Theoretically, it bridges a gap in ITS (</a:t>
            </a:r>
            <a:r>
              <a:rPr lang="en-KE" dirty="0"/>
              <a:t>Intelligent Transportation Systems</a:t>
            </a:r>
            <a:r>
              <a:rPr lang="en-US" dirty="0"/>
              <a:t>) where prediction and routing have advanced separately but never been combined for emergency dispatch. Practically, it provides a tool that ambulance and police dispatch centres in cities like Nairobi can use. And from a computational standpoint, the framework was designed to work within the resource constraints of a real dispatch environment. The two research questions align directly with Objectives 1 and 2: RQ1 drives the literature review and RQ2 drives the framework development.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theories anchor this study. TDSP Theory is the primary anchor — it provides the mathematical proof that routing must account for the time at which a vehicle enters each road segment, not just distance. GRU Architecture theory is the first complementary anchor — it justifies using Gated Recurrent Units to forecast traffic speeds because they capture temporal patterns in traffic data efficiently. DSS Theory is the second complementary anchor — it ensures I design the framework as a decision-support tool, not an autonomous system. The dispatcher always makes the final routing decision.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empirical review covers key studies across two slides. This first set focuses on prediction and routing integration. Li et al. established the benchmark datasets we use. Jeong et al. confirmed GRU's efficiency advantage over LSTM (GRU achieves comparable accuracy to LSTM with significantly lower computational cost ), directly justifying the model choice. Jaballah et al. showed that direct TDSP computation outperforms static alternatives. Werner et al. is the closest precedent to my work but cannot update every five minutes and has no machine learning module </a:t>
            </a:r>
            <a:r>
              <a:rPr lang="en-KE" b="0" dirty="0"/>
              <a:t>predict future traffic conditions</a:t>
            </a:r>
            <a:r>
              <a:rPr lang="en-US" dirty="0"/>
              <a:t>. Qi et al., in a 2025 systematic review, confirmed that the disconnection between prediction and routing remains the primary unresolved problem in the field. - which is exactly what this research addresses.</a:t>
            </a:r>
            <a:br>
              <a:rPr lang="en-US" dirty="0"/>
            </a:br>
            <a:br>
              <a:rPr lang="en-US" dirty="0"/>
            </a:b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KE" i="1" dirty="0"/>
              <a:t>Werner et al.'s system combines live (current) traffic with already-predicted traffic feeds, but it does not contain its own forecasting model — it depends on external prediction inputs. </a:t>
            </a:r>
            <a:r>
              <a:rPr lang="en-US" i="1" dirty="0"/>
              <a:t>My</a:t>
            </a:r>
            <a:r>
              <a:rPr lang="en-KE" i="1" dirty="0"/>
              <a:t> framework's GRU module generates that forecast internally, which is the key difference.</a:t>
            </a:r>
            <a:endParaRPr lang="en-US" i="1"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B6592-6727-D6D1-0619-20732494E7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89180C-6A74-502F-045F-8029999F4D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3FC992-EC4D-9F81-9D10-E830F1E3C537}"/>
              </a:ext>
            </a:extLst>
          </p:cNvPr>
          <p:cNvSpPr>
            <a:spLocks noGrp="1"/>
          </p:cNvSpPr>
          <p:nvPr>
            <p:ph type="body" idx="1"/>
          </p:nvPr>
        </p:nvSpPr>
        <p:spPr/>
        <p:txBody>
          <a:bodyPr/>
          <a:lstStyle/>
          <a:p>
            <a:r>
              <a:rPr lang="en-US" dirty="0"/>
              <a:t>This second set focuses on emergency vehicle routing and the African ITS context. </a:t>
            </a:r>
            <a:r>
              <a:rPr lang="en-US" dirty="0" err="1"/>
              <a:t>Abuaisha</a:t>
            </a:r>
            <a:r>
              <a:rPr lang="en-US" dirty="0"/>
              <a:t> et al. showed predictive replanning works in transit but only for fixed-route systems. Sasikala et al. and Hugar et al. both addressed signal-level </a:t>
            </a:r>
            <a:r>
              <a:rPr lang="en-US" dirty="0" err="1"/>
              <a:t>prioritisation</a:t>
            </a:r>
            <a:r>
              <a:rPr lang="en-US" dirty="0"/>
              <a:t> rather than predictive route recommendation. Zohir et al.'s 2025 review </a:t>
            </a:r>
            <a:r>
              <a:rPr lang="en-US" dirty="0" err="1"/>
              <a:t>synthesised</a:t>
            </a:r>
            <a:r>
              <a:rPr lang="en-US" dirty="0"/>
              <a:t> V2X (</a:t>
            </a:r>
            <a:r>
              <a:rPr lang="en-KE" dirty="0"/>
              <a:t>Vehicle-to-Everything</a:t>
            </a:r>
            <a:r>
              <a:rPr lang="en-US" dirty="0"/>
              <a:t>) route </a:t>
            </a:r>
            <a:r>
              <a:rPr lang="en-US" dirty="0" err="1"/>
              <a:t>optimisation</a:t>
            </a:r>
            <a:r>
              <a:rPr lang="en-US" dirty="0"/>
              <a:t> directions. Ajayi et al. identified the structural barriers to ITS adoption across Africa — informal transport, sparse sensing, and infrastructure gaps. Reis et al. provided direct Kenyan evidence: dispatch technology reduced emergency response times from over 160 minutes to just 13 minutes. Together with the first set, this </a:t>
            </a:r>
            <a:r>
              <a:rPr lang="en-KE" dirty="0"/>
              <a:t>papers support the gap analysis</a:t>
            </a:r>
            <a:r>
              <a:rPr lang="en-US" dirty="0"/>
              <a:t>, drawn from a full review of my references </a:t>
            </a:r>
            <a:r>
              <a:rPr lang="en-US" i="1" dirty="0"/>
              <a:t>across five major themes documented in Chapter 2.</a:t>
            </a:r>
          </a:p>
        </p:txBody>
      </p:sp>
      <p:sp>
        <p:nvSpPr>
          <p:cNvPr id="4" name="Slide Number Placeholder 3">
            <a:extLst>
              <a:ext uri="{FF2B5EF4-FFF2-40B4-BE49-F238E27FC236}">
                <a16:creationId xmlns:a16="http://schemas.microsoft.com/office/drawing/2014/main" id="{6DFBD892-0D41-3BC1-B3E7-C32F567539C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8679172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conceptual framework shows how the study variables relate to each other through three operational components. Independent variables such as GRU configuration and the threshold δ feed into three framework components. Component 1, the traffic prediction module, forecasts traffic conditions 15 to 30 minutes ahead using the GRU model. Component 2, the route recommendation module, uses Time-Dependent A* to compute the optimal path using those predictions. Component 3, the adaptive controller, monitors vehicle progress and triggers a new route recommendation when actual conditions deviate from predictions by more than the threshold. The dependent variables — travel time, latency, update frequency, and prediction accuracy — are what we measure. Moderating variables such as congestion level and sensor density affect how the system behaves in different conditions.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study is guided by a pragmatist philosophy — we care about practical outcomes, not philosophical purity. The design approach follows the Design Science Research Methodology, </a:t>
            </a:r>
            <a:r>
              <a:rPr lang="en-US" i="1" dirty="0"/>
              <a:t>proposed by Peffers et al. in 2007</a:t>
            </a:r>
            <a:r>
              <a:rPr lang="en-US" dirty="0"/>
              <a:t>. This six-activity methodology is appropriate because DSRM evaluates the quality of an information systems artifact by how well it performs, not by theoretical alignment alone. Activities 1 through 3 are complete: we identified the problem, defined objectives, and designed and built the framework. Activities 4 through 6 — demonstration, evaluation, and communication — are in progress and planned for the next phase. My research was organised in three phases: framework design, model training and implementation, and simulation-based evaluation.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dataset is METR-LA: 207 loop detector sensors on Los Angeles County highways, producing 34,254 five-minute speed observations per sensor. The data was split chronologically: 70 percent for training, 15 percent for validation, and 15 percent for testing. Talking about the processing pipeline &gt; t</a:t>
            </a:r>
            <a:r>
              <a:rPr lang="en-KE" dirty="0"/>
              <a:t>he raw traffic speed data goes through three steps: filling in missing values, scaling the numbers to a standard range, and grouping the data into 12-step windows that the model uses to predict the next 6 steps. To compare results, </a:t>
            </a:r>
            <a:r>
              <a:rPr lang="en-US" dirty="0"/>
              <a:t>I’ll</a:t>
            </a:r>
            <a:r>
              <a:rPr lang="en-KE" dirty="0"/>
              <a:t> used paired t-tests, which</a:t>
            </a:r>
            <a:r>
              <a:rPr lang="en-US" dirty="0"/>
              <a:t> will</a:t>
            </a:r>
            <a:r>
              <a:rPr lang="en-KE" dirty="0"/>
              <a:t> check whether </a:t>
            </a:r>
            <a:r>
              <a:rPr lang="en-US" dirty="0"/>
              <a:t>my</a:t>
            </a:r>
            <a:r>
              <a:rPr lang="en-KE" dirty="0"/>
              <a:t> framework performed better than each of the four baseline methods under the same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ethical principles governing this research. Institutional approval </a:t>
            </a:r>
            <a:r>
              <a:rPr lang="en-US" i="1" dirty="0"/>
              <a:t>to be </a:t>
            </a:r>
            <a:r>
              <a:rPr lang="en-KE" i="1" dirty="0"/>
              <a:t>sought from the Kirinyaga University Research and Ethics Committee</a:t>
            </a:r>
            <a:r>
              <a:rPr lang="en-US" i="1" dirty="0"/>
              <a:t>/body. </a:t>
            </a:r>
            <a:r>
              <a:rPr lang="en-US" dirty="0"/>
              <a:t>The </a:t>
            </a:r>
            <a:r>
              <a:rPr lang="en-US" dirty="0" err="1"/>
              <a:t>R.Proposal</a:t>
            </a:r>
            <a:r>
              <a:rPr lang="en-US" dirty="0"/>
              <a:t> was submitted through DrillBit for plagiarism detection. Data privacy is maintained: the datasets used contain only aggregated sensor speed readings and no personally identifiable information. Finally, all source code and configurations have been made publicly available on GitHub to support open science and reproducibility.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 required a systematic review of existing literature. I reviewed over 40 references across five thematic areas and identified four key gaps. Gap 1 is the most critical: no existing framework integrates machine learning traffic prediction with time-dependent routing for emergency vehicle dispatch. </a:t>
            </a:r>
            <a:r>
              <a:rPr lang="en-KE" dirty="0"/>
              <a:t>Gap 2 notes that replanning strategies during vehicle journeys have never been studied systematically — so δ was left as a free parameter for Objective 3 to resolve</a:t>
            </a:r>
            <a:r>
              <a:rPr lang="en-US" dirty="0"/>
              <a:t>. Gap 3 identifies that evaluations in ITS measure either prediction accuracy or routing quality but never the combined effect. Gap 4 highlights that Sub-Saharan African contexts are almost entirely absent from EV routing research. The analysis confirmed that no single prior study addressed all five dimensions at once. This confirmed that the framework designed under Objective 2 was filling a significant gap.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GRU model was trained on the METR-LA dataset. The test set MAE of 3.42 miles per hour means the model's speed predictions are, on average, within 3.42 mph of actual speeds — which is competitive with the GRU literature and only 0.65 mph away from the much more complex DCRNN (</a:t>
            </a:r>
            <a:r>
              <a:rPr lang="en-KE" i="1" dirty="0"/>
              <a:t>Diffusion Convolutional Recurrent Neural Network</a:t>
            </a:r>
            <a:r>
              <a:rPr lang="en-US" dirty="0"/>
              <a:t>) benchmark. The training and validation losses are nearly identical at 0.3826 and 0.3846, which is a strong signal that the model is not overfitting. It converged in just 17 epochs thanks to early stopping. The inference time of approximately 41 milliseconds is well within the 1,000 millisecond - sub-second target for emergency dispatch. The model produces predictions that are accurate enough to generate useful time-dependent edge costs for the routing algorithm.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 produced three integrated components. Component 1, the GRU prediction module, forecasts traffic speeds 15 to 30 minutes ahead and converts those forecasts into time-dependent travel time functions </a:t>
            </a:r>
            <a:r>
              <a:rPr lang="en-US" i="1" dirty="0"/>
              <a:t>— one per road edge per time slot</a:t>
            </a:r>
            <a:r>
              <a:rPr lang="en-US" dirty="0"/>
              <a:t>. Component 2, the TD-A* routing module, uses those predicted costs to compute the optimal route on a real OpenStreetMap road network </a:t>
            </a:r>
            <a:r>
              <a:rPr lang="en-US" i="1" dirty="0"/>
              <a:t>covering Los Angeles</a:t>
            </a:r>
            <a:r>
              <a:rPr lang="en-US" dirty="0"/>
              <a:t>. This graph has 397 nodes, 1,024 edges, and 190 edges directly linked to METR-LA sensor readings. The haversine distance serves as an admissible heuristic — it never overestimates, so TD-A* is guaranteed to find the optimal time-dependent path. Component 3, the adaptive controller, monitors vehicle progress as it moves along the recommended route. </a:t>
            </a:r>
            <a:r>
              <a:rPr lang="en-KE" dirty="0"/>
              <a:t>If the estimated remaining travel time using updated predictions diverges from the current recommendation by more than threshold δ, a new route is calculated and recommended to the dispatcher. </a:t>
            </a:r>
            <a:r>
              <a:rPr lang="en-KE" b="1" dirty="0"/>
              <a:t>δ is a free parameter — the controller fires correctly, but its value is not yet determined.</a:t>
            </a:r>
            <a:r>
              <a:rPr lang="en-KE" dirty="0"/>
              <a:t> All three components are implemented and integrated. The full source code is available on GitHub.</a:t>
            </a:r>
            <a:endParaRPr lang="en-US" dirty="0"/>
          </a:p>
          <a:p>
            <a:r>
              <a:rPr lang="en-US" dirty="0"/>
              <a:t>----</a:t>
            </a:r>
          </a:p>
          <a:p>
            <a:r>
              <a:rPr lang="en-KE" dirty="0"/>
              <a:t>Component</a:t>
            </a:r>
            <a:r>
              <a:rPr lang="en-US" dirty="0"/>
              <a:t>  			</a:t>
            </a:r>
            <a:r>
              <a:rPr lang="en-KE" dirty="0"/>
              <a:t>File</a:t>
            </a:r>
            <a:r>
              <a:rPr lang="en-US" dirty="0"/>
              <a:t>     		</a:t>
            </a:r>
            <a:r>
              <a:rPr lang="en-KE" dirty="0"/>
              <a:t>Function/Class to show</a:t>
            </a:r>
            <a:r>
              <a:rPr lang="en-US" dirty="0"/>
              <a:t>	</a:t>
            </a:r>
            <a:r>
              <a:rPr lang="en-KE" dirty="0"/>
              <a:t>What it does</a:t>
            </a:r>
            <a:endParaRPr lang="en-US" dirty="0"/>
          </a:p>
          <a:p>
            <a:pPr marL="228600" indent="-228600">
              <a:buAutoNum type="arabicPeriod"/>
            </a:pPr>
            <a:r>
              <a:rPr lang="en-KE" b="1" dirty="0"/>
              <a:t>GRU Prediction Module</a:t>
            </a:r>
            <a:r>
              <a:rPr lang="en-US" b="1" dirty="0"/>
              <a:t>	</a:t>
            </a:r>
            <a:r>
              <a:rPr lang="en-KE" sz="1200" kern="1200" dirty="0">
                <a:solidFill>
                  <a:schemeClr val="tx1"/>
                </a:solidFill>
                <a:latin typeface="+mn-lt"/>
                <a:ea typeface="+mn-ea"/>
                <a:cs typeface="+mn-cs"/>
              </a:rPr>
              <a:t>src/prediction/gru_interface.py</a:t>
            </a:r>
            <a:r>
              <a:rPr lang="en-US" sz="1200" kern="1200" dirty="0">
                <a:solidFill>
                  <a:schemeClr val="tx1"/>
                </a:solidFill>
                <a:latin typeface="+mn-lt"/>
                <a:ea typeface="+mn-ea"/>
                <a:cs typeface="+mn-cs"/>
              </a:rPr>
              <a:t>	</a:t>
            </a:r>
            <a:r>
              <a:rPr lang="en-KE" sz="1200" kern="1200" dirty="0" err="1">
                <a:solidFill>
                  <a:schemeClr val="tx1"/>
                </a:solidFill>
                <a:latin typeface="+mn-lt"/>
                <a:ea typeface="+mn-ea"/>
                <a:cs typeface="+mn-cs"/>
              </a:rPr>
              <a:t>predict_speeds</a:t>
            </a:r>
            <a:r>
              <a:rPr lang="en-KE" sz="1200" kern="1200" dirty="0">
                <a:solidFill>
                  <a:schemeClr val="tx1"/>
                </a:solidFill>
                <a:latin typeface="+mn-lt"/>
                <a:ea typeface="+mn-ea"/>
                <a:cs typeface="+mn-cs"/>
              </a:rPr>
              <a:t>()</a:t>
            </a:r>
            <a:r>
              <a:rPr lang="en-US" sz="1200" kern="1200" dirty="0">
                <a:solidFill>
                  <a:schemeClr val="tx1"/>
                </a:solidFill>
                <a:latin typeface="+mn-lt"/>
                <a:ea typeface="+mn-ea"/>
                <a:cs typeface="+mn-cs"/>
              </a:rPr>
              <a:t>	</a:t>
            </a:r>
            <a:r>
              <a:rPr lang="en-KE" dirty="0"/>
              <a:t>Runs the trained GRU model on the last 12 time steps, returns predicted speeds for all 207 sensors</a:t>
            </a:r>
            <a:br>
              <a:rPr lang="en-US" dirty="0"/>
            </a:br>
            <a:r>
              <a:rPr lang="en-US" dirty="0"/>
              <a:t>					</a:t>
            </a:r>
            <a:r>
              <a:rPr lang="en-KE" sz="1200" kern="1200" dirty="0" err="1">
                <a:solidFill>
                  <a:schemeClr val="tx1"/>
                </a:solidFill>
                <a:latin typeface="+mn-lt"/>
                <a:ea typeface="+mn-ea"/>
                <a:cs typeface="+mn-cs"/>
              </a:rPr>
              <a:t>speeds_to_travel_times</a:t>
            </a:r>
            <a:r>
              <a:rPr lang="en-KE" sz="1200" kern="1200" dirty="0">
                <a:solidFill>
                  <a:schemeClr val="tx1"/>
                </a:solidFill>
                <a:latin typeface="+mn-lt"/>
                <a:ea typeface="+mn-ea"/>
                <a:cs typeface="+mn-cs"/>
              </a:rPr>
              <a:t>()</a:t>
            </a:r>
            <a:r>
              <a:rPr lang="en-US" sz="1200" kern="1200" dirty="0">
                <a:solidFill>
                  <a:schemeClr val="tx1"/>
                </a:solidFill>
                <a:latin typeface="+mn-lt"/>
                <a:ea typeface="+mn-ea"/>
                <a:cs typeface="+mn-cs"/>
              </a:rPr>
              <a:t>	</a:t>
            </a:r>
            <a:r>
              <a:rPr lang="en-KE" dirty="0"/>
              <a:t>Converts predicted speeds into the time-dependent edge cost function τ̂(</a:t>
            </a:r>
            <a:r>
              <a:rPr lang="en-KE" dirty="0" err="1"/>
              <a:t>u,v</a:t>
            </a:r>
            <a:r>
              <a:rPr lang="en-KE" dirty="0"/>
              <a:t>)(t) — this is the direct link between prediction and routing</a:t>
            </a:r>
            <a:endParaRPr lang="en-US" dirty="0"/>
          </a:p>
          <a:p>
            <a:pPr marL="228600" indent="-228600">
              <a:buAutoNum type="arabicPeriod"/>
            </a:pPr>
            <a:r>
              <a:rPr lang="en-KE" i="1" dirty="0"/>
              <a:t>TD-A Routing Module</a:t>
            </a:r>
            <a:r>
              <a:rPr lang="en-KE" dirty="0"/>
              <a:t>*</a:t>
            </a:r>
            <a:r>
              <a:rPr lang="en-US" dirty="0"/>
              <a:t>		</a:t>
            </a:r>
            <a:r>
              <a:rPr lang="en-KE" sz="1200" kern="1200" dirty="0">
                <a:solidFill>
                  <a:schemeClr val="tx1"/>
                </a:solidFill>
                <a:latin typeface="+mn-lt"/>
                <a:ea typeface="+mn-ea"/>
                <a:cs typeface="+mn-cs"/>
              </a:rPr>
              <a:t>src/routing/td_astar.py</a:t>
            </a:r>
            <a:r>
              <a:rPr lang="en-US" sz="1200" kern="1200" dirty="0">
                <a:solidFill>
                  <a:schemeClr val="tx1"/>
                </a:solidFill>
                <a:latin typeface="+mn-lt"/>
                <a:ea typeface="+mn-ea"/>
                <a:cs typeface="+mn-cs"/>
              </a:rPr>
              <a:t>	</a:t>
            </a:r>
            <a:r>
              <a:rPr lang="en-KE" sz="1200" kern="1200" dirty="0">
                <a:solidFill>
                  <a:schemeClr val="tx1"/>
                </a:solidFill>
                <a:latin typeface="+mn-lt"/>
                <a:ea typeface="+mn-ea"/>
                <a:cs typeface="+mn-cs"/>
              </a:rPr>
              <a:t>_haversine()</a:t>
            </a:r>
            <a:r>
              <a:rPr lang="en-US" sz="1200" kern="1200" dirty="0">
                <a:solidFill>
                  <a:schemeClr val="tx1"/>
                </a:solidFill>
                <a:latin typeface="+mn-lt"/>
                <a:ea typeface="+mn-ea"/>
                <a:cs typeface="+mn-cs"/>
              </a:rPr>
              <a:t>		</a:t>
            </a:r>
            <a:r>
              <a:rPr lang="en-KE" dirty="0"/>
              <a:t>Computes great-circle distance between two coordinates</a:t>
            </a:r>
            <a:endParaRPr lang="en-US" sz="1200" kern="1200" dirty="0">
              <a:solidFill>
                <a:schemeClr val="tx1"/>
              </a:solidFill>
              <a:latin typeface="+mn-lt"/>
              <a:ea typeface="+mn-ea"/>
              <a:cs typeface="+mn-cs"/>
            </a:endParaRPr>
          </a:p>
          <a:p>
            <a:pPr marL="0" indent="0">
              <a:buNone/>
            </a:pPr>
            <a:r>
              <a:rPr lang="en-US" sz="1200" kern="1200" dirty="0">
                <a:solidFill>
                  <a:schemeClr val="tx1"/>
                </a:solidFill>
                <a:latin typeface="+mn-lt"/>
                <a:ea typeface="+mn-ea"/>
                <a:cs typeface="+mn-cs"/>
              </a:rPr>
              <a:t>					</a:t>
            </a:r>
            <a:r>
              <a:rPr lang="en-KE" sz="1200" kern="1200" dirty="0">
                <a:solidFill>
                  <a:schemeClr val="tx1"/>
                </a:solidFill>
                <a:latin typeface="+mn-lt"/>
                <a:ea typeface="+mn-ea"/>
                <a:cs typeface="+mn-cs"/>
              </a:rPr>
              <a:t>_heuristic()</a:t>
            </a:r>
            <a:r>
              <a:rPr lang="en-US" sz="1200" kern="1200" dirty="0">
                <a:solidFill>
                  <a:schemeClr val="tx1"/>
                </a:solidFill>
                <a:latin typeface="+mn-lt"/>
                <a:ea typeface="+mn-ea"/>
                <a:cs typeface="+mn-cs"/>
              </a:rPr>
              <a:t>		</a:t>
            </a:r>
            <a:r>
              <a:rPr lang="en-KE" dirty="0"/>
              <a:t>Builds the admissible heuristic (haversine distance ÷ free-flow speed) — never overestimates, so TD-A* is guaranteed optimal</a:t>
            </a:r>
            <a:endParaRPr lang="en-US" dirty="0"/>
          </a:p>
          <a:p>
            <a:pPr marL="0" indent="0">
              <a:buNone/>
            </a:pPr>
            <a:r>
              <a:rPr lang="en-US" sz="1200" kern="1200" dirty="0">
                <a:solidFill>
                  <a:schemeClr val="tx1"/>
                </a:solidFill>
                <a:latin typeface="+mn-lt"/>
                <a:ea typeface="+mn-ea"/>
                <a:cs typeface="+mn-cs"/>
              </a:rPr>
              <a:t>					</a:t>
            </a:r>
            <a:r>
              <a:rPr lang="en-KE" sz="1200" kern="1200" dirty="0" err="1">
                <a:solidFill>
                  <a:schemeClr val="tx1"/>
                </a:solidFill>
                <a:latin typeface="+mn-lt"/>
                <a:ea typeface="+mn-ea"/>
                <a:cs typeface="+mn-cs"/>
              </a:rPr>
              <a:t>td_astar</a:t>
            </a:r>
            <a:r>
              <a:rPr lang="en-KE" sz="1200" kern="1200" dirty="0">
                <a:solidFill>
                  <a:schemeClr val="tx1"/>
                </a:solidFill>
                <a:latin typeface="+mn-lt"/>
                <a:ea typeface="+mn-ea"/>
                <a:cs typeface="+mn-cs"/>
              </a:rPr>
              <a:t>()</a:t>
            </a:r>
            <a:r>
              <a:rPr lang="en-US" sz="1200" kern="1200" dirty="0">
                <a:solidFill>
                  <a:schemeClr val="tx1"/>
                </a:solidFill>
                <a:latin typeface="+mn-lt"/>
                <a:ea typeface="+mn-ea"/>
                <a:cs typeface="+mn-cs"/>
              </a:rPr>
              <a:t>		</a:t>
            </a:r>
            <a:r>
              <a:rPr lang="en-KE" dirty="0"/>
              <a:t>The main algorithm — the </a:t>
            </a:r>
            <a:r>
              <a:rPr lang="en-KE" sz="1200" kern="1200" dirty="0">
                <a:solidFill>
                  <a:schemeClr val="tx1"/>
                </a:solidFill>
                <a:latin typeface="+mn-lt"/>
                <a:ea typeface="+mn-ea"/>
                <a:cs typeface="+mn-cs"/>
              </a:rPr>
              <a:t>while </a:t>
            </a:r>
            <a:r>
              <a:rPr lang="en-KE" sz="1200" kern="1200" dirty="0" err="1">
                <a:solidFill>
                  <a:schemeClr val="tx1"/>
                </a:solidFill>
                <a:latin typeface="+mn-lt"/>
                <a:ea typeface="+mn-ea"/>
                <a:cs typeface="+mn-cs"/>
              </a:rPr>
              <a:t>open_heap</a:t>
            </a:r>
            <a:r>
              <a:rPr lang="en-KE" sz="1200" kern="1200" dirty="0">
                <a:solidFill>
                  <a:schemeClr val="tx1"/>
                </a:solidFill>
                <a:latin typeface="+mn-lt"/>
                <a:ea typeface="+mn-ea"/>
                <a:cs typeface="+mn-cs"/>
              </a:rPr>
              <a:t>:</a:t>
            </a:r>
            <a:r>
              <a:rPr lang="en-KE" dirty="0"/>
              <a:t> loop is the core A* search using time-dependent costs</a:t>
            </a:r>
            <a:endParaRPr lang="en-US" dirty="0"/>
          </a:p>
          <a:p>
            <a:pPr marL="0" indent="0">
              <a:buNone/>
            </a:pPr>
            <a:r>
              <a:rPr lang="en-KE" b="1" dirty="0"/>
              <a:t>3. Adaptive Replanning Controller</a:t>
            </a:r>
            <a:r>
              <a:rPr lang="en-US" b="1" dirty="0"/>
              <a:t>     </a:t>
            </a:r>
            <a:r>
              <a:rPr lang="en-KE" sz="1200" kern="1200" dirty="0">
                <a:solidFill>
                  <a:schemeClr val="tx1"/>
                </a:solidFill>
                <a:latin typeface="+mn-lt"/>
                <a:ea typeface="+mn-ea"/>
                <a:cs typeface="+mn-cs"/>
              </a:rPr>
              <a:t>src/controller/adaptive_controller.py</a:t>
            </a:r>
            <a:r>
              <a:rPr lang="en-US" sz="1200" kern="1200" dirty="0">
                <a:solidFill>
                  <a:schemeClr val="tx1"/>
                </a:solidFill>
                <a:latin typeface="+mn-lt"/>
                <a:ea typeface="+mn-ea"/>
                <a:cs typeface="+mn-cs"/>
              </a:rPr>
              <a:t>    </a:t>
            </a:r>
            <a:r>
              <a:rPr lang="en-KE" sz="1200" kern="1200" dirty="0" err="1">
                <a:solidFill>
                  <a:schemeClr val="tx1"/>
                </a:solidFill>
                <a:latin typeface="+mn-lt"/>
                <a:ea typeface="+mn-ea"/>
                <a:cs typeface="+mn-cs"/>
              </a:rPr>
              <a:t>JourneySimulator.run</a:t>
            </a:r>
            <a:r>
              <a:rPr lang="en-KE" sz="1200" kern="1200" dirty="0">
                <a:solidFill>
                  <a:schemeClr val="tx1"/>
                </a:solidFill>
                <a:latin typeface="+mn-lt"/>
                <a:ea typeface="+mn-ea"/>
                <a:cs typeface="+mn-cs"/>
              </a:rPr>
              <a:t>()</a:t>
            </a:r>
            <a:r>
              <a:rPr lang="en-US" sz="1200" kern="1200" dirty="0">
                <a:solidFill>
                  <a:schemeClr val="tx1"/>
                </a:solidFill>
                <a:latin typeface="+mn-lt"/>
                <a:ea typeface="+mn-ea"/>
                <a:cs typeface="+mn-cs"/>
              </a:rPr>
              <a:t>	</a:t>
            </a:r>
            <a:r>
              <a:rPr lang="en-KE" dirty="0"/>
              <a:t>Simulates the vehicle moving along the route step by step</a:t>
            </a:r>
            <a:r>
              <a:rPr lang="en-US" dirty="0"/>
              <a:t>						      </a:t>
            </a:r>
            <a:r>
              <a:rPr lang="en-KE" sz="1200" kern="1200" dirty="0" err="1">
                <a:solidFill>
                  <a:schemeClr val="tx1"/>
                </a:solidFill>
                <a:latin typeface="+mn-lt"/>
                <a:ea typeface="+mn-ea"/>
                <a:cs typeface="+mn-cs"/>
              </a:rPr>
              <a:t>JourneySimulator</a:t>
            </a:r>
            <a:r>
              <a:rPr lang="en-KE" sz="1200" kern="1200" dirty="0">
                <a:solidFill>
                  <a:schemeClr val="tx1"/>
                </a:solidFill>
                <a:latin typeface="+mn-lt"/>
                <a:ea typeface="+mn-ea"/>
                <a:cs typeface="+mn-cs"/>
              </a:rPr>
              <a:t>._</a:t>
            </a:r>
            <a:r>
              <a:rPr lang="en-KE" sz="1200" kern="1200" dirty="0" err="1">
                <a:solidFill>
                  <a:schemeClr val="tx1"/>
                </a:solidFill>
                <a:latin typeface="+mn-lt"/>
                <a:ea typeface="+mn-ea"/>
                <a:cs typeface="+mn-cs"/>
              </a:rPr>
              <a:t>threshold_check</a:t>
            </a:r>
            <a:r>
              <a:rPr lang="en-KE" sz="1200" kern="1200" dirty="0">
                <a:solidFill>
                  <a:schemeClr val="tx1"/>
                </a:solidFill>
                <a:latin typeface="+mn-lt"/>
                <a:ea typeface="+mn-ea"/>
                <a:cs typeface="+mn-cs"/>
              </a:rPr>
              <a:t>()</a:t>
            </a:r>
            <a:r>
              <a:rPr lang="en-US" sz="1200" kern="1200" dirty="0">
                <a:solidFill>
                  <a:schemeClr val="tx1"/>
                </a:solidFill>
                <a:latin typeface="+mn-lt"/>
                <a:ea typeface="+mn-ea"/>
                <a:cs typeface="+mn-cs"/>
              </a:rPr>
              <a:t>	</a:t>
            </a:r>
            <a:r>
              <a:rPr lang="en-KE" dirty="0"/>
              <a:t>Implements the exact formula: </a:t>
            </a:r>
            <a:r>
              <a:rPr lang="en-KE" sz="1200" kern="1200" dirty="0">
                <a:solidFill>
                  <a:schemeClr val="tx1"/>
                </a:solidFill>
                <a:latin typeface="+mn-lt"/>
                <a:ea typeface="+mn-ea"/>
                <a:cs typeface="+mn-cs"/>
              </a:rPr>
              <a:t>deviation = (</a:t>
            </a:r>
            <a:r>
              <a:rPr lang="en-KE" sz="1200" kern="1200" dirty="0" err="1">
                <a:solidFill>
                  <a:schemeClr val="tx1"/>
                </a:solidFill>
                <a:latin typeface="+mn-lt"/>
                <a:ea typeface="+mn-ea"/>
                <a:cs typeface="+mn-cs"/>
              </a:rPr>
              <a:t>T_new</a:t>
            </a:r>
            <a:r>
              <a:rPr lang="en-KE" sz="1200" kern="1200" dirty="0">
                <a:solidFill>
                  <a:schemeClr val="tx1"/>
                </a:solidFill>
                <a:latin typeface="+mn-lt"/>
                <a:ea typeface="+mn-ea"/>
                <a:cs typeface="+mn-cs"/>
              </a:rPr>
              <a:t> - </a:t>
            </a:r>
            <a:r>
              <a:rPr lang="en-KE" sz="1200" kern="1200" dirty="0" err="1">
                <a:solidFill>
                  <a:schemeClr val="tx1"/>
                </a:solidFill>
                <a:latin typeface="+mn-lt"/>
                <a:ea typeface="+mn-ea"/>
                <a:cs typeface="+mn-cs"/>
              </a:rPr>
              <a:t>T_old</a:t>
            </a:r>
            <a:r>
              <a:rPr lang="en-KE" sz="1200" kern="1200" dirty="0">
                <a:solidFill>
                  <a:schemeClr val="tx1"/>
                </a:solidFill>
                <a:latin typeface="+mn-lt"/>
                <a:ea typeface="+mn-ea"/>
                <a:cs typeface="+mn-cs"/>
              </a:rPr>
              <a:t>) / </a:t>
            </a:r>
            <a:r>
              <a:rPr lang="en-KE" sz="1200" kern="1200" dirty="0" err="1">
                <a:solidFill>
                  <a:schemeClr val="tx1"/>
                </a:solidFill>
                <a:latin typeface="+mn-lt"/>
                <a:ea typeface="+mn-ea"/>
                <a:cs typeface="+mn-cs"/>
              </a:rPr>
              <a:t>T_old</a:t>
            </a:r>
            <a:r>
              <a:rPr lang="en-KE" dirty="0"/>
              <a:t> then </a:t>
            </a:r>
            <a:r>
              <a:rPr lang="en-KE" sz="1200" kern="1200" dirty="0">
                <a:solidFill>
                  <a:schemeClr val="tx1"/>
                </a:solidFill>
                <a:latin typeface="+mn-lt"/>
                <a:ea typeface="+mn-ea"/>
                <a:cs typeface="+mn-cs"/>
              </a:rPr>
              <a:t>return deviation &gt; </a:t>
            </a:r>
            <a:r>
              <a:rPr lang="en-KE" sz="1200" kern="1200" dirty="0" err="1">
                <a:solidFill>
                  <a:schemeClr val="tx1"/>
                </a:solidFill>
                <a:latin typeface="+mn-lt"/>
                <a:ea typeface="+mn-ea"/>
                <a:cs typeface="+mn-cs"/>
              </a:rPr>
              <a:t>self.delta</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Interpreting the findings for both objectives: For Objective 1, the literature review produced the architecture specification for the framework. The finding that no study had addressed all five dimensions simultaneously gave me a precise blueprint: we needed prediction, time-dependent routing, integrated operation, EV-specific constraints, and sensitivity to African urban conditions. For Objective 2, the model and framework performed as intended. A MAE of 3.42 mph is sufficiently accurate for route cost computation. The routing component at 0.18 milliseconds is </a:t>
            </a:r>
            <a:r>
              <a:rPr lang="en-US" i="1" dirty="0"/>
              <a:t>trivially</a:t>
            </a:r>
            <a:r>
              <a:rPr lang="en-US" dirty="0"/>
              <a:t> fast. The bottleneck is GRU inference at 41 milliseconds — and 41 milliseconds is still 22 times faster than the human decision window in dispatch operations. The framework is computationally feasible. </a:t>
            </a:r>
            <a:r>
              <a:rPr lang="en-KE" dirty="0"/>
              <a:t>What feasibility does not tell us is how frequently the controller should intervene — that is the open question Objective 3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my findings against the literature shows four relationships. We confirm Jeong et al.'s findings: GRU is the right architecture choice for this type of problem. We extend Werner et al.'s work by adding a machine learning prediction module and making the system update-compatible with five-minute traffic cycles. We directly address the gap Qi et al. identified in their 2025 systematic review. And we adapt Abuaisha et al.'s replanning principle from fixed transit corridors to the unconstrained problem of emergency vehicle routing. Together, these relationships show that my work is grounded in the literature, builds on it, and advances it in a meaningful direction.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KE" dirty="0"/>
              <a:t>In conclusion: Objective 1 produced a gap analysis confirming this research fills a genuine and unaddressed space in the ITS literature. Objective 2 produced a working, computationally feasible framework with competitive prediction accuracy and sub-millisecond routing latency. The key practical recommendation is that emergency dispatch centres, particularly in Nairobi, evaluate this type of predictive routing integration.</a:t>
            </a:r>
          </a:p>
          <a:p>
            <a:pPr rtl="0"/>
            <a:r>
              <a:rPr lang="en-KE" i="1" dirty="0"/>
              <a:t>One point to be precise about: δ = 0.10 is a working default, not a finding. </a:t>
            </a:r>
            <a:r>
              <a:rPr lang="en-KE" dirty="0"/>
              <a:t>Gap 2 established that no literature sets this threshold, and I have not yet run the analysis that would justify one. </a:t>
            </a:r>
            <a:r>
              <a:rPr lang="en-KE" i="0" dirty="0"/>
              <a:t>Too low and the controller reroutes constantly, adding dispatcher load; too high and it misses congestion the model predicted. </a:t>
            </a:r>
            <a:r>
              <a:rPr lang="en-KE" dirty="0"/>
              <a:t>Objective 3 measures that trade-off.</a:t>
            </a:r>
          </a:p>
          <a:p>
            <a:pPr rtl="0"/>
            <a:r>
              <a:rPr lang="en-KE" i="1" dirty="0"/>
              <a:t>Objective 4's 1,200-experiment comparison is only defensible once δ is fixed on evidence — otherwise I am benchmarking an arbitrary configuration. Objective 3 is the dependency, not just the next step.</a:t>
            </a:r>
          </a:p>
          <a:p>
            <a:pPr rtl="0"/>
            <a:r>
              <a:rPr lang="en-KE" dirty="0"/>
              <a:t>The components are built. What remains is to calibrate them.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 few of the more than 40 references underpinning today's presentation. The full reference list, including all DOIs, is available in my  thesis document. Thank you for your attention — I am now open to questions &amp; feedback.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E8A838"/>
          </a:solidFill>
          <a:ln/>
        </p:spPr>
        <p:txBody>
          <a:bodyPr/>
          <a:lstStyle/>
          <a:p>
            <a:endParaRPr lang="en-KE"/>
          </a:p>
        </p:txBody>
      </p:sp>
      <p:sp>
        <p:nvSpPr>
          <p:cNvPr id="3" name="Text 1"/>
          <p:cNvSpPr/>
          <p:nvPr/>
        </p:nvSpPr>
        <p:spPr>
          <a:xfrm>
            <a:off x="457200" y="182880"/>
            <a:ext cx="8229600" cy="274320"/>
          </a:xfrm>
          <a:prstGeom prst="rect">
            <a:avLst/>
          </a:prstGeom>
          <a:noFill/>
          <a:ln/>
        </p:spPr>
        <p:txBody>
          <a:bodyPr wrap="square" lIns="0" tIns="0" rIns="0" bIns="0" rtlCol="0" anchor="ctr"/>
          <a:lstStyle/>
          <a:p>
            <a:pPr marL="0" indent="0" algn="ctr">
              <a:buNone/>
            </a:pPr>
            <a:r>
              <a:rPr lang="en-US" sz="1050" kern="0" spc="200" dirty="0">
                <a:solidFill>
                  <a:srgbClr val="CADCFC"/>
                </a:solidFill>
                <a:latin typeface="Calibri" pitchFamily="34" charset="0"/>
                <a:ea typeface="Calibri" pitchFamily="34" charset="-122"/>
                <a:cs typeface="Calibri" pitchFamily="34" charset="-120"/>
              </a:rPr>
              <a:t>KIRINYAGA UNIVERSITY  |  MSc COMPUTER SCIENCE</a:t>
            </a:r>
            <a:endParaRPr lang="en-US" sz="1050" dirty="0"/>
          </a:p>
        </p:txBody>
      </p:sp>
      <p:sp>
        <p:nvSpPr>
          <p:cNvPr id="4" name="Text 2"/>
          <p:cNvSpPr/>
          <p:nvPr/>
        </p:nvSpPr>
        <p:spPr>
          <a:xfrm>
            <a:off x="548640" y="658368"/>
            <a:ext cx="8046720" cy="14173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GRU-Based Predictive Route Optimisation Framework for Emergency Vehicle Navigation</a:t>
            </a:r>
            <a:endParaRPr lang="en-US" sz="3000" dirty="0"/>
          </a:p>
        </p:txBody>
      </p:sp>
      <p:sp>
        <p:nvSpPr>
          <p:cNvPr id="5" name="Shape 3"/>
          <p:cNvSpPr/>
          <p:nvPr/>
        </p:nvSpPr>
        <p:spPr>
          <a:xfrm>
            <a:off x="3200400" y="2176272"/>
            <a:ext cx="2743200" cy="45720"/>
          </a:xfrm>
          <a:prstGeom prst="rect">
            <a:avLst/>
          </a:prstGeom>
          <a:solidFill>
            <a:srgbClr val="E8A838"/>
          </a:solidFill>
          <a:ln/>
        </p:spPr>
        <p:txBody>
          <a:bodyPr/>
          <a:lstStyle/>
          <a:p>
            <a:endParaRPr lang="en-KE"/>
          </a:p>
        </p:txBody>
      </p:sp>
      <p:sp>
        <p:nvSpPr>
          <p:cNvPr id="6" name="Text 4"/>
          <p:cNvSpPr/>
          <p:nvPr/>
        </p:nvSpPr>
        <p:spPr>
          <a:xfrm>
            <a:off x="457200" y="2286000"/>
            <a:ext cx="8229600" cy="320040"/>
          </a:xfrm>
          <a:prstGeom prst="rect">
            <a:avLst/>
          </a:prstGeom>
          <a:noFill/>
          <a:ln/>
        </p:spPr>
        <p:txBody>
          <a:bodyPr wrap="square" lIns="0" tIns="0" rIns="0" bIns="0" rtlCol="0" anchor="ctr"/>
          <a:lstStyle/>
          <a:p>
            <a:pPr marL="0" indent="0" algn="ctr">
              <a:buNone/>
            </a:pPr>
            <a:r>
              <a:rPr lang="en-US" sz="1400" dirty="0">
                <a:solidFill>
                  <a:srgbClr val="CADCFC"/>
                </a:solidFill>
                <a:latin typeface="Calibri" pitchFamily="34" charset="0"/>
                <a:ea typeface="Calibri" pitchFamily="34" charset="-122"/>
                <a:cs typeface="Calibri" pitchFamily="34" charset="-120"/>
              </a:rPr>
              <a:t>Research Progress Presentation — Objectives 1 &amp; 2</a:t>
            </a:r>
            <a:endParaRPr lang="en-US" sz="1400" dirty="0"/>
          </a:p>
        </p:txBody>
      </p:sp>
      <p:sp>
        <p:nvSpPr>
          <p:cNvPr id="7" name="Text 5"/>
          <p:cNvSpPr/>
          <p:nvPr/>
        </p:nvSpPr>
        <p:spPr>
          <a:xfrm>
            <a:off x="457200" y="2834640"/>
            <a:ext cx="8229600" cy="557917"/>
          </a:xfrm>
          <a:prstGeom prst="rect">
            <a:avLst/>
          </a:prstGeom>
          <a:noFill/>
          <a:ln/>
        </p:spPr>
        <p:txBody>
          <a:bodyPr wrap="square" lIns="0" tIns="0" rIns="0" bIns="0" rtlCol="0" anchor="t"/>
          <a:lstStyle/>
          <a:p>
            <a:pPr marL="0" indent="0" algn="ctr">
              <a:buNone/>
            </a:pPr>
            <a:r>
              <a:rPr lang="en-US" sz="1300" dirty="0">
                <a:solidFill>
                  <a:srgbClr val="A0B0D0"/>
                </a:solidFill>
                <a:latin typeface="Calibri" pitchFamily="34" charset="0"/>
                <a:ea typeface="Calibri" pitchFamily="34" charset="-122"/>
                <a:cs typeface="Calibri" pitchFamily="34" charset="-120"/>
              </a:rPr>
              <a:t>Freshia Njoki Macharia</a:t>
            </a:r>
          </a:p>
          <a:p>
            <a:pPr marL="0" indent="0" algn="ctr">
              <a:buNone/>
            </a:pPr>
            <a:r>
              <a:rPr lang="en-US" sz="1300" dirty="0">
                <a:solidFill>
                  <a:srgbClr val="A0B0D0"/>
                </a:solidFill>
                <a:latin typeface="Calibri" pitchFamily="34" charset="0"/>
                <a:ea typeface="Calibri" pitchFamily="34" charset="-122"/>
                <a:cs typeface="Calibri" pitchFamily="34" charset="-120"/>
              </a:rPr>
              <a:t>PA206/S/25427/24</a:t>
            </a:r>
          </a:p>
        </p:txBody>
      </p:sp>
      <p:sp>
        <p:nvSpPr>
          <p:cNvPr id="8" name="Shape 6"/>
          <p:cNvSpPr/>
          <p:nvPr/>
        </p:nvSpPr>
        <p:spPr>
          <a:xfrm>
            <a:off x="0" y="4960620"/>
            <a:ext cx="9144000" cy="182880"/>
          </a:xfrm>
          <a:prstGeom prst="rect">
            <a:avLst/>
          </a:prstGeom>
          <a:solidFill>
            <a:srgbClr val="2E3D7C"/>
          </a:solidFill>
          <a:ln/>
        </p:spPr>
        <p:txBody>
          <a:bodyPr/>
          <a:lstStyle/>
          <a:p>
            <a:endParaRPr lang="en-KE"/>
          </a:p>
        </p:txBody>
      </p:sp>
      <p:sp>
        <p:nvSpPr>
          <p:cNvPr id="10" name="Text 5">
            <a:extLst>
              <a:ext uri="{FF2B5EF4-FFF2-40B4-BE49-F238E27FC236}">
                <a16:creationId xmlns:a16="http://schemas.microsoft.com/office/drawing/2014/main" id="{CF2BFB6B-6EE6-D7CC-3D1E-81AF138F0CE7}"/>
              </a:ext>
            </a:extLst>
          </p:cNvPr>
          <p:cNvSpPr/>
          <p:nvPr/>
        </p:nvSpPr>
        <p:spPr>
          <a:xfrm>
            <a:off x="457200" y="3647991"/>
            <a:ext cx="8229600" cy="557917"/>
          </a:xfrm>
          <a:prstGeom prst="rect">
            <a:avLst/>
          </a:prstGeom>
          <a:noFill/>
          <a:ln/>
        </p:spPr>
        <p:txBody>
          <a:bodyPr wrap="square" lIns="0" tIns="0" rIns="0" bIns="0" rtlCol="0" anchor="t"/>
          <a:lstStyle/>
          <a:p>
            <a:pPr marL="0" indent="0" algn="ctr">
              <a:buNone/>
            </a:pPr>
            <a:r>
              <a:rPr lang="en-US" sz="1300" dirty="0">
                <a:solidFill>
                  <a:srgbClr val="A0B0D0"/>
                </a:solidFill>
                <a:latin typeface="Calibri" pitchFamily="34" charset="0"/>
                <a:ea typeface="Calibri" pitchFamily="34" charset="-122"/>
                <a:cs typeface="Calibri" pitchFamily="34" charset="-120"/>
              </a:rPr>
              <a:t>SUPERVISORS</a:t>
            </a:r>
          </a:p>
          <a:p>
            <a:pPr marL="0" indent="0" algn="ctr">
              <a:buNone/>
            </a:pPr>
            <a:r>
              <a:rPr lang="en-US" sz="1300" dirty="0">
                <a:solidFill>
                  <a:srgbClr val="A0B0D0"/>
                </a:solidFill>
                <a:latin typeface="Calibri" pitchFamily="34" charset="0"/>
                <a:ea typeface="Calibri" pitchFamily="34" charset="-122"/>
                <a:cs typeface="Calibri" pitchFamily="34" charset="-120"/>
              </a:rPr>
              <a:t>Dr. Gilbert Langat</a:t>
            </a:r>
            <a:br>
              <a:rPr lang="en-US" sz="1300" dirty="0">
                <a:solidFill>
                  <a:srgbClr val="A0B0D0"/>
                </a:solidFill>
                <a:latin typeface="Calibri" pitchFamily="34" charset="0"/>
                <a:ea typeface="Calibri" pitchFamily="34" charset="-122"/>
                <a:cs typeface="Calibri" pitchFamily="34" charset="-120"/>
              </a:rPr>
            </a:br>
            <a:r>
              <a:rPr lang="en-US" sz="1300" dirty="0">
                <a:solidFill>
                  <a:srgbClr val="A0B0D0"/>
                </a:solidFill>
                <a:latin typeface="Calibri" pitchFamily="34" charset="0"/>
                <a:ea typeface="Calibri" pitchFamily="34" charset="-122"/>
                <a:cs typeface="Calibri" pitchFamily="34" charset="-120"/>
              </a:rPr>
              <a:t>    Dr. Stephen Mageto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94360"/>
          </a:xfrm>
          <a:prstGeom prst="rect">
            <a:avLst/>
          </a:prstGeom>
          <a:noFill/>
          <a:ln/>
        </p:spPr>
        <p:txBody>
          <a:bodyPr wrap="square" lIns="0" tIns="0" rIns="0" bIns="0" rtlCol="0" anchor="ctr"/>
          <a:lstStyle/>
          <a:p>
            <a:pPr marL="0" indent="0" algn="l">
              <a:buNone/>
            </a:pPr>
            <a:r>
              <a:rPr lang="en-US" sz="2600" b="1" dirty="0">
                <a:solidFill>
                  <a:srgbClr val="1E2761"/>
                </a:solidFill>
                <a:latin typeface="Cambria" pitchFamily="34" charset="0"/>
                <a:ea typeface="Cambria" pitchFamily="34" charset="-122"/>
                <a:cs typeface="Cambria" pitchFamily="34" charset="-120"/>
              </a:rPr>
              <a:t>Presentation Roadmap</a:t>
            </a:r>
            <a:endParaRPr lang="en-US" sz="2600" dirty="0"/>
          </a:p>
        </p:txBody>
      </p:sp>
      <p:sp>
        <p:nvSpPr>
          <p:cNvPr id="3" name="Shape 1"/>
          <p:cNvSpPr/>
          <p:nvPr/>
        </p:nvSpPr>
        <p:spPr>
          <a:xfrm>
            <a:off x="411480" y="868680"/>
            <a:ext cx="8321040" cy="36576"/>
          </a:xfrm>
          <a:prstGeom prst="rect">
            <a:avLst/>
          </a:prstGeom>
          <a:solidFill>
            <a:srgbClr val="CADCFC"/>
          </a:solidFill>
          <a:ln/>
        </p:spPr>
        <p:txBody>
          <a:bodyPr/>
          <a:lstStyle/>
          <a:p>
            <a:endParaRPr lang="en-KE"/>
          </a:p>
        </p:txBody>
      </p:sp>
      <p:sp>
        <p:nvSpPr>
          <p:cNvPr id="4" name="Shape 2"/>
          <p:cNvSpPr/>
          <p:nvPr/>
        </p:nvSpPr>
        <p:spPr>
          <a:xfrm>
            <a:off x="434340" y="1051560"/>
            <a:ext cx="1280160" cy="1417320"/>
          </a:xfrm>
          <a:prstGeom prst="roundRect">
            <a:avLst>
              <a:gd name="adj" fmla="val 5714"/>
            </a:avLst>
          </a:prstGeom>
          <a:solidFill>
            <a:srgbClr val="1E2761"/>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5" name="Text 3"/>
          <p:cNvSpPr/>
          <p:nvPr/>
        </p:nvSpPr>
        <p:spPr>
          <a:xfrm>
            <a:off x="434340" y="1115568"/>
            <a:ext cx="1280160" cy="502920"/>
          </a:xfrm>
          <a:prstGeom prst="rect">
            <a:avLst/>
          </a:prstGeom>
          <a:noFill/>
          <a:ln/>
        </p:spPr>
        <p:txBody>
          <a:bodyPr wrap="square" lIns="0" tIns="0" rIns="0" bIns="0" rtlCol="0" anchor="ctr"/>
          <a:lstStyle/>
          <a:p>
            <a:pPr marL="0" indent="0" algn="ctr">
              <a:buNone/>
            </a:pPr>
            <a:r>
              <a:rPr lang="en-US" sz="2600" b="1" dirty="0">
                <a:solidFill>
                  <a:srgbClr val="E8A838"/>
                </a:solidFill>
                <a:latin typeface="Cambria" pitchFamily="34" charset="0"/>
                <a:ea typeface="Cambria" pitchFamily="34" charset="-122"/>
                <a:cs typeface="Cambria" pitchFamily="34" charset="-120"/>
              </a:rPr>
              <a:t>01</a:t>
            </a:r>
            <a:endParaRPr lang="en-US" sz="2600" dirty="0"/>
          </a:p>
        </p:txBody>
      </p:sp>
      <p:sp>
        <p:nvSpPr>
          <p:cNvPr id="6" name="Text 4"/>
          <p:cNvSpPr/>
          <p:nvPr/>
        </p:nvSpPr>
        <p:spPr>
          <a:xfrm>
            <a:off x="434340" y="1645920"/>
            <a:ext cx="1280160" cy="731520"/>
          </a:xfrm>
          <a:prstGeom prst="rect">
            <a:avLst/>
          </a:prstGeom>
          <a:noFill/>
          <a:ln/>
        </p:spPr>
        <p:txBody>
          <a:bodyPr wrap="square" lIns="25400" tIns="50800" rIns="50800" bIns="0" rtlCol="0" anchor="t"/>
          <a:lstStyle/>
          <a:p>
            <a:pPr marL="0" indent="0" algn="ctr">
              <a:buNone/>
            </a:pPr>
            <a:r>
              <a:rPr lang="en-US" sz="1150" dirty="0">
                <a:solidFill>
                  <a:srgbClr val="FFFFFF"/>
                </a:solidFill>
                <a:latin typeface="Calibri" pitchFamily="34" charset="0"/>
                <a:ea typeface="Calibri" pitchFamily="34" charset="-122"/>
                <a:cs typeface="Calibri" pitchFamily="34" charset="-120"/>
              </a:rPr>
              <a:t>Problem</a:t>
            </a: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Statement</a:t>
            </a:r>
            <a:endParaRPr lang="en-US" sz="1150" dirty="0"/>
          </a:p>
        </p:txBody>
      </p:sp>
      <p:sp>
        <p:nvSpPr>
          <p:cNvPr id="7" name="Text 5"/>
          <p:cNvSpPr/>
          <p:nvPr/>
        </p:nvSpPr>
        <p:spPr>
          <a:xfrm>
            <a:off x="1723644" y="1508760"/>
            <a:ext cx="137160" cy="457200"/>
          </a:xfrm>
          <a:prstGeom prst="rect">
            <a:avLst/>
          </a:prstGeom>
          <a:noFill/>
          <a:ln/>
        </p:spPr>
        <p:txBody>
          <a:bodyPr wrap="square" lIns="0" tIns="0" rIns="0" bIns="0" rtlCol="0" anchor="ctr"/>
          <a:lstStyle/>
          <a:p>
            <a:pPr marL="0" indent="0" algn="ctr">
              <a:buNone/>
            </a:pPr>
            <a:r>
              <a:rPr lang="en-US" sz="1600" dirty="0">
                <a:solidFill>
                  <a:srgbClr val="2E3D7C"/>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1833372" y="1051560"/>
            <a:ext cx="1280160" cy="1417320"/>
          </a:xfrm>
          <a:prstGeom prst="roundRect">
            <a:avLst>
              <a:gd name="adj" fmla="val 5714"/>
            </a:avLst>
          </a:prstGeom>
          <a:solidFill>
            <a:srgbClr val="1E2761"/>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9" name="Text 7"/>
          <p:cNvSpPr/>
          <p:nvPr/>
        </p:nvSpPr>
        <p:spPr>
          <a:xfrm>
            <a:off x="1833372" y="1115568"/>
            <a:ext cx="1280160" cy="502920"/>
          </a:xfrm>
          <a:prstGeom prst="rect">
            <a:avLst/>
          </a:prstGeom>
          <a:noFill/>
          <a:ln/>
        </p:spPr>
        <p:txBody>
          <a:bodyPr wrap="square" lIns="0" tIns="0" rIns="0" bIns="0" rtlCol="0" anchor="ctr"/>
          <a:lstStyle/>
          <a:p>
            <a:pPr marL="0" indent="0" algn="ctr">
              <a:buNone/>
            </a:pPr>
            <a:r>
              <a:rPr lang="en-US" sz="2600" b="1" dirty="0">
                <a:solidFill>
                  <a:srgbClr val="E8A838"/>
                </a:solidFill>
                <a:latin typeface="Cambria" pitchFamily="34" charset="0"/>
                <a:ea typeface="Cambria" pitchFamily="34" charset="-122"/>
                <a:cs typeface="Cambria" pitchFamily="34" charset="-120"/>
              </a:rPr>
              <a:t>02</a:t>
            </a:r>
            <a:endParaRPr lang="en-US" sz="2600" dirty="0"/>
          </a:p>
        </p:txBody>
      </p:sp>
      <p:sp>
        <p:nvSpPr>
          <p:cNvPr id="10" name="Text 8"/>
          <p:cNvSpPr/>
          <p:nvPr/>
        </p:nvSpPr>
        <p:spPr>
          <a:xfrm>
            <a:off x="1833372" y="1645920"/>
            <a:ext cx="1280160" cy="731520"/>
          </a:xfrm>
          <a:prstGeom prst="rect">
            <a:avLst/>
          </a:prstGeom>
          <a:noFill/>
          <a:ln/>
        </p:spPr>
        <p:txBody>
          <a:bodyPr wrap="square" lIns="25400" tIns="50800" rIns="50800" bIns="0" rtlCol="0" anchor="t"/>
          <a:lstStyle/>
          <a:p>
            <a:pPr marL="0" indent="0" algn="ctr">
              <a:buNone/>
            </a:pPr>
            <a:r>
              <a:rPr lang="en-US" sz="1150" dirty="0">
                <a:solidFill>
                  <a:srgbClr val="FFFFFF"/>
                </a:solidFill>
                <a:latin typeface="Calibri" pitchFamily="34" charset="0"/>
                <a:ea typeface="Calibri" pitchFamily="34" charset="-122"/>
                <a:cs typeface="Calibri" pitchFamily="34" charset="-120"/>
              </a:rPr>
              <a:t>Objectives &amp;</a:t>
            </a: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RQ</a:t>
            </a:r>
            <a:endParaRPr lang="en-US" sz="1150" dirty="0"/>
          </a:p>
        </p:txBody>
      </p:sp>
      <p:sp>
        <p:nvSpPr>
          <p:cNvPr id="11" name="Text 9"/>
          <p:cNvSpPr/>
          <p:nvPr/>
        </p:nvSpPr>
        <p:spPr>
          <a:xfrm>
            <a:off x="3122676" y="1508760"/>
            <a:ext cx="137160" cy="457200"/>
          </a:xfrm>
          <a:prstGeom prst="rect">
            <a:avLst/>
          </a:prstGeom>
          <a:noFill/>
          <a:ln/>
        </p:spPr>
        <p:txBody>
          <a:bodyPr wrap="square" lIns="0" tIns="0" rIns="0" bIns="0" rtlCol="0" anchor="ctr"/>
          <a:lstStyle/>
          <a:p>
            <a:pPr marL="0" indent="0" algn="ctr">
              <a:buNone/>
            </a:pPr>
            <a:r>
              <a:rPr lang="en-US" sz="1600" dirty="0">
                <a:solidFill>
                  <a:srgbClr val="2E3D7C"/>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3232404" y="1051560"/>
            <a:ext cx="1280160" cy="1417320"/>
          </a:xfrm>
          <a:prstGeom prst="roundRect">
            <a:avLst>
              <a:gd name="adj" fmla="val 5714"/>
            </a:avLst>
          </a:prstGeom>
          <a:solidFill>
            <a:srgbClr val="1E2761"/>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3" name="Text 11"/>
          <p:cNvSpPr/>
          <p:nvPr/>
        </p:nvSpPr>
        <p:spPr>
          <a:xfrm>
            <a:off x="3232404" y="1115568"/>
            <a:ext cx="1280160" cy="502920"/>
          </a:xfrm>
          <a:prstGeom prst="rect">
            <a:avLst/>
          </a:prstGeom>
          <a:noFill/>
          <a:ln/>
        </p:spPr>
        <p:txBody>
          <a:bodyPr wrap="square" lIns="0" tIns="0" rIns="0" bIns="0" rtlCol="0" anchor="ctr"/>
          <a:lstStyle/>
          <a:p>
            <a:pPr marL="0" indent="0" algn="ctr">
              <a:buNone/>
            </a:pPr>
            <a:r>
              <a:rPr lang="en-US" sz="2600" b="1" dirty="0">
                <a:solidFill>
                  <a:srgbClr val="E8A838"/>
                </a:solidFill>
                <a:latin typeface="Cambria" pitchFamily="34" charset="0"/>
                <a:ea typeface="Cambria" pitchFamily="34" charset="-122"/>
                <a:cs typeface="Cambria" pitchFamily="34" charset="-120"/>
              </a:rPr>
              <a:t>03</a:t>
            </a:r>
            <a:endParaRPr lang="en-US" sz="2600" dirty="0"/>
          </a:p>
        </p:txBody>
      </p:sp>
      <p:sp>
        <p:nvSpPr>
          <p:cNvPr id="14" name="Text 12"/>
          <p:cNvSpPr/>
          <p:nvPr/>
        </p:nvSpPr>
        <p:spPr>
          <a:xfrm>
            <a:off x="3232404" y="1645920"/>
            <a:ext cx="1280160" cy="731520"/>
          </a:xfrm>
          <a:prstGeom prst="rect">
            <a:avLst/>
          </a:prstGeom>
          <a:noFill/>
          <a:ln/>
        </p:spPr>
        <p:txBody>
          <a:bodyPr wrap="square" lIns="25400" tIns="50800" rIns="50800" bIns="0" rtlCol="0" anchor="t"/>
          <a:lstStyle/>
          <a:p>
            <a:pPr marL="0" indent="0" algn="ctr">
              <a:buNone/>
            </a:pPr>
            <a:r>
              <a:rPr lang="en-US" sz="1150" dirty="0">
                <a:solidFill>
                  <a:srgbClr val="FFFFFF"/>
                </a:solidFill>
                <a:latin typeface="Calibri" pitchFamily="34" charset="0"/>
                <a:ea typeface="Calibri" pitchFamily="34" charset="-122"/>
                <a:cs typeface="Calibri" pitchFamily="34" charset="-120"/>
              </a:rPr>
              <a:t>Literature</a:t>
            </a: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Review</a:t>
            </a:r>
            <a:endParaRPr lang="en-US" sz="1150" dirty="0"/>
          </a:p>
        </p:txBody>
      </p:sp>
      <p:sp>
        <p:nvSpPr>
          <p:cNvPr id="15" name="Text 13"/>
          <p:cNvSpPr/>
          <p:nvPr/>
        </p:nvSpPr>
        <p:spPr>
          <a:xfrm>
            <a:off x="4521708" y="1508760"/>
            <a:ext cx="137160" cy="457200"/>
          </a:xfrm>
          <a:prstGeom prst="rect">
            <a:avLst/>
          </a:prstGeom>
          <a:noFill/>
          <a:ln/>
        </p:spPr>
        <p:txBody>
          <a:bodyPr wrap="square" lIns="0" tIns="0" rIns="0" bIns="0" rtlCol="0" anchor="ctr"/>
          <a:lstStyle/>
          <a:p>
            <a:pPr marL="0" indent="0" algn="ctr">
              <a:buNone/>
            </a:pPr>
            <a:r>
              <a:rPr lang="en-US" sz="1600" dirty="0">
                <a:solidFill>
                  <a:srgbClr val="2E3D7C"/>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4631436" y="1051560"/>
            <a:ext cx="1280160" cy="1417320"/>
          </a:xfrm>
          <a:prstGeom prst="roundRect">
            <a:avLst>
              <a:gd name="adj" fmla="val 5714"/>
            </a:avLst>
          </a:prstGeom>
          <a:solidFill>
            <a:srgbClr val="1E2761"/>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7" name="Text 15"/>
          <p:cNvSpPr/>
          <p:nvPr/>
        </p:nvSpPr>
        <p:spPr>
          <a:xfrm>
            <a:off x="4631436" y="1115568"/>
            <a:ext cx="1280160" cy="502920"/>
          </a:xfrm>
          <a:prstGeom prst="rect">
            <a:avLst/>
          </a:prstGeom>
          <a:noFill/>
          <a:ln/>
        </p:spPr>
        <p:txBody>
          <a:bodyPr wrap="square" lIns="0" tIns="0" rIns="0" bIns="0" rtlCol="0" anchor="ctr"/>
          <a:lstStyle/>
          <a:p>
            <a:pPr marL="0" indent="0" algn="ctr">
              <a:buNone/>
            </a:pPr>
            <a:r>
              <a:rPr lang="en-US" sz="2600" b="1" dirty="0">
                <a:solidFill>
                  <a:srgbClr val="E8A838"/>
                </a:solidFill>
                <a:latin typeface="Cambria" pitchFamily="34" charset="0"/>
                <a:ea typeface="Cambria" pitchFamily="34" charset="-122"/>
                <a:cs typeface="Cambria" pitchFamily="34" charset="-120"/>
              </a:rPr>
              <a:t>04</a:t>
            </a:r>
            <a:endParaRPr lang="en-US" sz="2600" dirty="0"/>
          </a:p>
        </p:txBody>
      </p:sp>
      <p:sp>
        <p:nvSpPr>
          <p:cNvPr id="18" name="Text 16"/>
          <p:cNvSpPr/>
          <p:nvPr/>
        </p:nvSpPr>
        <p:spPr>
          <a:xfrm>
            <a:off x="4631436" y="1645920"/>
            <a:ext cx="1280160" cy="731520"/>
          </a:xfrm>
          <a:prstGeom prst="rect">
            <a:avLst/>
          </a:prstGeom>
          <a:noFill/>
          <a:ln/>
        </p:spPr>
        <p:txBody>
          <a:bodyPr wrap="square" lIns="25400" tIns="50800" rIns="50800" bIns="0" rtlCol="0" anchor="t"/>
          <a:lstStyle/>
          <a:p>
            <a:pPr marL="0" indent="0" algn="ctr">
              <a:buNone/>
            </a:pPr>
            <a:r>
              <a:rPr lang="en-US" sz="1150" dirty="0">
                <a:solidFill>
                  <a:srgbClr val="FFFFFF"/>
                </a:solidFill>
                <a:latin typeface="Calibri" pitchFamily="34" charset="0"/>
                <a:ea typeface="Calibri" pitchFamily="34" charset="-122"/>
                <a:cs typeface="Calibri" pitchFamily="34" charset="-120"/>
              </a:rPr>
              <a:t>Methodology</a:t>
            </a:r>
            <a:endParaRPr lang="en-US" sz="1150" dirty="0"/>
          </a:p>
        </p:txBody>
      </p:sp>
      <p:sp>
        <p:nvSpPr>
          <p:cNvPr id="19" name="Text 17"/>
          <p:cNvSpPr/>
          <p:nvPr/>
        </p:nvSpPr>
        <p:spPr>
          <a:xfrm>
            <a:off x="5920740" y="1508760"/>
            <a:ext cx="137160" cy="457200"/>
          </a:xfrm>
          <a:prstGeom prst="rect">
            <a:avLst/>
          </a:prstGeom>
          <a:noFill/>
          <a:ln/>
        </p:spPr>
        <p:txBody>
          <a:bodyPr wrap="square" lIns="0" tIns="0" rIns="0" bIns="0" rtlCol="0" anchor="ctr"/>
          <a:lstStyle/>
          <a:p>
            <a:pPr marL="0" indent="0" algn="ctr">
              <a:buNone/>
            </a:pPr>
            <a:r>
              <a:rPr lang="en-US" sz="1600" dirty="0">
                <a:solidFill>
                  <a:srgbClr val="2E3D7C"/>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6030468" y="1051560"/>
            <a:ext cx="1280160" cy="1417320"/>
          </a:xfrm>
          <a:prstGeom prst="roundRect">
            <a:avLst>
              <a:gd name="adj" fmla="val 5714"/>
            </a:avLst>
          </a:prstGeom>
          <a:solidFill>
            <a:srgbClr val="1E2761"/>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21" name="Text 19"/>
          <p:cNvSpPr/>
          <p:nvPr/>
        </p:nvSpPr>
        <p:spPr>
          <a:xfrm>
            <a:off x="6030468" y="1115568"/>
            <a:ext cx="1280160" cy="502920"/>
          </a:xfrm>
          <a:prstGeom prst="rect">
            <a:avLst/>
          </a:prstGeom>
          <a:noFill/>
          <a:ln/>
        </p:spPr>
        <p:txBody>
          <a:bodyPr wrap="square" lIns="0" tIns="0" rIns="0" bIns="0" rtlCol="0" anchor="ctr"/>
          <a:lstStyle/>
          <a:p>
            <a:pPr marL="0" indent="0" algn="ctr">
              <a:buNone/>
            </a:pPr>
            <a:r>
              <a:rPr lang="en-US" sz="2600" b="1" dirty="0">
                <a:solidFill>
                  <a:srgbClr val="E8A838"/>
                </a:solidFill>
                <a:latin typeface="Cambria" pitchFamily="34" charset="0"/>
                <a:ea typeface="Cambria" pitchFamily="34" charset="-122"/>
                <a:cs typeface="Cambria" pitchFamily="34" charset="-120"/>
              </a:rPr>
              <a:t>05</a:t>
            </a:r>
            <a:endParaRPr lang="en-US" sz="2600" dirty="0"/>
          </a:p>
        </p:txBody>
      </p:sp>
      <p:sp>
        <p:nvSpPr>
          <p:cNvPr id="22" name="Text 20"/>
          <p:cNvSpPr/>
          <p:nvPr/>
        </p:nvSpPr>
        <p:spPr>
          <a:xfrm>
            <a:off x="6030468" y="1645920"/>
            <a:ext cx="1280160" cy="731520"/>
          </a:xfrm>
          <a:prstGeom prst="rect">
            <a:avLst/>
          </a:prstGeom>
          <a:noFill/>
          <a:ln/>
        </p:spPr>
        <p:txBody>
          <a:bodyPr wrap="square" lIns="25400" tIns="50800" rIns="50800" bIns="0" rtlCol="0" anchor="t"/>
          <a:lstStyle/>
          <a:p>
            <a:pPr marL="0" indent="0" algn="ctr">
              <a:buNone/>
            </a:pPr>
            <a:r>
              <a:rPr lang="en-US" sz="1150" dirty="0">
                <a:solidFill>
                  <a:srgbClr val="FFFFFF"/>
                </a:solidFill>
                <a:latin typeface="Calibri" pitchFamily="34" charset="0"/>
                <a:ea typeface="Calibri" pitchFamily="34" charset="-122"/>
                <a:cs typeface="Calibri" pitchFamily="34" charset="-120"/>
              </a:rPr>
              <a:t>Findings</a:t>
            </a: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Obj 1 &amp; 2</a:t>
            </a:r>
            <a:endParaRPr lang="en-US" sz="1150" dirty="0"/>
          </a:p>
        </p:txBody>
      </p:sp>
      <p:sp>
        <p:nvSpPr>
          <p:cNvPr id="23" name="Text 21"/>
          <p:cNvSpPr/>
          <p:nvPr/>
        </p:nvSpPr>
        <p:spPr>
          <a:xfrm>
            <a:off x="7319772" y="1508760"/>
            <a:ext cx="137160" cy="457200"/>
          </a:xfrm>
          <a:prstGeom prst="rect">
            <a:avLst/>
          </a:prstGeom>
          <a:noFill/>
          <a:ln/>
        </p:spPr>
        <p:txBody>
          <a:bodyPr wrap="square" lIns="0" tIns="0" rIns="0" bIns="0" rtlCol="0" anchor="ctr"/>
          <a:lstStyle/>
          <a:p>
            <a:pPr marL="0" indent="0" algn="ctr">
              <a:buNone/>
            </a:pPr>
            <a:r>
              <a:rPr lang="en-US" sz="1600" dirty="0">
                <a:solidFill>
                  <a:srgbClr val="2E3D7C"/>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7429500" y="1051560"/>
            <a:ext cx="1280160" cy="1417320"/>
          </a:xfrm>
          <a:prstGeom prst="roundRect">
            <a:avLst>
              <a:gd name="adj" fmla="val 5714"/>
            </a:avLst>
          </a:prstGeom>
          <a:solidFill>
            <a:srgbClr val="1E2761"/>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25" name="Text 23"/>
          <p:cNvSpPr/>
          <p:nvPr/>
        </p:nvSpPr>
        <p:spPr>
          <a:xfrm>
            <a:off x="7429500" y="1115568"/>
            <a:ext cx="1280160" cy="502920"/>
          </a:xfrm>
          <a:prstGeom prst="rect">
            <a:avLst/>
          </a:prstGeom>
          <a:noFill/>
          <a:ln/>
        </p:spPr>
        <p:txBody>
          <a:bodyPr wrap="square" lIns="0" tIns="0" rIns="0" bIns="0" rtlCol="0" anchor="ctr"/>
          <a:lstStyle/>
          <a:p>
            <a:pPr marL="0" indent="0" algn="ctr">
              <a:buNone/>
            </a:pPr>
            <a:r>
              <a:rPr lang="en-US" sz="2600" b="1" dirty="0">
                <a:solidFill>
                  <a:srgbClr val="E8A838"/>
                </a:solidFill>
                <a:latin typeface="Cambria" pitchFamily="34" charset="0"/>
                <a:ea typeface="Cambria" pitchFamily="34" charset="-122"/>
                <a:cs typeface="Cambria" pitchFamily="34" charset="-120"/>
              </a:rPr>
              <a:t>06</a:t>
            </a:r>
            <a:endParaRPr lang="en-US" sz="2600" dirty="0"/>
          </a:p>
        </p:txBody>
      </p:sp>
      <p:sp>
        <p:nvSpPr>
          <p:cNvPr id="26" name="Text 24"/>
          <p:cNvSpPr/>
          <p:nvPr/>
        </p:nvSpPr>
        <p:spPr>
          <a:xfrm>
            <a:off x="7429500" y="1645920"/>
            <a:ext cx="1280160" cy="731520"/>
          </a:xfrm>
          <a:prstGeom prst="rect">
            <a:avLst/>
          </a:prstGeom>
          <a:noFill/>
          <a:ln/>
        </p:spPr>
        <p:txBody>
          <a:bodyPr wrap="square" lIns="25400" tIns="50800" rIns="50800" bIns="0" rtlCol="0" anchor="t"/>
          <a:lstStyle/>
          <a:p>
            <a:pPr marL="0" indent="0" algn="ctr">
              <a:buNone/>
            </a:pPr>
            <a:r>
              <a:rPr lang="en-US" sz="1150" dirty="0">
                <a:solidFill>
                  <a:srgbClr val="FFFFFF"/>
                </a:solidFill>
                <a:latin typeface="Calibri" pitchFamily="34" charset="0"/>
                <a:ea typeface="Calibri" pitchFamily="34" charset="-122"/>
                <a:cs typeface="Calibri" pitchFamily="34" charset="-120"/>
              </a:rPr>
              <a:t>Conclusions</a:t>
            </a:r>
            <a:endParaRPr lang="en-US" sz="1150" dirty="0"/>
          </a:p>
        </p:txBody>
      </p:sp>
      <p:sp>
        <p:nvSpPr>
          <p:cNvPr id="27" name="Text 25"/>
          <p:cNvSpPr/>
          <p:nvPr/>
        </p:nvSpPr>
        <p:spPr>
          <a:xfrm>
            <a:off x="411480" y="4480560"/>
            <a:ext cx="8321040" cy="411480"/>
          </a:xfrm>
          <a:prstGeom prst="rect">
            <a:avLst/>
          </a:prstGeom>
          <a:noFill/>
          <a:ln/>
        </p:spPr>
        <p:txBody>
          <a:bodyPr wrap="square" lIns="0" tIns="0" rIns="0" bIns="0" rtlCol="0" anchor="ctr"/>
          <a:lstStyle/>
          <a:p>
            <a:pPr marL="0" indent="0" algn="ctr">
              <a:buNone/>
            </a:pPr>
            <a:r>
              <a:rPr lang="en-US" sz="1100" i="1" dirty="0">
                <a:solidFill>
                  <a:srgbClr val="5A6080"/>
                </a:solidFill>
                <a:latin typeface="Calibri" pitchFamily="34" charset="0"/>
                <a:ea typeface="Calibri" pitchFamily="34" charset="-122"/>
                <a:cs typeface="Calibri" pitchFamily="34" charset="-120"/>
              </a:rPr>
              <a:t>Today's focus: Objectives 1 and 2  |  Objectives 3 and 4 is planned for next phase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94360"/>
          </a:xfrm>
          <a:prstGeom prst="rect">
            <a:avLst/>
          </a:prstGeom>
          <a:noFill/>
          <a:ln/>
        </p:spPr>
        <p:txBody>
          <a:bodyPr wrap="square" lIns="0" tIns="0" rIns="0" bIns="0" rtlCol="0" anchor="ctr"/>
          <a:lstStyle/>
          <a:p>
            <a:pPr marL="0" indent="0" algn="l">
              <a:buNone/>
            </a:pPr>
            <a:r>
              <a:rPr lang="en-US" sz="2600" b="1" dirty="0">
                <a:solidFill>
                  <a:srgbClr val="1E2761"/>
                </a:solidFill>
                <a:latin typeface="Cambria" pitchFamily="34" charset="0"/>
                <a:ea typeface="Cambria" pitchFamily="34" charset="-122"/>
                <a:cs typeface="Cambria" pitchFamily="34" charset="-120"/>
              </a:rPr>
              <a:t>Problem Statement</a:t>
            </a:r>
            <a:endParaRPr lang="en-US" sz="2600" dirty="0"/>
          </a:p>
        </p:txBody>
      </p:sp>
      <p:sp>
        <p:nvSpPr>
          <p:cNvPr id="3" name="Shape 1"/>
          <p:cNvSpPr/>
          <p:nvPr/>
        </p:nvSpPr>
        <p:spPr>
          <a:xfrm>
            <a:off x="411480" y="868680"/>
            <a:ext cx="8321040" cy="36576"/>
          </a:xfrm>
          <a:prstGeom prst="rect">
            <a:avLst/>
          </a:prstGeom>
          <a:solidFill>
            <a:srgbClr val="CADCFC"/>
          </a:solidFill>
          <a:ln/>
        </p:spPr>
        <p:txBody>
          <a:bodyPr/>
          <a:lstStyle/>
          <a:p>
            <a:endParaRPr lang="en-KE"/>
          </a:p>
        </p:txBody>
      </p:sp>
      <p:sp>
        <p:nvSpPr>
          <p:cNvPr id="4" name="Shape 2"/>
          <p:cNvSpPr/>
          <p:nvPr/>
        </p:nvSpPr>
        <p:spPr>
          <a:xfrm>
            <a:off x="411480" y="987552"/>
            <a:ext cx="2468880" cy="1078992"/>
          </a:xfrm>
          <a:prstGeom prst="roundRect">
            <a:avLst>
              <a:gd name="adj" fmla="val 6780"/>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5" name="Text 3"/>
          <p:cNvSpPr/>
          <p:nvPr/>
        </p:nvSpPr>
        <p:spPr>
          <a:xfrm>
            <a:off x="411480" y="1060704"/>
            <a:ext cx="2468880" cy="593446"/>
          </a:xfrm>
          <a:prstGeom prst="rect">
            <a:avLst/>
          </a:prstGeom>
          <a:noFill/>
          <a:ln/>
        </p:spPr>
        <p:txBody>
          <a:bodyPr wrap="square" lIns="0" tIns="0" rIns="0" bIns="0" rtlCol="0" anchor="b"/>
          <a:lstStyle/>
          <a:p>
            <a:pPr marL="0" indent="0" algn="ctr">
              <a:buNone/>
            </a:pPr>
            <a:r>
              <a:rPr lang="en-US" sz="3600" b="1" dirty="0">
                <a:solidFill>
                  <a:srgbClr val="C0392B"/>
                </a:solidFill>
                <a:latin typeface="Cambria" pitchFamily="34" charset="0"/>
                <a:ea typeface="Cambria" pitchFamily="34" charset="-122"/>
                <a:cs typeface="Cambria" pitchFamily="34" charset="-120"/>
              </a:rPr>
              <a:t>18–25 min</a:t>
            </a:r>
            <a:endParaRPr lang="en-US" sz="3600" dirty="0"/>
          </a:p>
        </p:txBody>
      </p:sp>
      <p:sp>
        <p:nvSpPr>
          <p:cNvPr id="6" name="Text 4"/>
          <p:cNvSpPr/>
          <p:nvPr/>
        </p:nvSpPr>
        <p:spPr>
          <a:xfrm>
            <a:off x="411480" y="1580998"/>
            <a:ext cx="2468880" cy="431597"/>
          </a:xfrm>
          <a:prstGeom prst="rect">
            <a:avLst/>
          </a:prstGeom>
          <a:noFill/>
          <a:ln/>
        </p:spPr>
        <p:txBody>
          <a:bodyPr wrap="square" lIns="0" tIns="0" rIns="0" bIns="0" rtlCol="0" anchor="t"/>
          <a:lstStyle/>
          <a:p>
            <a:pPr marL="0" indent="0" algn="ctr">
              <a:buNone/>
            </a:pPr>
            <a:r>
              <a:rPr lang="en-US" sz="1100" dirty="0">
                <a:solidFill>
                  <a:srgbClr val="5A6080"/>
                </a:solidFill>
                <a:latin typeface="Calibri" pitchFamily="34" charset="0"/>
                <a:ea typeface="Calibri" pitchFamily="34" charset="-122"/>
                <a:cs typeface="Calibri" pitchFamily="34" charset="-120"/>
              </a:rPr>
              <a:t>Nairobi peak-hour</a:t>
            </a:r>
            <a:endParaRPr lang="en-US" sz="1100" dirty="0"/>
          </a:p>
          <a:p>
            <a:pPr marL="0" indent="0" algn="ctr">
              <a:buNone/>
            </a:pPr>
            <a:r>
              <a:rPr lang="en-US" sz="1100" dirty="0">
                <a:solidFill>
                  <a:srgbClr val="5A6080"/>
                </a:solidFill>
                <a:latin typeface="Calibri" pitchFamily="34" charset="0"/>
                <a:ea typeface="Calibri" pitchFamily="34" charset="-122"/>
                <a:cs typeface="Calibri" pitchFamily="34" charset="-120"/>
              </a:rPr>
              <a:t>ambulance response time</a:t>
            </a:r>
            <a:endParaRPr lang="en-US" sz="1100" dirty="0"/>
          </a:p>
        </p:txBody>
      </p:sp>
      <p:sp>
        <p:nvSpPr>
          <p:cNvPr id="7" name="Shape 5"/>
          <p:cNvSpPr/>
          <p:nvPr/>
        </p:nvSpPr>
        <p:spPr>
          <a:xfrm>
            <a:off x="3337560" y="987552"/>
            <a:ext cx="2468880" cy="1078992"/>
          </a:xfrm>
          <a:prstGeom prst="roundRect">
            <a:avLst>
              <a:gd name="adj" fmla="val 6780"/>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8" name="Text 6"/>
          <p:cNvSpPr/>
          <p:nvPr/>
        </p:nvSpPr>
        <p:spPr>
          <a:xfrm>
            <a:off x="3337560" y="1060704"/>
            <a:ext cx="2468880" cy="593446"/>
          </a:xfrm>
          <a:prstGeom prst="rect">
            <a:avLst/>
          </a:prstGeom>
          <a:noFill/>
          <a:ln/>
        </p:spPr>
        <p:txBody>
          <a:bodyPr wrap="square" lIns="0" tIns="0" rIns="0" bIns="0" rtlCol="0" anchor="b"/>
          <a:lstStyle/>
          <a:p>
            <a:pPr marL="0" indent="0" algn="ctr">
              <a:buNone/>
            </a:pPr>
            <a:r>
              <a:rPr lang="en-US" sz="3600" b="1" dirty="0">
                <a:solidFill>
                  <a:srgbClr val="0D9488"/>
                </a:solidFill>
                <a:latin typeface="Cambria" pitchFamily="34" charset="0"/>
                <a:ea typeface="Cambria" pitchFamily="34" charset="-122"/>
                <a:cs typeface="Cambria" pitchFamily="34" charset="-120"/>
              </a:rPr>
              <a:t>8 min</a:t>
            </a:r>
            <a:endParaRPr lang="en-US" sz="3600" dirty="0"/>
          </a:p>
        </p:txBody>
      </p:sp>
      <p:sp>
        <p:nvSpPr>
          <p:cNvPr id="9" name="Text 7"/>
          <p:cNvSpPr/>
          <p:nvPr/>
        </p:nvSpPr>
        <p:spPr>
          <a:xfrm>
            <a:off x="3337560" y="1580998"/>
            <a:ext cx="2468880" cy="431597"/>
          </a:xfrm>
          <a:prstGeom prst="rect">
            <a:avLst/>
          </a:prstGeom>
          <a:noFill/>
          <a:ln/>
        </p:spPr>
        <p:txBody>
          <a:bodyPr wrap="square" lIns="0" tIns="0" rIns="0" bIns="0" rtlCol="0" anchor="t"/>
          <a:lstStyle/>
          <a:p>
            <a:pPr marL="0" indent="0" algn="ctr">
              <a:buNone/>
            </a:pPr>
            <a:r>
              <a:rPr lang="en-US" sz="1100" dirty="0">
                <a:solidFill>
                  <a:srgbClr val="5A6080"/>
                </a:solidFill>
                <a:latin typeface="Calibri" pitchFamily="34" charset="0"/>
                <a:ea typeface="Calibri" pitchFamily="34" charset="-122"/>
                <a:cs typeface="Calibri" pitchFamily="34" charset="-120"/>
              </a:rPr>
              <a:t>WHO recommended</a:t>
            </a:r>
            <a:endParaRPr lang="en-US" sz="1100" dirty="0"/>
          </a:p>
          <a:p>
            <a:pPr marL="0" indent="0" algn="ctr">
              <a:buNone/>
            </a:pPr>
            <a:r>
              <a:rPr lang="en-US" sz="1100" dirty="0">
                <a:solidFill>
                  <a:srgbClr val="5A6080"/>
                </a:solidFill>
                <a:latin typeface="Calibri" pitchFamily="34" charset="0"/>
                <a:ea typeface="Calibri" pitchFamily="34" charset="-122"/>
                <a:cs typeface="Calibri" pitchFamily="34" charset="-120"/>
              </a:rPr>
              <a:t>threshold</a:t>
            </a:r>
            <a:endParaRPr lang="en-US" sz="1100" dirty="0"/>
          </a:p>
        </p:txBody>
      </p:sp>
      <p:sp>
        <p:nvSpPr>
          <p:cNvPr id="10" name="Shape 8"/>
          <p:cNvSpPr/>
          <p:nvPr/>
        </p:nvSpPr>
        <p:spPr>
          <a:xfrm>
            <a:off x="6263640" y="987552"/>
            <a:ext cx="2468880" cy="1078992"/>
          </a:xfrm>
          <a:prstGeom prst="roundRect">
            <a:avLst>
              <a:gd name="adj" fmla="val 6780"/>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1" name="Text 9"/>
          <p:cNvSpPr/>
          <p:nvPr/>
        </p:nvSpPr>
        <p:spPr>
          <a:xfrm>
            <a:off x="6263640" y="1060704"/>
            <a:ext cx="2468880" cy="593446"/>
          </a:xfrm>
          <a:prstGeom prst="rect">
            <a:avLst/>
          </a:prstGeom>
          <a:noFill/>
          <a:ln/>
        </p:spPr>
        <p:txBody>
          <a:bodyPr wrap="square" lIns="0" tIns="0" rIns="0" bIns="0" rtlCol="0" anchor="b"/>
          <a:lstStyle/>
          <a:p>
            <a:pPr marL="0" indent="0" algn="ctr">
              <a:buNone/>
            </a:pPr>
            <a:r>
              <a:rPr lang="en-US" sz="3600" b="1" dirty="0">
                <a:solidFill>
                  <a:srgbClr val="1E2761"/>
                </a:solidFill>
                <a:latin typeface="Cambria" pitchFamily="34" charset="0"/>
                <a:ea typeface="Cambria" pitchFamily="34" charset="-122"/>
                <a:cs typeface="Cambria" pitchFamily="34" charset="-120"/>
              </a:rPr>
              <a:t>10%</a:t>
            </a:r>
            <a:endParaRPr lang="en-US" sz="3600" dirty="0"/>
          </a:p>
        </p:txBody>
      </p:sp>
      <p:sp>
        <p:nvSpPr>
          <p:cNvPr id="12" name="Text 10"/>
          <p:cNvSpPr/>
          <p:nvPr/>
        </p:nvSpPr>
        <p:spPr>
          <a:xfrm>
            <a:off x="6263640" y="1580998"/>
            <a:ext cx="2468880" cy="431597"/>
          </a:xfrm>
          <a:prstGeom prst="rect">
            <a:avLst/>
          </a:prstGeom>
          <a:noFill/>
          <a:ln/>
        </p:spPr>
        <p:txBody>
          <a:bodyPr wrap="square" lIns="0" tIns="0" rIns="0" bIns="0" rtlCol="0" anchor="t"/>
          <a:lstStyle/>
          <a:p>
            <a:pPr marL="0" indent="0" algn="ctr">
              <a:buNone/>
            </a:pPr>
            <a:r>
              <a:rPr lang="en-US" sz="1100" dirty="0">
                <a:solidFill>
                  <a:srgbClr val="5A6080"/>
                </a:solidFill>
                <a:latin typeface="Calibri" pitchFamily="34" charset="0"/>
                <a:ea typeface="Calibri" pitchFamily="34" charset="-122"/>
                <a:cs typeface="Calibri" pitchFamily="34" charset="-120"/>
              </a:rPr>
              <a:t>Mortality increase per</a:t>
            </a:r>
            <a:endParaRPr lang="en-US" sz="1100" dirty="0"/>
          </a:p>
          <a:p>
            <a:pPr marL="0" indent="0" algn="ctr">
              <a:buNone/>
            </a:pPr>
            <a:r>
              <a:rPr lang="en-US" sz="1100" dirty="0">
                <a:solidFill>
                  <a:srgbClr val="5A6080"/>
                </a:solidFill>
                <a:latin typeface="Calibri" pitchFamily="34" charset="0"/>
                <a:ea typeface="Calibri" pitchFamily="34" charset="-122"/>
                <a:cs typeface="Calibri" pitchFamily="34" charset="-120"/>
              </a:rPr>
              <a:t>additional minute</a:t>
            </a:r>
            <a:endParaRPr lang="en-US" sz="1100" dirty="0"/>
          </a:p>
        </p:txBody>
      </p:sp>
      <p:sp>
        <p:nvSpPr>
          <p:cNvPr id="13" name="Text 11"/>
          <p:cNvSpPr/>
          <p:nvPr/>
        </p:nvSpPr>
        <p:spPr>
          <a:xfrm>
            <a:off x="411480" y="2304288"/>
            <a:ext cx="8321040" cy="1874520"/>
          </a:xfrm>
          <a:prstGeom prst="rect">
            <a:avLst/>
          </a:prstGeom>
          <a:noFill/>
          <a:ln/>
        </p:spPr>
        <p:txBody>
          <a:bodyPr wrap="square" lIns="50800" tIns="76200" rIns="76200" bIns="50800" rtlCol="0" anchor="t"/>
          <a:lstStyle/>
          <a:p>
            <a:pPr marL="342900" indent="-342900">
              <a:spcAft>
                <a:spcPts val="400"/>
              </a:spcAft>
              <a:buSzPct val="100000"/>
              <a:buChar char="•"/>
            </a:pPr>
            <a:r>
              <a:rPr lang="en-US" sz="1400" dirty="0">
                <a:solidFill>
                  <a:srgbClr val="1A1A2E"/>
                </a:solidFill>
                <a:latin typeface="Calibri" pitchFamily="34" charset="0"/>
                <a:ea typeface="Calibri" pitchFamily="34" charset="-122"/>
                <a:cs typeface="Calibri" pitchFamily="34" charset="-120"/>
              </a:rPr>
              <a:t>Existing navigation systems rely on current traffic data and cannot forecast congestion that develops during a response journey.</a:t>
            </a:r>
            <a:endParaRPr lang="en-US" sz="1400" dirty="0"/>
          </a:p>
          <a:p>
            <a:pPr marL="342900" indent="-342900">
              <a:spcAft>
                <a:spcPts val="400"/>
              </a:spcAft>
              <a:buSzPct val="100000"/>
              <a:buChar char="•"/>
            </a:pPr>
            <a:r>
              <a:rPr lang="en-US" sz="1400" dirty="0">
                <a:solidFill>
                  <a:srgbClr val="1A1A2E"/>
                </a:solidFill>
                <a:latin typeface="Calibri" pitchFamily="34" charset="0"/>
                <a:ea typeface="Calibri" pitchFamily="34" charset="-122"/>
                <a:cs typeface="Calibri" pitchFamily="34" charset="-120"/>
              </a:rPr>
              <a:t>A route that is optimal at dispatch can become suboptimal within 10–15 minutes as traffic conditions shift.</a:t>
            </a:r>
            <a:endParaRPr lang="en-US" sz="1400" dirty="0"/>
          </a:p>
          <a:p>
            <a:pPr marL="342900" indent="-342900">
              <a:spcAft>
                <a:spcPts val="400"/>
              </a:spcAft>
              <a:buSzPct val="100000"/>
              <a:buChar char="•"/>
            </a:pPr>
            <a:r>
              <a:rPr lang="en-US" sz="1400" dirty="0">
                <a:solidFill>
                  <a:srgbClr val="1A1A2E"/>
                </a:solidFill>
                <a:latin typeface="Calibri" pitchFamily="34" charset="0"/>
                <a:ea typeface="Calibri" pitchFamily="34" charset="-122"/>
                <a:cs typeface="Calibri" pitchFamily="34" charset="-120"/>
              </a:rPr>
              <a:t>No integrated framework combines machine learning prediction with time-dependent routing for emergency dispatch.</a:t>
            </a:r>
            <a:endParaRPr lang="en-US" sz="1400" dirty="0"/>
          </a:p>
        </p:txBody>
      </p:sp>
      <p:sp>
        <p:nvSpPr>
          <p:cNvPr id="14" name="Text 12"/>
          <p:cNvSpPr/>
          <p:nvPr/>
        </p:nvSpPr>
        <p:spPr>
          <a:xfrm>
            <a:off x="411480" y="4754880"/>
            <a:ext cx="8321040" cy="256032"/>
          </a:xfrm>
          <a:prstGeom prst="rect">
            <a:avLst/>
          </a:prstGeom>
          <a:noFill/>
          <a:ln/>
        </p:spPr>
        <p:txBody>
          <a:bodyPr wrap="square" lIns="0" tIns="0" rIns="0" bIns="0" rtlCol="0" anchor="ctr"/>
          <a:lstStyle/>
          <a:p>
            <a:pPr marL="0" indent="0" algn="l">
              <a:buNone/>
            </a:pPr>
            <a:r>
              <a:rPr lang="en-US" sz="950" i="1" dirty="0">
                <a:solidFill>
                  <a:srgbClr val="5A6080"/>
                </a:solidFill>
                <a:latin typeface="Calibri" pitchFamily="34" charset="0"/>
                <a:ea typeface="Calibri" pitchFamily="34" charset="-122"/>
                <a:cs typeface="Calibri" pitchFamily="34" charset="-120"/>
              </a:rPr>
              <a:t>Source: WHO (2015); INRIX (2024); Zhang et al. (2022)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94360"/>
          </a:xfrm>
          <a:prstGeom prst="rect">
            <a:avLst/>
          </a:prstGeom>
          <a:noFill/>
          <a:ln/>
        </p:spPr>
        <p:txBody>
          <a:bodyPr wrap="square" lIns="0" tIns="0" rIns="0" bIns="0" rtlCol="0" anchor="ctr"/>
          <a:lstStyle/>
          <a:p>
            <a:pPr marL="0" indent="0" algn="l">
              <a:buNone/>
            </a:pPr>
            <a:r>
              <a:rPr lang="en-US" sz="2600" b="1" dirty="0">
                <a:solidFill>
                  <a:srgbClr val="1E2761"/>
                </a:solidFill>
                <a:latin typeface="Cambria" pitchFamily="34" charset="0"/>
                <a:ea typeface="Cambria" pitchFamily="34" charset="-122"/>
                <a:cs typeface="Cambria" pitchFamily="34" charset="-120"/>
              </a:rPr>
              <a:t>Research Objectives</a:t>
            </a:r>
            <a:endParaRPr lang="en-US" sz="2600" dirty="0"/>
          </a:p>
        </p:txBody>
      </p:sp>
      <p:sp>
        <p:nvSpPr>
          <p:cNvPr id="3" name="Shape 1"/>
          <p:cNvSpPr/>
          <p:nvPr/>
        </p:nvSpPr>
        <p:spPr>
          <a:xfrm>
            <a:off x="411480" y="868680"/>
            <a:ext cx="8321040" cy="36576"/>
          </a:xfrm>
          <a:prstGeom prst="rect">
            <a:avLst/>
          </a:prstGeom>
          <a:solidFill>
            <a:srgbClr val="CADCFC"/>
          </a:solidFill>
          <a:ln/>
        </p:spPr>
        <p:txBody>
          <a:bodyPr/>
          <a:lstStyle/>
          <a:p>
            <a:endParaRPr lang="en-KE"/>
          </a:p>
        </p:txBody>
      </p:sp>
      <p:sp>
        <p:nvSpPr>
          <p:cNvPr id="4" name="Shape 2"/>
          <p:cNvSpPr/>
          <p:nvPr/>
        </p:nvSpPr>
        <p:spPr>
          <a:xfrm>
            <a:off x="411480" y="987552"/>
            <a:ext cx="8321040" cy="658368"/>
          </a:xfrm>
          <a:prstGeom prst="roundRect">
            <a:avLst>
              <a:gd name="adj" fmla="val 11111"/>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5" name="Text 3"/>
          <p:cNvSpPr/>
          <p:nvPr/>
        </p:nvSpPr>
        <p:spPr>
          <a:xfrm>
            <a:off x="502920" y="1005840"/>
            <a:ext cx="8138160" cy="621792"/>
          </a:xfrm>
          <a:prstGeom prst="rect">
            <a:avLst/>
          </a:prstGeom>
          <a:noFill/>
          <a:ln/>
        </p:spPr>
        <p:txBody>
          <a:bodyPr wrap="square" lIns="25400" tIns="76200" rIns="76200" bIns="2540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General Objective:  </a:t>
            </a:r>
            <a:r>
              <a:rPr lang="en-US" sz="1300" dirty="0">
                <a:solidFill>
                  <a:srgbClr val="1A1A2E"/>
                </a:solidFill>
                <a:latin typeface="Calibri" pitchFamily="34" charset="0"/>
                <a:ea typeface="Calibri" pitchFamily="34" charset="-122"/>
                <a:cs typeface="Calibri" pitchFamily="34" charset="-120"/>
              </a:rPr>
              <a:t>To design, develop, and evaluate an Intelligent Route Optimisation Framework for emergency vehicle navigation by integrating predictive traffic modelling with adaptive graph search techniques.</a:t>
            </a:r>
            <a:endParaRPr lang="en-US" sz="1300" dirty="0"/>
          </a:p>
        </p:txBody>
      </p:sp>
      <p:sp>
        <p:nvSpPr>
          <p:cNvPr id="6" name="Shape 4"/>
          <p:cNvSpPr/>
          <p:nvPr/>
        </p:nvSpPr>
        <p:spPr>
          <a:xfrm>
            <a:off x="411480" y="1810512"/>
            <a:ext cx="8321040" cy="1024128"/>
          </a:xfrm>
          <a:prstGeom prst="roundRect">
            <a:avLst>
              <a:gd name="adj" fmla="val 7143"/>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7" name="Shape 5"/>
          <p:cNvSpPr/>
          <p:nvPr/>
        </p:nvSpPr>
        <p:spPr>
          <a:xfrm>
            <a:off x="502920" y="1975104"/>
            <a:ext cx="640080" cy="320040"/>
          </a:xfrm>
          <a:prstGeom prst="roundRect">
            <a:avLst>
              <a:gd name="adj" fmla="val 17143"/>
            </a:avLst>
          </a:prstGeom>
          <a:solidFill>
            <a:srgbClr val="0D9488"/>
          </a:solidFill>
          <a:ln/>
        </p:spPr>
        <p:txBody>
          <a:bodyPr/>
          <a:lstStyle/>
          <a:p>
            <a:endParaRPr lang="en-KE"/>
          </a:p>
        </p:txBody>
      </p:sp>
      <p:sp>
        <p:nvSpPr>
          <p:cNvPr id="8" name="Text 6"/>
          <p:cNvSpPr/>
          <p:nvPr/>
        </p:nvSpPr>
        <p:spPr>
          <a:xfrm>
            <a:off x="502920" y="1975104"/>
            <a:ext cx="640080" cy="3200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SO 1</a:t>
            </a:r>
            <a:endParaRPr lang="en-US" sz="1050" dirty="0"/>
          </a:p>
        </p:txBody>
      </p:sp>
      <p:sp>
        <p:nvSpPr>
          <p:cNvPr id="9" name="Text 7"/>
          <p:cNvSpPr/>
          <p:nvPr/>
        </p:nvSpPr>
        <p:spPr>
          <a:xfrm>
            <a:off x="1234440" y="1920240"/>
            <a:ext cx="7223760" cy="32004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Literature Review</a:t>
            </a:r>
            <a:endParaRPr lang="en-US" sz="1400" dirty="0"/>
          </a:p>
        </p:txBody>
      </p:sp>
      <p:sp>
        <p:nvSpPr>
          <p:cNvPr id="10" name="Text 8"/>
          <p:cNvSpPr/>
          <p:nvPr/>
        </p:nvSpPr>
        <p:spPr>
          <a:xfrm>
            <a:off x="1234440" y="2267712"/>
            <a:ext cx="7223760" cy="502920"/>
          </a:xfrm>
          <a:prstGeom prst="rect">
            <a:avLst/>
          </a:prstGeom>
          <a:noFill/>
          <a:ln/>
        </p:spPr>
        <p:txBody>
          <a:bodyPr wrap="square" lIns="0" tIns="0" rIns="0" bIns="0" rtlCol="0" anchor="t"/>
          <a:lstStyle/>
          <a:p>
            <a:pPr marL="0" indent="0">
              <a:buNone/>
            </a:pPr>
            <a:r>
              <a:rPr lang="en-US" sz="1250" dirty="0">
                <a:solidFill>
                  <a:srgbClr val="1A1A2E"/>
                </a:solidFill>
                <a:latin typeface="Calibri" pitchFamily="34" charset="0"/>
                <a:ea typeface="Calibri" pitchFamily="34" charset="-122"/>
                <a:cs typeface="Calibri" pitchFamily="34" charset="-120"/>
              </a:rPr>
              <a:t>Review existing literature on EV routing, ITS, and traffic prediction — producing a structured gap analysis informing the framework design.</a:t>
            </a:r>
            <a:endParaRPr lang="en-US" sz="1250" dirty="0"/>
          </a:p>
        </p:txBody>
      </p:sp>
      <p:sp>
        <p:nvSpPr>
          <p:cNvPr id="11" name="Shape 9"/>
          <p:cNvSpPr/>
          <p:nvPr/>
        </p:nvSpPr>
        <p:spPr>
          <a:xfrm>
            <a:off x="411480" y="2926080"/>
            <a:ext cx="8321040" cy="1024128"/>
          </a:xfrm>
          <a:prstGeom prst="roundRect">
            <a:avLst>
              <a:gd name="adj" fmla="val 7143"/>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2" name="Shape 10"/>
          <p:cNvSpPr/>
          <p:nvPr/>
        </p:nvSpPr>
        <p:spPr>
          <a:xfrm>
            <a:off x="502920" y="3090672"/>
            <a:ext cx="640080" cy="320040"/>
          </a:xfrm>
          <a:prstGeom prst="roundRect">
            <a:avLst>
              <a:gd name="adj" fmla="val 17143"/>
            </a:avLst>
          </a:prstGeom>
          <a:solidFill>
            <a:srgbClr val="1E2761"/>
          </a:solidFill>
          <a:ln/>
        </p:spPr>
        <p:txBody>
          <a:bodyPr/>
          <a:lstStyle/>
          <a:p>
            <a:endParaRPr lang="en-KE"/>
          </a:p>
        </p:txBody>
      </p:sp>
      <p:sp>
        <p:nvSpPr>
          <p:cNvPr id="13" name="Text 11"/>
          <p:cNvSpPr/>
          <p:nvPr/>
        </p:nvSpPr>
        <p:spPr>
          <a:xfrm>
            <a:off x="502920" y="3090672"/>
            <a:ext cx="640080" cy="3200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SO 2</a:t>
            </a:r>
            <a:endParaRPr lang="en-US" sz="1050" dirty="0"/>
          </a:p>
        </p:txBody>
      </p:sp>
      <p:sp>
        <p:nvSpPr>
          <p:cNvPr id="14" name="Text 12"/>
          <p:cNvSpPr/>
          <p:nvPr/>
        </p:nvSpPr>
        <p:spPr>
          <a:xfrm>
            <a:off x="1234440" y="3035808"/>
            <a:ext cx="7223760" cy="32004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Framework Development</a:t>
            </a:r>
            <a:endParaRPr lang="en-US" sz="1400" dirty="0"/>
          </a:p>
        </p:txBody>
      </p:sp>
      <p:sp>
        <p:nvSpPr>
          <p:cNvPr id="15" name="Text 13"/>
          <p:cNvSpPr/>
          <p:nvPr/>
        </p:nvSpPr>
        <p:spPr>
          <a:xfrm>
            <a:off x="1234440" y="3383280"/>
            <a:ext cx="7223760" cy="502920"/>
          </a:xfrm>
          <a:prstGeom prst="rect">
            <a:avLst/>
          </a:prstGeom>
          <a:noFill/>
          <a:ln/>
        </p:spPr>
        <p:txBody>
          <a:bodyPr wrap="square" lIns="0" tIns="0" rIns="0" bIns="0" rtlCol="0" anchor="t"/>
          <a:lstStyle/>
          <a:p>
            <a:pPr marL="0" indent="0">
              <a:buNone/>
            </a:pPr>
            <a:r>
              <a:rPr lang="en-US" sz="1250" dirty="0">
                <a:solidFill>
                  <a:srgbClr val="1A1A2E"/>
                </a:solidFill>
                <a:latin typeface="Calibri" pitchFamily="34" charset="0"/>
                <a:ea typeface="Calibri" pitchFamily="34" charset="-122"/>
                <a:cs typeface="Calibri" pitchFamily="34" charset="-120"/>
              </a:rPr>
              <a:t>Develop an integrated Route Recommendation System combining GRU-based traffic prediction, TD-A* routing, and a threshold-based replanning controller.</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94360"/>
          </a:xfrm>
          <a:prstGeom prst="rect">
            <a:avLst/>
          </a:prstGeom>
          <a:noFill/>
          <a:ln/>
        </p:spPr>
        <p:txBody>
          <a:bodyPr wrap="square" lIns="0" tIns="0" rIns="0" bIns="0" rtlCol="0" anchor="ctr"/>
          <a:lstStyle/>
          <a:p>
            <a:pPr marL="0" indent="0" algn="l">
              <a:buNone/>
            </a:pPr>
            <a:r>
              <a:rPr lang="en-US" sz="2600" b="1" dirty="0">
                <a:solidFill>
                  <a:srgbClr val="1E2761"/>
                </a:solidFill>
                <a:latin typeface="Cambria" pitchFamily="34" charset="0"/>
                <a:ea typeface="Cambria" pitchFamily="34" charset="-122"/>
                <a:cs typeface="Cambria" pitchFamily="34" charset="-120"/>
              </a:rPr>
              <a:t>Significance of Study &amp; Research Questions</a:t>
            </a:r>
            <a:endParaRPr lang="en-US" sz="2600" dirty="0"/>
          </a:p>
        </p:txBody>
      </p:sp>
      <p:sp>
        <p:nvSpPr>
          <p:cNvPr id="3" name="Shape 1"/>
          <p:cNvSpPr/>
          <p:nvPr/>
        </p:nvSpPr>
        <p:spPr>
          <a:xfrm>
            <a:off x="411480" y="868680"/>
            <a:ext cx="8321040" cy="36576"/>
          </a:xfrm>
          <a:prstGeom prst="rect">
            <a:avLst/>
          </a:prstGeom>
          <a:solidFill>
            <a:srgbClr val="CADCFC"/>
          </a:solidFill>
          <a:ln/>
        </p:spPr>
        <p:txBody>
          <a:bodyPr/>
          <a:lstStyle/>
          <a:p>
            <a:endParaRPr lang="en-KE"/>
          </a:p>
        </p:txBody>
      </p:sp>
      <p:sp>
        <p:nvSpPr>
          <p:cNvPr id="4" name="Text 2"/>
          <p:cNvSpPr/>
          <p:nvPr/>
        </p:nvSpPr>
        <p:spPr>
          <a:xfrm>
            <a:off x="411480" y="987552"/>
            <a:ext cx="4023360" cy="347472"/>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Why This Study Matters</a:t>
            </a:r>
            <a:endParaRPr lang="en-US" sz="1500" dirty="0"/>
          </a:p>
        </p:txBody>
      </p:sp>
      <p:sp>
        <p:nvSpPr>
          <p:cNvPr id="5" name="Text 3"/>
          <p:cNvSpPr/>
          <p:nvPr/>
        </p:nvSpPr>
        <p:spPr>
          <a:xfrm>
            <a:off x="411480" y="1389888"/>
            <a:ext cx="4160520" cy="3017520"/>
          </a:xfrm>
          <a:prstGeom prst="rect">
            <a:avLst/>
          </a:prstGeom>
          <a:noFill/>
          <a:ln/>
        </p:spPr>
        <p:txBody>
          <a:bodyPr wrap="square" lIns="50800" tIns="76200" rIns="76200" bIns="50800" rtlCol="0" anchor="t"/>
          <a:lstStyle/>
          <a:p>
            <a:pPr marL="342900" indent="-342900">
              <a:spcAft>
                <a:spcPts val="400"/>
              </a:spcAft>
              <a:buSzPct val="100000"/>
              <a:buChar char="•"/>
            </a:pPr>
            <a:r>
              <a:rPr lang="en-US" sz="1300" dirty="0">
                <a:solidFill>
                  <a:srgbClr val="1A1A2E"/>
                </a:solidFill>
                <a:latin typeface="Calibri" pitchFamily="34" charset="0"/>
                <a:ea typeface="Calibri" pitchFamily="34" charset="-122"/>
                <a:cs typeface="Calibri" pitchFamily="34" charset="-120"/>
              </a:rPr>
              <a:t>Advances ITS by integrating ML prediction with time-dependent routing — an area lacking integrated solutions.</a:t>
            </a:r>
            <a:endParaRPr lang="en-US" sz="1300" dirty="0"/>
          </a:p>
          <a:p>
            <a:pPr marL="342900" indent="-342900">
              <a:spcAft>
                <a:spcPts val="400"/>
              </a:spcAft>
              <a:buSzPct val="100000"/>
              <a:buChar char="•"/>
            </a:pPr>
            <a:r>
              <a:rPr lang="en-US" sz="1300" dirty="0">
                <a:solidFill>
                  <a:srgbClr val="1A1A2E"/>
                </a:solidFill>
                <a:latin typeface="Calibri" pitchFamily="34" charset="0"/>
                <a:ea typeface="Calibri" pitchFamily="34" charset="-122"/>
                <a:cs typeface="Calibri" pitchFamily="34" charset="-120"/>
              </a:rPr>
              <a:t>Directly benefits ambulance, fire, and police dispatch in cities like Nairobi with congested corridors.</a:t>
            </a:r>
            <a:endParaRPr lang="en-US" sz="1300" dirty="0"/>
          </a:p>
          <a:p>
            <a:pPr marL="342900" indent="-342900">
              <a:spcAft>
                <a:spcPts val="400"/>
              </a:spcAft>
              <a:buSzPct val="100000"/>
              <a:buChar char="•"/>
            </a:pPr>
            <a:r>
              <a:rPr lang="en-US" sz="1300" dirty="0">
                <a:solidFill>
                  <a:srgbClr val="1A1A2E"/>
                </a:solidFill>
                <a:latin typeface="Calibri" pitchFamily="34" charset="0"/>
                <a:ea typeface="Calibri" pitchFamily="34" charset="-122"/>
                <a:cs typeface="Calibri" pitchFamily="34" charset="-120"/>
              </a:rPr>
              <a:t>Provides a computationally feasible decision-support tool scalable to resource-constrained dispatch centres.</a:t>
            </a:r>
            <a:endParaRPr lang="en-US" sz="1300" dirty="0"/>
          </a:p>
        </p:txBody>
      </p:sp>
      <p:sp>
        <p:nvSpPr>
          <p:cNvPr id="6" name="Shape 4"/>
          <p:cNvSpPr/>
          <p:nvPr/>
        </p:nvSpPr>
        <p:spPr>
          <a:xfrm>
            <a:off x="4681728" y="987552"/>
            <a:ext cx="36576" cy="3474720"/>
          </a:xfrm>
          <a:prstGeom prst="rect">
            <a:avLst/>
          </a:prstGeom>
          <a:solidFill>
            <a:srgbClr val="CADCFC"/>
          </a:solidFill>
          <a:ln/>
        </p:spPr>
        <p:txBody>
          <a:bodyPr/>
          <a:lstStyle/>
          <a:p>
            <a:endParaRPr lang="en-KE"/>
          </a:p>
        </p:txBody>
      </p:sp>
      <p:sp>
        <p:nvSpPr>
          <p:cNvPr id="7" name="Text 5"/>
          <p:cNvSpPr/>
          <p:nvPr/>
        </p:nvSpPr>
        <p:spPr>
          <a:xfrm>
            <a:off x="4846320" y="987552"/>
            <a:ext cx="3886200" cy="347472"/>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Research Questions</a:t>
            </a:r>
            <a:endParaRPr lang="en-US" sz="1500" dirty="0"/>
          </a:p>
        </p:txBody>
      </p:sp>
      <p:sp>
        <p:nvSpPr>
          <p:cNvPr id="8" name="Shape 6"/>
          <p:cNvSpPr/>
          <p:nvPr/>
        </p:nvSpPr>
        <p:spPr>
          <a:xfrm>
            <a:off x="4846320" y="1417320"/>
            <a:ext cx="3886200" cy="1353312"/>
          </a:xfrm>
          <a:prstGeom prst="roundRect">
            <a:avLst>
              <a:gd name="adj" fmla="val 5405"/>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9" name="Text 7"/>
          <p:cNvSpPr/>
          <p:nvPr/>
        </p:nvSpPr>
        <p:spPr>
          <a:xfrm>
            <a:off x="4919472" y="1508760"/>
            <a:ext cx="822960" cy="32004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RQ 1</a:t>
            </a:r>
            <a:endParaRPr lang="en-US" sz="1100" dirty="0"/>
          </a:p>
        </p:txBody>
      </p:sp>
      <p:sp>
        <p:nvSpPr>
          <p:cNvPr id="10" name="Text 8"/>
          <p:cNvSpPr/>
          <p:nvPr/>
        </p:nvSpPr>
        <p:spPr>
          <a:xfrm>
            <a:off x="4919472" y="1892808"/>
            <a:ext cx="3749040" cy="822960"/>
          </a:xfrm>
          <a:prstGeom prst="rect">
            <a:avLst/>
          </a:prstGeom>
          <a:noFill/>
          <a:ln/>
        </p:spPr>
        <p:txBody>
          <a:bodyPr wrap="square" lIns="0" tIns="50800" rIns="50800" bIns="0" rtlCol="0" anchor="t"/>
          <a:lstStyle/>
          <a:p>
            <a:pPr marL="0" indent="0">
              <a:buNone/>
            </a:pPr>
            <a:r>
              <a:rPr lang="en-US" sz="1200" dirty="0">
                <a:solidFill>
                  <a:srgbClr val="1A1A2E"/>
                </a:solidFill>
                <a:latin typeface="Calibri" pitchFamily="34" charset="0"/>
                <a:ea typeface="Calibri" pitchFamily="34" charset="-122"/>
                <a:cs typeface="Calibri" pitchFamily="34" charset="-120"/>
              </a:rPr>
              <a:t>What research gaps exist in the literature on EV routing, traffic prediction, and TDSP that justify an integrated predictive routing framework?</a:t>
            </a:r>
            <a:endParaRPr lang="en-US" sz="1200" dirty="0"/>
          </a:p>
        </p:txBody>
      </p:sp>
      <p:sp>
        <p:nvSpPr>
          <p:cNvPr id="11" name="Shape 9"/>
          <p:cNvSpPr/>
          <p:nvPr/>
        </p:nvSpPr>
        <p:spPr>
          <a:xfrm>
            <a:off x="4846320" y="2926080"/>
            <a:ext cx="3886200" cy="1353312"/>
          </a:xfrm>
          <a:prstGeom prst="roundRect">
            <a:avLst>
              <a:gd name="adj" fmla="val 5405"/>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2" name="Text 10"/>
          <p:cNvSpPr/>
          <p:nvPr/>
        </p:nvSpPr>
        <p:spPr>
          <a:xfrm>
            <a:off x="4919472" y="3017520"/>
            <a:ext cx="822960" cy="32004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RQ 2</a:t>
            </a:r>
            <a:endParaRPr lang="en-US" sz="1100" dirty="0"/>
          </a:p>
        </p:txBody>
      </p:sp>
      <p:sp>
        <p:nvSpPr>
          <p:cNvPr id="13" name="Text 11"/>
          <p:cNvSpPr/>
          <p:nvPr/>
        </p:nvSpPr>
        <p:spPr>
          <a:xfrm>
            <a:off x="4919472" y="3401568"/>
            <a:ext cx="3749040" cy="822960"/>
          </a:xfrm>
          <a:prstGeom prst="rect">
            <a:avLst/>
          </a:prstGeom>
          <a:noFill/>
          <a:ln/>
        </p:spPr>
        <p:txBody>
          <a:bodyPr wrap="square" lIns="0" tIns="50800" rIns="50800" bIns="0" rtlCol="0" anchor="t"/>
          <a:lstStyle/>
          <a:p>
            <a:pPr marL="0" indent="0">
              <a:buNone/>
            </a:pPr>
            <a:r>
              <a:rPr lang="en-US" sz="1200" dirty="0">
                <a:solidFill>
                  <a:srgbClr val="1A1A2E"/>
                </a:solidFill>
                <a:latin typeface="Calibri" pitchFamily="34" charset="0"/>
                <a:ea typeface="Calibri" pitchFamily="34" charset="-122"/>
                <a:cs typeface="Calibri" pitchFamily="34" charset="-120"/>
              </a:rPr>
              <a:t>What design decisions and components were required to develop an integrated Route Recommendation System using GRU, TD-A*, and a replanning controller?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94360"/>
          </a:xfrm>
          <a:prstGeom prst="rect">
            <a:avLst/>
          </a:prstGeom>
          <a:noFill/>
          <a:ln/>
        </p:spPr>
        <p:txBody>
          <a:bodyPr wrap="square" lIns="0" tIns="0" rIns="0" bIns="0" rtlCol="0" anchor="ctr"/>
          <a:lstStyle/>
          <a:p>
            <a:pPr marL="0" indent="0" algn="l">
              <a:buNone/>
            </a:pPr>
            <a:r>
              <a:rPr lang="en-US" sz="2600" b="1" dirty="0">
                <a:solidFill>
                  <a:srgbClr val="1E2761"/>
                </a:solidFill>
                <a:latin typeface="Cambria" pitchFamily="34" charset="0"/>
                <a:ea typeface="Cambria" pitchFamily="34" charset="-122"/>
                <a:cs typeface="Cambria" pitchFamily="34" charset="-120"/>
              </a:rPr>
              <a:t>Theoretical Framework</a:t>
            </a:r>
            <a:endParaRPr lang="en-US" sz="2600" dirty="0"/>
          </a:p>
        </p:txBody>
      </p:sp>
      <p:sp>
        <p:nvSpPr>
          <p:cNvPr id="3" name="Shape 1"/>
          <p:cNvSpPr/>
          <p:nvPr/>
        </p:nvSpPr>
        <p:spPr>
          <a:xfrm>
            <a:off x="411480" y="868680"/>
            <a:ext cx="8321040" cy="36576"/>
          </a:xfrm>
          <a:prstGeom prst="rect">
            <a:avLst/>
          </a:prstGeom>
          <a:solidFill>
            <a:srgbClr val="CADCFC"/>
          </a:solidFill>
          <a:ln/>
        </p:spPr>
        <p:txBody>
          <a:bodyPr/>
          <a:lstStyle/>
          <a:p>
            <a:endParaRPr lang="en-KE"/>
          </a:p>
        </p:txBody>
      </p:sp>
      <p:sp>
        <p:nvSpPr>
          <p:cNvPr id="4" name="Shape 2"/>
          <p:cNvSpPr/>
          <p:nvPr/>
        </p:nvSpPr>
        <p:spPr>
          <a:xfrm>
            <a:off x="411480" y="987552"/>
            <a:ext cx="2743200" cy="3794760"/>
          </a:xfrm>
          <a:prstGeom prst="roundRect">
            <a:avLst>
              <a:gd name="adj" fmla="val 2667"/>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5" name="Shape 3"/>
          <p:cNvSpPr/>
          <p:nvPr/>
        </p:nvSpPr>
        <p:spPr>
          <a:xfrm>
            <a:off x="548640" y="1078992"/>
            <a:ext cx="1280160" cy="292608"/>
          </a:xfrm>
          <a:prstGeom prst="roundRect">
            <a:avLst>
              <a:gd name="adj" fmla="val 50000"/>
            </a:avLst>
          </a:prstGeom>
          <a:solidFill>
            <a:srgbClr val="CADCFC"/>
          </a:solidFill>
          <a:ln/>
        </p:spPr>
        <p:txBody>
          <a:bodyPr/>
          <a:lstStyle/>
          <a:p>
            <a:endParaRPr lang="en-KE"/>
          </a:p>
        </p:txBody>
      </p:sp>
      <p:sp>
        <p:nvSpPr>
          <p:cNvPr id="6" name="Text 4"/>
          <p:cNvSpPr/>
          <p:nvPr/>
        </p:nvSpPr>
        <p:spPr>
          <a:xfrm>
            <a:off x="548640" y="1078992"/>
            <a:ext cx="1280160" cy="292608"/>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PRIMARY</a:t>
            </a:r>
            <a:endParaRPr lang="en-US" sz="1100" dirty="0"/>
          </a:p>
        </p:txBody>
      </p:sp>
      <p:sp>
        <p:nvSpPr>
          <p:cNvPr id="7" name="Text 5"/>
          <p:cNvSpPr/>
          <p:nvPr/>
        </p:nvSpPr>
        <p:spPr>
          <a:xfrm>
            <a:off x="521208" y="1444752"/>
            <a:ext cx="2523744" cy="658368"/>
          </a:xfrm>
          <a:prstGeom prst="rect">
            <a:avLst/>
          </a:prstGeom>
          <a:noFill/>
          <a:ln/>
        </p:spPr>
        <p:txBody>
          <a:bodyPr wrap="square" lIns="0" tIns="50800" rIns="50800" bIns="0" rtlCol="0" anchor="t"/>
          <a:lstStyle/>
          <a:p>
            <a:pPr marL="0" indent="0">
              <a:buNone/>
            </a:pPr>
            <a:r>
              <a:rPr lang="en-US" sz="1300" b="1" dirty="0">
                <a:solidFill>
                  <a:srgbClr val="1E2761"/>
                </a:solidFill>
                <a:latin typeface="Cambria" pitchFamily="34" charset="0"/>
                <a:ea typeface="Cambria" pitchFamily="34" charset="-122"/>
                <a:cs typeface="Cambria" pitchFamily="34" charset="-120"/>
              </a:rPr>
              <a:t>Time-Dependent Shortest Path (TDSP) Theory</a:t>
            </a:r>
            <a:endParaRPr lang="en-US" sz="1300" dirty="0"/>
          </a:p>
        </p:txBody>
      </p:sp>
      <p:sp>
        <p:nvSpPr>
          <p:cNvPr id="8" name="Text 6"/>
          <p:cNvSpPr/>
          <p:nvPr/>
        </p:nvSpPr>
        <p:spPr>
          <a:xfrm>
            <a:off x="521208" y="2176272"/>
            <a:ext cx="2523744" cy="1508760"/>
          </a:xfrm>
          <a:prstGeom prst="rect">
            <a:avLst/>
          </a:prstGeom>
          <a:noFill/>
          <a:ln/>
        </p:spPr>
        <p:txBody>
          <a:bodyPr wrap="square" lIns="0" tIns="50800" rIns="50800" bIns="0" rtlCol="0" anchor="t"/>
          <a:lstStyle/>
          <a:p>
            <a:pPr marL="0" indent="0">
              <a:buNone/>
            </a:pPr>
            <a:r>
              <a:rPr lang="en-US" sz="1200" dirty="0">
                <a:solidFill>
                  <a:srgbClr val="1A1A2E"/>
                </a:solidFill>
                <a:latin typeface="Calibri" pitchFamily="34" charset="0"/>
                <a:ea typeface="Calibri" pitchFamily="34" charset="-122"/>
                <a:cs typeface="Calibri" pitchFamily="34" charset="-120"/>
              </a:rPr>
              <a:t>Provides the mathematical foundation for routing where edge costs vary with departure time. Ensures optimal path computation as traffic evolves during the journey.</a:t>
            </a:r>
            <a:endParaRPr lang="en-US" sz="1200" dirty="0"/>
          </a:p>
        </p:txBody>
      </p:sp>
      <p:sp>
        <p:nvSpPr>
          <p:cNvPr id="10" name="Shape 8"/>
          <p:cNvSpPr/>
          <p:nvPr/>
        </p:nvSpPr>
        <p:spPr>
          <a:xfrm>
            <a:off x="3355848" y="987552"/>
            <a:ext cx="2743200" cy="3794760"/>
          </a:xfrm>
          <a:prstGeom prst="roundRect">
            <a:avLst>
              <a:gd name="adj" fmla="val 2667"/>
            </a:avLst>
          </a:prstGeom>
          <a:solidFill>
            <a:srgbClr val="EFFAF8"/>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1" name="Shape 9"/>
          <p:cNvSpPr/>
          <p:nvPr/>
        </p:nvSpPr>
        <p:spPr>
          <a:xfrm>
            <a:off x="3493008" y="1078992"/>
            <a:ext cx="1280160" cy="292608"/>
          </a:xfrm>
          <a:prstGeom prst="roundRect">
            <a:avLst>
              <a:gd name="adj" fmla="val 50000"/>
            </a:avLst>
          </a:prstGeom>
          <a:solidFill>
            <a:srgbClr val="C2EDE7"/>
          </a:solidFill>
          <a:ln/>
        </p:spPr>
        <p:txBody>
          <a:bodyPr/>
          <a:lstStyle/>
          <a:p>
            <a:endParaRPr lang="en-KE"/>
          </a:p>
        </p:txBody>
      </p:sp>
      <p:sp>
        <p:nvSpPr>
          <p:cNvPr id="12" name="Text 10"/>
          <p:cNvSpPr/>
          <p:nvPr/>
        </p:nvSpPr>
        <p:spPr>
          <a:xfrm>
            <a:off x="3493008" y="1078992"/>
            <a:ext cx="1280160" cy="292608"/>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COMPLEMENTARY</a:t>
            </a:r>
            <a:endParaRPr lang="en-US" sz="1100" dirty="0"/>
          </a:p>
        </p:txBody>
      </p:sp>
      <p:sp>
        <p:nvSpPr>
          <p:cNvPr id="13" name="Text 11"/>
          <p:cNvSpPr/>
          <p:nvPr/>
        </p:nvSpPr>
        <p:spPr>
          <a:xfrm>
            <a:off x="3465576" y="1444752"/>
            <a:ext cx="2523744" cy="658368"/>
          </a:xfrm>
          <a:prstGeom prst="rect">
            <a:avLst/>
          </a:prstGeom>
          <a:noFill/>
          <a:ln/>
        </p:spPr>
        <p:txBody>
          <a:bodyPr wrap="square" lIns="0" tIns="50800" rIns="50800" bIns="0" rtlCol="0" anchor="t"/>
          <a:lstStyle/>
          <a:p>
            <a:pPr marL="0" indent="0">
              <a:buNone/>
            </a:pPr>
            <a:r>
              <a:rPr lang="en-US" sz="1300" b="1" dirty="0">
                <a:solidFill>
                  <a:srgbClr val="0D9488"/>
                </a:solidFill>
                <a:latin typeface="Cambria" pitchFamily="34" charset="0"/>
                <a:ea typeface="Cambria" pitchFamily="34" charset="-122"/>
                <a:cs typeface="Cambria" pitchFamily="34" charset="-120"/>
              </a:rPr>
              <a:t>GRU Architecture for Sequence Modelling</a:t>
            </a:r>
            <a:endParaRPr lang="en-US" sz="1300" dirty="0"/>
          </a:p>
        </p:txBody>
      </p:sp>
      <p:sp>
        <p:nvSpPr>
          <p:cNvPr id="14" name="Text 12"/>
          <p:cNvSpPr/>
          <p:nvPr/>
        </p:nvSpPr>
        <p:spPr>
          <a:xfrm>
            <a:off x="3465576" y="2176272"/>
            <a:ext cx="2523744" cy="1508760"/>
          </a:xfrm>
          <a:prstGeom prst="rect">
            <a:avLst/>
          </a:prstGeom>
          <a:noFill/>
          <a:ln/>
        </p:spPr>
        <p:txBody>
          <a:bodyPr wrap="square" lIns="0" tIns="50800" rIns="50800" bIns="0" rtlCol="0" anchor="t"/>
          <a:lstStyle/>
          <a:p>
            <a:pPr marL="0" indent="0">
              <a:buNone/>
            </a:pPr>
            <a:r>
              <a:rPr lang="en-US" sz="1200" dirty="0">
                <a:solidFill>
                  <a:srgbClr val="1A1A2E"/>
                </a:solidFill>
                <a:latin typeface="Calibri" pitchFamily="34" charset="0"/>
                <a:ea typeface="Calibri" pitchFamily="34" charset="-122"/>
                <a:cs typeface="Calibri" pitchFamily="34" charset="-120"/>
              </a:rPr>
              <a:t>Gating mechanisms capture temporal dependencies in traffic time series. Achieves comparable accuracy to LSTM with 25–35% fewer parameters — critical for sub-second response times.</a:t>
            </a:r>
            <a:endParaRPr lang="en-US" sz="1200" dirty="0"/>
          </a:p>
        </p:txBody>
      </p:sp>
      <p:sp>
        <p:nvSpPr>
          <p:cNvPr id="16" name="Shape 14"/>
          <p:cNvSpPr/>
          <p:nvPr/>
        </p:nvSpPr>
        <p:spPr>
          <a:xfrm>
            <a:off x="6300216" y="987552"/>
            <a:ext cx="2743200" cy="3794760"/>
          </a:xfrm>
          <a:prstGeom prst="roundRect">
            <a:avLst>
              <a:gd name="adj" fmla="val 2667"/>
            </a:avLst>
          </a:prstGeom>
          <a:solidFill>
            <a:srgbClr val="FDF8E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7" name="Shape 15"/>
          <p:cNvSpPr/>
          <p:nvPr/>
        </p:nvSpPr>
        <p:spPr>
          <a:xfrm>
            <a:off x="6437376" y="1078992"/>
            <a:ext cx="1280160" cy="292608"/>
          </a:xfrm>
          <a:prstGeom prst="roundRect">
            <a:avLst>
              <a:gd name="adj" fmla="val 50000"/>
            </a:avLst>
          </a:prstGeom>
          <a:solidFill>
            <a:srgbClr val="FDEAB0"/>
          </a:solidFill>
          <a:ln/>
        </p:spPr>
        <p:txBody>
          <a:bodyPr/>
          <a:lstStyle/>
          <a:p>
            <a:endParaRPr lang="en-KE"/>
          </a:p>
        </p:txBody>
      </p:sp>
      <p:sp>
        <p:nvSpPr>
          <p:cNvPr id="18" name="Text 16"/>
          <p:cNvSpPr/>
          <p:nvPr/>
        </p:nvSpPr>
        <p:spPr>
          <a:xfrm>
            <a:off x="6437376" y="1078992"/>
            <a:ext cx="1280160" cy="292608"/>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COMPLEMENTARY</a:t>
            </a:r>
            <a:endParaRPr lang="en-US" sz="1100" dirty="0"/>
          </a:p>
        </p:txBody>
      </p:sp>
      <p:sp>
        <p:nvSpPr>
          <p:cNvPr id="19" name="Text 17"/>
          <p:cNvSpPr/>
          <p:nvPr/>
        </p:nvSpPr>
        <p:spPr>
          <a:xfrm>
            <a:off x="6409944" y="1444752"/>
            <a:ext cx="2523744" cy="658368"/>
          </a:xfrm>
          <a:prstGeom prst="rect">
            <a:avLst/>
          </a:prstGeom>
          <a:noFill/>
          <a:ln/>
        </p:spPr>
        <p:txBody>
          <a:bodyPr wrap="square" lIns="0" tIns="50800" rIns="50800" bIns="0" rtlCol="0" anchor="t"/>
          <a:lstStyle/>
          <a:p>
            <a:pPr marL="0" indent="0">
              <a:buNone/>
            </a:pPr>
            <a:r>
              <a:rPr lang="en-US" sz="1300" b="1" dirty="0">
                <a:solidFill>
                  <a:srgbClr val="E8A838"/>
                </a:solidFill>
                <a:latin typeface="Cambria" pitchFamily="34" charset="0"/>
                <a:ea typeface="Cambria" pitchFamily="34" charset="-122"/>
                <a:cs typeface="Cambria" pitchFamily="34" charset="-120"/>
              </a:rPr>
              <a:t>Decision Support Systems (DSS) Theory</a:t>
            </a:r>
            <a:endParaRPr lang="en-US" sz="1300" dirty="0"/>
          </a:p>
        </p:txBody>
      </p:sp>
      <p:sp>
        <p:nvSpPr>
          <p:cNvPr id="20" name="Text 18"/>
          <p:cNvSpPr/>
          <p:nvPr/>
        </p:nvSpPr>
        <p:spPr>
          <a:xfrm>
            <a:off x="6409944" y="2176272"/>
            <a:ext cx="2523744" cy="1508760"/>
          </a:xfrm>
          <a:prstGeom prst="rect">
            <a:avLst/>
          </a:prstGeom>
          <a:noFill/>
          <a:ln/>
        </p:spPr>
        <p:txBody>
          <a:bodyPr wrap="square" lIns="0" tIns="50800" rIns="50800" bIns="0" rtlCol="0" anchor="t"/>
          <a:lstStyle/>
          <a:p>
            <a:pPr marL="0" indent="0">
              <a:buNone/>
            </a:pPr>
            <a:r>
              <a:rPr lang="en-US" sz="1200" dirty="0">
                <a:solidFill>
                  <a:srgbClr val="1A1A2E"/>
                </a:solidFill>
                <a:latin typeface="Calibri" pitchFamily="34" charset="0"/>
                <a:ea typeface="Calibri" pitchFamily="34" charset="-122"/>
                <a:cs typeface="Calibri" pitchFamily="34" charset="-120"/>
              </a:rPr>
              <a:t>Grounds the framework as a human-centred tool: recommendations go to the dispatcher, who retains final authority. Calibrates update frequency to avoid alert fatigue.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03A3D931-D62D-8860-274F-01242BDC061C}"/>
              </a:ext>
            </a:extLst>
          </p:cNvPr>
          <p:cNvSpPr/>
          <p:nvPr/>
        </p:nvSpPr>
        <p:spPr>
          <a:xfrm>
            <a:off x="411480" y="201168"/>
            <a:ext cx="8321040" cy="566928"/>
          </a:xfrm>
          <a:prstGeom prst="rect">
            <a:avLst/>
          </a:prstGeom>
          <a:noFill/>
          <a:ln/>
        </p:spPr>
        <p:txBody>
          <a:bodyPr wrap="square" lIns="0" tIns="0" rIns="0" bIns="0" rtlCol="0" anchor="ctr"/>
          <a:lstStyle/>
          <a:p>
            <a:pPr marL="0" indent="0" algn="l">
              <a:buNone/>
            </a:pPr>
            <a:r>
              <a:rPr lang="en-US" sz="2500" b="1" dirty="0">
                <a:solidFill>
                  <a:srgbClr val="1E2761"/>
                </a:solidFill>
                <a:latin typeface="Cambria" pitchFamily="34" charset="0"/>
                <a:ea typeface="Cambria" pitchFamily="34" charset="-122"/>
                <a:cs typeface="Cambria" pitchFamily="34" charset="-120"/>
              </a:rPr>
              <a:t>Empirical Review I — Prediction &amp; Routing Integration</a:t>
            </a:r>
            <a:endParaRPr lang="en-US" sz="2500" dirty="0"/>
          </a:p>
        </p:txBody>
      </p:sp>
      <p:sp>
        <p:nvSpPr>
          <p:cNvPr id="7" name="Shape 1">
            <a:extLst>
              <a:ext uri="{FF2B5EF4-FFF2-40B4-BE49-F238E27FC236}">
                <a16:creationId xmlns:a16="http://schemas.microsoft.com/office/drawing/2014/main" id="{8F7642B8-EF2B-ED0F-AF58-1866415452D1}"/>
              </a:ext>
            </a:extLst>
          </p:cNvPr>
          <p:cNvSpPr/>
          <p:nvPr/>
        </p:nvSpPr>
        <p:spPr>
          <a:xfrm>
            <a:off x="411480" y="841248"/>
            <a:ext cx="8321040" cy="32004"/>
          </a:xfrm>
          <a:prstGeom prst="rect">
            <a:avLst/>
          </a:prstGeom>
          <a:solidFill>
            <a:srgbClr val="CADCFC"/>
          </a:solidFill>
          <a:ln/>
        </p:spPr>
        <p:txBody>
          <a:bodyPr/>
          <a:lstStyle/>
          <a:p>
            <a:endParaRPr lang="en-KE"/>
          </a:p>
        </p:txBody>
      </p:sp>
      <p:graphicFrame>
        <p:nvGraphicFramePr>
          <p:cNvPr id="10" name="Table 0">
            <a:extLst>
              <a:ext uri="{FF2B5EF4-FFF2-40B4-BE49-F238E27FC236}">
                <a16:creationId xmlns:a16="http://schemas.microsoft.com/office/drawing/2014/main" id="{CE704C90-A907-A8D6-171B-1488677CED19}"/>
              </a:ext>
            </a:extLst>
          </p:cNvPr>
          <p:cNvGraphicFramePr>
            <a:graphicFrameLocks noGrp="1"/>
          </p:cNvGraphicFramePr>
          <p:nvPr>
            <p:extLst>
              <p:ext uri="{D42A27DB-BD31-4B8C-83A1-F6EECF244321}">
                <p14:modId xmlns:p14="http://schemas.microsoft.com/office/powerpoint/2010/main" val="1854595708"/>
              </p:ext>
            </p:extLst>
          </p:nvPr>
        </p:nvGraphicFramePr>
        <p:xfrm>
          <a:off x="256032" y="960120"/>
          <a:ext cx="8631936" cy="3401568"/>
        </p:xfrm>
        <a:graphic>
          <a:graphicData uri="http://schemas.openxmlformats.org/drawingml/2006/table">
            <a:tbl>
              <a:tblPr/>
              <a:tblGrid>
                <a:gridCol w="132588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gridCol w="1956816">
                  <a:extLst>
                    <a:ext uri="{9D8B030D-6E8A-4147-A177-3AD203B41FA5}">
                      <a16:colId xmlns:a16="http://schemas.microsoft.com/office/drawing/2014/main" val="20004"/>
                    </a:ext>
                  </a:extLst>
                </a:gridCol>
              </a:tblGrid>
              <a:tr h="56692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Author (Year)</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Focus</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Methods</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Key Findings</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Gap Identified</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66928">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Li et al. (2018)</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Benchmark traffic</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prediction dataset</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DCRNN — graph + RNN,</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METR-LA &amp; PEMS-BAY</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Established METR-LA/PEMS-BAY as</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standard benchmarks for 100+ studies</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No routing integration;</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high computational cost</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extLst>
                  <a:ext uri="{0D108BD9-81ED-4DB2-BD59-A6C34878D82A}">
                    <a16:rowId xmlns:a16="http://schemas.microsoft.com/office/drawing/2014/main" val="10001"/>
                  </a:ext>
                </a:extLst>
              </a:tr>
              <a:tr h="566928">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Jeong et al. (2021)</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GRU for highway</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speed prediction</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GRU neural network,</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METR-LA dataset</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GRU matches LSTM accuracy with</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25–35% fewer parameters</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Did not address</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EV routing integration</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Jaballah et al. (2021)</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TDSP integrated into</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routing computation</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Time-dependent vehicle</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routing formulation</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Direct TDSP computation</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outperformed static alternatives</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Not tailored to ML-based</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short-term prediction</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extLst>
                  <a:ext uri="{0D108BD9-81ED-4DB2-BD59-A6C34878D82A}">
                    <a16:rowId xmlns:a16="http://schemas.microsoft.com/office/drawing/2014/main" val="10003"/>
                  </a:ext>
                </a:extLst>
              </a:tr>
              <a:tr h="566928">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Werner et al. (2022)</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Predicted + live traffic</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in TD-A*</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Time-dependent A* with</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preprocessing speedups</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2-order speedup over Dijkstra</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on continental networks</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No ML module; incompatible</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with 5-min update cycles</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Qi et al. (2025)</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Review of prediction +</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path planning integration</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Systematic review,</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200+ papers, Sensors</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Identified disconnection between</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prediction and routing as open problem</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Confirms the gap</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this study addresses</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1611B6F-55EC-42FB-3123-E8806C489153}"/>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258B1A21-5218-EF4C-0D73-F05433A48CF3}"/>
              </a:ext>
            </a:extLst>
          </p:cNvPr>
          <p:cNvSpPr/>
          <p:nvPr/>
        </p:nvSpPr>
        <p:spPr>
          <a:xfrm>
            <a:off x="411480" y="201168"/>
            <a:ext cx="8321040" cy="566928"/>
          </a:xfrm>
          <a:prstGeom prst="rect">
            <a:avLst/>
          </a:prstGeom>
          <a:noFill/>
          <a:ln/>
        </p:spPr>
        <p:txBody>
          <a:bodyPr wrap="square" lIns="0" tIns="0" rIns="0" bIns="0" rtlCol="0" anchor="ctr"/>
          <a:lstStyle/>
          <a:p>
            <a:pPr marL="0" indent="0" algn="l">
              <a:buNone/>
            </a:pPr>
            <a:r>
              <a:rPr lang="en-US" sz="2500" b="1" dirty="0">
                <a:solidFill>
                  <a:srgbClr val="1E2761"/>
                </a:solidFill>
                <a:latin typeface="Cambria" pitchFamily="34" charset="0"/>
                <a:ea typeface="Cambria" pitchFamily="34" charset="-122"/>
                <a:cs typeface="Cambria" pitchFamily="34" charset="-120"/>
              </a:rPr>
              <a:t>Empirical Review II — Emergency Vehicle Routing &amp; African ITS Context</a:t>
            </a:r>
            <a:endParaRPr lang="en-US" sz="2500" dirty="0"/>
          </a:p>
        </p:txBody>
      </p:sp>
      <p:sp>
        <p:nvSpPr>
          <p:cNvPr id="6" name="Shape 1">
            <a:extLst>
              <a:ext uri="{FF2B5EF4-FFF2-40B4-BE49-F238E27FC236}">
                <a16:creationId xmlns:a16="http://schemas.microsoft.com/office/drawing/2014/main" id="{EF8A2B64-C6BE-A0EB-17AE-5A4E24A4B3D6}"/>
              </a:ext>
            </a:extLst>
          </p:cNvPr>
          <p:cNvSpPr/>
          <p:nvPr/>
        </p:nvSpPr>
        <p:spPr>
          <a:xfrm>
            <a:off x="411480" y="841248"/>
            <a:ext cx="8321040" cy="32004"/>
          </a:xfrm>
          <a:prstGeom prst="rect">
            <a:avLst/>
          </a:prstGeom>
          <a:solidFill>
            <a:srgbClr val="CADCFC"/>
          </a:solidFill>
          <a:ln/>
        </p:spPr>
        <p:txBody>
          <a:bodyPr/>
          <a:lstStyle/>
          <a:p>
            <a:endParaRPr lang="en-KE"/>
          </a:p>
        </p:txBody>
      </p:sp>
      <p:graphicFrame>
        <p:nvGraphicFramePr>
          <p:cNvPr id="9" name="Table 0">
            <a:extLst>
              <a:ext uri="{FF2B5EF4-FFF2-40B4-BE49-F238E27FC236}">
                <a16:creationId xmlns:a16="http://schemas.microsoft.com/office/drawing/2014/main" id="{6D6B3BB3-F7B0-E664-E79A-07B7EB9B6A84}"/>
              </a:ext>
            </a:extLst>
          </p:cNvPr>
          <p:cNvGraphicFramePr>
            <a:graphicFrameLocks noGrp="1"/>
          </p:cNvGraphicFramePr>
          <p:nvPr>
            <p:extLst>
              <p:ext uri="{D42A27DB-BD31-4B8C-83A1-F6EECF244321}">
                <p14:modId xmlns:p14="http://schemas.microsoft.com/office/powerpoint/2010/main" val="2942364653"/>
              </p:ext>
            </p:extLst>
          </p:nvPr>
        </p:nvGraphicFramePr>
        <p:xfrm>
          <a:off x="256032" y="960120"/>
          <a:ext cx="8631936" cy="3483864"/>
        </p:xfrm>
        <a:graphic>
          <a:graphicData uri="http://schemas.openxmlformats.org/drawingml/2006/table">
            <a:tbl>
              <a:tblPr/>
              <a:tblGrid>
                <a:gridCol w="132588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gridCol w="1956816">
                  <a:extLst>
                    <a:ext uri="{9D8B030D-6E8A-4147-A177-3AD203B41FA5}">
                      <a16:colId xmlns:a16="http://schemas.microsoft.com/office/drawing/2014/main" val="20004"/>
                    </a:ext>
                  </a:extLst>
                </a:gridCol>
              </a:tblGrid>
              <a:tr h="489204">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Author (Year)</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Focus</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Methods</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Key Findings</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Gap Identified</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89204">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Abuaisha et al. (2025)</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Dynamic replanning</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for public transport</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Predictive rerouting,</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constraint programming</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12–18% improvement in</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on-time performance</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Fixed-route transit only;</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not unconstrained EV routing</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extLst>
                  <a:ext uri="{0D108BD9-81ED-4DB2-BD59-A6C34878D82A}">
                    <a16:rowId xmlns:a16="http://schemas.microsoft.com/office/drawing/2014/main" val="10001"/>
                  </a:ext>
                </a:extLst>
              </a:tr>
              <a:tr h="489204">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Sasikala et al. (2025)</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Emergency traffic</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prioritisation</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IoT-enabled dynamic</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signal control + A*</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Improved priority-based</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route optimisation</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Signal control focus; limited</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predictive route logic</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89204">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Hugar et al. (2025)</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Real-time adaptive</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traffic management</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Adaptive signal</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management for EVs</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Improved EV prioritisation</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at intersections</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No predictive routing;</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intersection-level only</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extLst>
                  <a:ext uri="{0D108BD9-81ED-4DB2-BD59-A6C34878D82A}">
                    <a16:rowId xmlns:a16="http://schemas.microsoft.com/office/drawing/2014/main" val="10003"/>
                  </a:ext>
                </a:extLst>
              </a:tr>
              <a:tr h="489204">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Zohir et al. (2025)</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Accident-aware traffic</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management review</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Comprehensive review,</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V2X-based optimisation</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Synthesised V2X route</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optimisation directions</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Limited integration with</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ML-based prediction</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89204">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Ajayi et al. (2021)</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ITS adoption</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landscape in Africa</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Systematic review,</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African ITS research</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Identified infrastructure &amp;</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adoption barriers in Africa</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Limited technical framework</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for mixed-traffic prediction</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5F7FF"/>
                    </a:solidFill>
                  </a:tcPr>
                </a:tc>
                <a:extLst>
                  <a:ext uri="{0D108BD9-81ED-4DB2-BD59-A6C34878D82A}">
                    <a16:rowId xmlns:a16="http://schemas.microsoft.com/office/drawing/2014/main" val="10005"/>
                  </a:ext>
                </a:extLst>
              </a:tr>
              <a:tr h="489204">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Reis et al. (2025)</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Tech-enabled emergency</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care access in Kenya</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Health-data + dispatch</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technology review, Kenya</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Reduced response times from</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160+ min to 13 min via dispatch tech</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No predictive ML-routing</a:t>
                      </a:r>
                      <a:endParaRPr lang="en-US" sz="1000" dirty="0">
                        <a:latin typeface="Calibri" charset="0"/>
                        <a:ea typeface="Calibri" charset="0"/>
                        <a:cs typeface="Calibri" charset="0"/>
                      </a:endParaRPr>
                    </a:p>
                    <a:p>
                      <a:pPr marL="0" indent="0" algn="l">
                        <a:buNone/>
                      </a:pPr>
                      <a:r>
                        <a:rPr lang="en-US" sz="1000" dirty="0">
                          <a:solidFill>
                            <a:srgbClr val="1A1A2E"/>
                          </a:solidFill>
                          <a:latin typeface="Calibri" pitchFamily="34" charset="0"/>
                          <a:ea typeface="Calibri" pitchFamily="34" charset="-122"/>
                          <a:cs typeface="Calibri" pitchFamily="34" charset="-120"/>
                        </a:rPr>
                        <a:t>component evaluated</a:t>
                      </a:r>
                      <a:endParaRPr lang="en-US" sz="1000" dirty="0">
                        <a:latin typeface="Calibri" charset="0"/>
                        <a:ea typeface="Calibri" charset="0"/>
                        <a:cs typeface="Calibri" charset="0"/>
                      </a:endParaRPr>
                    </a:p>
                  </a:txBody>
                  <a:tcPr anchor="ctr">
                    <a:lnL w="6350" cap="flat" cmpd="sng" algn="ctr">
                      <a:solidFill>
                        <a:srgbClr val="D0D8F0"/>
                      </a:solidFill>
                      <a:prstDash val="solid"/>
                      <a:round/>
                      <a:headEnd type="none" w="med" len="med"/>
                      <a:tailEnd type="none" w="med" len="med"/>
                    </a:lnL>
                    <a:lnR w="6350" cap="flat" cmpd="sng" algn="ctr">
                      <a:solidFill>
                        <a:srgbClr val="D0D8F0"/>
                      </a:solidFill>
                      <a:prstDash val="solid"/>
                      <a:round/>
                      <a:headEnd type="none" w="med" len="med"/>
                      <a:tailEnd type="none" w="med" len="med"/>
                    </a:lnR>
                    <a:lnT w="6350" cap="flat" cmpd="sng" algn="ctr">
                      <a:solidFill>
                        <a:srgbClr val="D0D8F0"/>
                      </a:solidFill>
                      <a:prstDash val="solid"/>
                      <a:round/>
                      <a:headEnd type="none" w="med" len="med"/>
                      <a:tailEnd type="none" w="med" len="med"/>
                    </a:lnT>
                    <a:lnB w="6350" cap="flat" cmpd="sng" algn="ctr">
                      <a:solidFill>
                        <a:srgbClr val="D0D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38583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7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94360"/>
          </a:xfrm>
          <a:prstGeom prst="rect">
            <a:avLst/>
          </a:prstGeom>
          <a:noFill/>
          <a:ln/>
        </p:spPr>
        <p:txBody>
          <a:bodyPr wrap="square" lIns="0" tIns="0" rIns="0" bIns="0" rtlCol="0" anchor="ctr"/>
          <a:lstStyle/>
          <a:p>
            <a:pPr marL="0" indent="0" algn="l">
              <a:buNone/>
            </a:pPr>
            <a:r>
              <a:rPr lang="en-US" sz="2600" b="1" dirty="0">
                <a:solidFill>
                  <a:srgbClr val="1E2761"/>
                </a:solidFill>
                <a:latin typeface="Cambria" pitchFamily="34" charset="0"/>
                <a:ea typeface="Cambria" pitchFamily="34" charset="-122"/>
                <a:cs typeface="Cambria" pitchFamily="34" charset="-120"/>
              </a:rPr>
              <a:t>Conceptual Framework</a:t>
            </a:r>
            <a:endParaRPr lang="en-US" sz="2600" dirty="0"/>
          </a:p>
        </p:txBody>
      </p:sp>
      <p:sp>
        <p:nvSpPr>
          <p:cNvPr id="3" name="Shape 1"/>
          <p:cNvSpPr/>
          <p:nvPr/>
        </p:nvSpPr>
        <p:spPr>
          <a:xfrm>
            <a:off x="411480" y="868680"/>
            <a:ext cx="8321040" cy="36576"/>
          </a:xfrm>
          <a:prstGeom prst="rect">
            <a:avLst/>
          </a:prstGeom>
          <a:solidFill>
            <a:srgbClr val="CADCFC"/>
          </a:solidFill>
          <a:ln/>
        </p:spPr>
        <p:txBody>
          <a:bodyPr/>
          <a:lstStyle/>
          <a:p>
            <a:endParaRPr lang="en-KE"/>
          </a:p>
        </p:txBody>
      </p:sp>
      <p:sp>
        <p:nvSpPr>
          <p:cNvPr id="4" name="Shape 2"/>
          <p:cNvSpPr/>
          <p:nvPr/>
        </p:nvSpPr>
        <p:spPr>
          <a:xfrm>
            <a:off x="228600" y="1024128"/>
            <a:ext cx="1691640" cy="3291840"/>
          </a:xfrm>
          <a:prstGeom prst="roundRect">
            <a:avLst>
              <a:gd name="adj" fmla="val 4324"/>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5" name="Text 3"/>
          <p:cNvSpPr/>
          <p:nvPr/>
        </p:nvSpPr>
        <p:spPr>
          <a:xfrm>
            <a:off x="274320" y="1078992"/>
            <a:ext cx="1600200" cy="365760"/>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Independent Variables</a:t>
            </a:r>
            <a:endParaRPr lang="en-US" sz="1050" dirty="0"/>
          </a:p>
        </p:txBody>
      </p:sp>
      <p:sp>
        <p:nvSpPr>
          <p:cNvPr id="6" name="Text 4"/>
          <p:cNvSpPr/>
          <p:nvPr/>
        </p:nvSpPr>
        <p:spPr>
          <a:xfrm>
            <a:off x="274320" y="1481328"/>
            <a:ext cx="1600200" cy="2468880"/>
          </a:xfrm>
          <a:prstGeom prst="rect">
            <a:avLst/>
          </a:prstGeom>
          <a:noFill/>
          <a:ln/>
        </p:spPr>
        <p:txBody>
          <a:bodyPr wrap="square" lIns="25400" tIns="50800" rIns="50800" bIns="25400" rtlCol="0" anchor="t"/>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GRU configuration</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TD-A* parameters</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Threshold δ ∈ {5%–20%}</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Dataset (METR-LA)</a:t>
            </a:r>
            <a:endParaRPr lang="en-US" sz="1000" dirty="0"/>
          </a:p>
        </p:txBody>
      </p:sp>
      <p:sp>
        <p:nvSpPr>
          <p:cNvPr id="7" name="Shape 5"/>
          <p:cNvSpPr/>
          <p:nvPr/>
        </p:nvSpPr>
        <p:spPr>
          <a:xfrm>
            <a:off x="1956816" y="2651760"/>
            <a:ext cx="411480" cy="0"/>
          </a:xfrm>
          <a:prstGeom prst="line">
            <a:avLst/>
          </a:prstGeom>
          <a:noFill/>
          <a:ln w="19050">
            <a:solidFill>
              <a:srgbClr val="1E2761"/>
            </a:solidFill>
            <a:prstDash val="solid"/>
            <a:tailEnd type="triangle"/>
          </a:ln>
        </p:spPr>
        <p:txBody>
          <a:bodyPr/>
          <a:lstStyle/>
          <a:p>
            <a:endParaRPr lang="en-KE"/>
          </a:p>
        </p:txBody>
      </p:sp>
      <p:sp>
        <p:nvSpPr>
          <p:cNvPr id="8" name="Shape 6"/>
          <p:cNvSpPr/>
          <p:nvPr/>
        </p:nvSpPr>
        <p:spPr>
          <a:xfrm>
            <a:off x="2395728" y="1024128"/>
            <a:ext cx="1901952" cy="987552"/>
          </a:xfrm>
          <a:prstGeom prst="roundRect">
            <a:avLst>
              <a:gd name="adj" fmla="val 7407"/>
            </a:avLst>
          </a:prstGeom>
          <a:solidFill>
            <a:srgbClr val="EFFAF8"/>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9" name="Text 7"/>
          <p:cNvSpPr/>
          <p:nvPr/>
        </p:nvSpPr>
        <p:spPr>
          <a:xfrm>
            <a:off x="2487168" y="1097280"/>
            <a:ext cx="1719072" cy="457200"/>
          </a:xfrm>
          <a:prstGeom prst="rect">
            <a:avLst/>
          </a:prstGeom>
          <a:noFill/>
          <a:ln/>
        </p:spPr>
        <p:txBody>
          <a:bodyPr wrap="square" lIns="0" tIns="0" rIns="0" bIns="0"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Component 1</a:t>
            </a:r>
            <a:endParaRPr lang="en-US" sz="1100" dirty="0"/>
          </a:p>
          <a:p>
            <a:pPr marL="0" indent="0" algn="ctr">
              <a:buNone/>
            </a:pPr>
            <a:r>
              <a:rPr lang="en-US" sz="1100" b="1" dirty="0">
                <a:solidFill>
                  <a:srgbClr val="0D9488"/>
                </a:solidFill>
                <a:latin typeface="Calibri" pitchFamily="34" charset="0"/>
                <a:ea typeface="Calibri" pitchFamily="34" charset="-122"/>
                <a:cs typeface="Calibri" pitchFamily="34" charset="-120"/>
              </a:rPr>
              <a:t>Traffic Prediction Module</a:t>
            </a:r>
            <a:endParaRPr lang="en-US" sz="1100" dirty="0"/>
          </a:p>
        </p:txBody>
      </p:sp>
      <p:sp>
        <p:nvSpPr>
          <p:cNvPr id="10" name="Text 8"/>
          <p:cNvSpPr/>
          <p:nvPr/>
        </p:nvSpPr>
        <p:spPr>
          <a:xfrm>
            <a:off x="2487168" y="1554480"/>
            <a:ext cx="1719072" cy="384048"/>
          </a:xfrm>
          <a:prstGeom prst="rect">
            <a:avLst/>
          </a:prstGeom>
          <a:noFill/>
          <a:ln/>
        </p:spPr>
        <p:txBody>
          <a:bodyPr wrap="square" lIns="0" tIns="0" rIns="0" bIns="0" rtlCol="0" anchor="t"/>
          <a:lstStyle/>
          <a:p>
            <a:pPr marL="0" indent="0" algn="ctr">
              <a:buNone/>
            </a:pPr>
            <a:r>
              <a:rPr lang="en-US" sz="1000" dirty="0">
                <a:solidFill>
                  <a:srgbClr val="5A6080"/>
                </a:solidFill>
                <a:latin typeface="Calibri" pitchFamily="34" charset="0"/>
                <a:ea typeface="Calibri" pitchFamily="34" charset="-122"/>
                <a:cs typeface="Calibri" pitchFamily="34" charset="-120"/>
              </a:rPr>
              <a:t>GRU network</a:t>
            </a:r>
            <a:endParaRPr lang="en-US" sz="1000" dirty="0"/>
          </a:p>
          <a:p>
            <a:pPr marL="0" indent="0" algn="ctr">
              <a:buNone/>
            </a:pPr>
            <a:r>
              <a:rPr lang="en-US" sz="1000" dirty="0">
                <a:solidFill>
                  <a:srgbClr val="5A6080"/>
                </a:solidFill>
                <a:latin typeface="Calibri" pitchFamily="34" charset="0"/>
                <a:ea typeface="Calibri" pitchFamily="34" charset="-122"/>
                <a:cs typeface="Calibri" pitchFamily="34" charset="-120"/>
              </a:rPr>
              <a:t>15–30 min speed forecast</a:t>
            </a:r>
            <a:endParaRPr lang="en-US" sz="1000" dirty="0"/>
          </a:p>
        </p:txBody>
      </p:sp>
      <p:sp>
        <p:nvSpPr>
          <p:cNvPr id="11" name="Shape 9"/>
          <p:cNvSpPr/>
          <p:nvPr/>
        </p:nvSpPr>
        <p:spPr>
          <a:xfrm>
            <a:off x="3346704" y="2011680"/>
            <a:ext cx="0" cy="137160"/>
          </a:xfrm>
          <a:prstGeom prst="line">
            <a:avLst/>
          </a:prstGeom>
          <a:noFill/>
          <a:ln w="15240">
            <a:solidFill>
              <a:srgbClr val="1E2761"/>
            </a:solidFill>
            <a:prstDash val="solid"/>
            <a:tailEnd type="triangle"/>
          </a:ln>
        </p:spPr>
        <p:txBody>
          <a:bodyPr/>
          <a:lstStyle/>
          <a:p>
            <a:endParaRPr lang="en-KE"/>
          </a:p>
        </p:txBody>
      </p:sp>
      <p:sp>
        <p:nvSpPr>
          <p:cNvPr id="12" name="Shape 10"/>
          <p:cNvSpPr/>
          <p:nvPr/>
        </p:nvSpPr>
        <p:spPr>
          <a:xfrm>
            <a:off x="2395728" y="2148840"/>
            <a:ext cx="1901952" cy="987552"/>
          </a:xfrm>
          <a:prstGeom prst="roundRect">
            <a:avLst>
              <a:gd name="adj" fmla="val 7407"/>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3" name="Text 11"/>
          <p:cNvSpPr/>
          <p:nvPr/>
        </p:nvSpPr>
        <p:spPr>
          <a:xfrm>
            <a:off x="2487168" y="2221992"/>
            <a:ext cx="1719072" cy="45720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Component 2</a:t>
            </a:r>
            <a:endParaRPr lang="en-US" sz="1100" dirty="0"/>
          </a:p>
          <a:p>
            <a:pPr marL="0" indent="0" algn="ctr">
              <a:buNone/>
            </a:pPr>
            <a:r>
              <a:rPr lang="en-US" sz="1100" b="1" dirty="0">
                <a:solidFill>
                  <a:srgbClr val="1E2761"/>
                </a:solidFill>
                <a:latin typeface="Calibri" pitchFamily="34" charset="0"/>
                <a:ea typeface="Calibri" pitchFamily="34" charset="-122"/>
                <a:cs typeface="Calibri" pitchFamily="34" charset="-120"/>
              </a:rPr>
              <a:t>Route Recommendation Module</a:t>
            </a:r>
            <a:endParaRPr lang="en-US" sz="1100" dirty="0"/>
          </a:p>
        </p:txBody>
      </p:sp>
      <p:sp>
        <p:nvSpPr>
          <p:cNvPr id="14" name="Text 12"/>
          <p:cNvSpPr/>
          <p:nvPr/>
        </p:nvSpPr>
        <p:spPr>
          <a:xfrm>
            <a:off x="2487168" y="2679192"/>
            <a:ext cx="1719072" cy="384048"/>
          </a:xfrm>
          <a:prstGeom prst="rect">
            <a:avLst/>
          </a:prstGeom>
          <a:noFill/>
          <a:ln/>
        </p:spPr>
        <p:txBody>
          <a:bodyPr wrap="square" lIns="0" tIns="0" rIns="0" bIns="0" rtlCol="0" anchor="t"/>
          <a:lstStyle/>
          <a:p>
            <a:pPr marL="0" indent="0" algn="ctr">
              <a:buNone/>
            </a:pPr>
            <a:r>
              <a:rPr lang="en-US" sz="1000" dirty="0">
                <a:solidFill>
                  <a:srgbClr val="5A6080"/>
                </a:solidFill>
                <a:latin typeface="Calibri" pitchFamily="34" charset="0"/>
                <a:ea typeface="Calibri" pitchFamily="34" charset="-122"/>
                <a:cs typeface="Calibri" pitchFamily="34" charset="-120"/>
              </a:rPr>
              <a:t>Time-Dependent A*</a:t>
            </a:r>
            <a:endParaRPr lang="en-US" sz="1000" dirty="0"/>
          </a:p>
          <a:p>
            <a:pPr marL="0" indent="0" algn="ctr">
              <a:buNone/>
            </a:pPr>
            <a:r>
              <a:rPr lang="en-US" sz="1000" dirty="0">
                <a:solidFill>
                  <a:srgbClr val="5A6080"/>
                </a:solidFill>
                <a:latin typeface="Calibri" pitchFamily="34" charset="0"/>
                <a:ea typeface="Calibri" pitchFamily="34" charset="-122"/>
                <a:cs typeface="Calibri" pitchFamily="34" charset="-120"/>
              </a:rPr>
              <a:t>Optimal path computation</a:t>
            </a:r>
            <a:endParaRPr lang="en-US" sz="1000" dirty="0"/>
          </a:p>
        </p:txBody>
      </p:sp>
      <p:sp>
        <p:nvSpPr>
          <p:cNvPr id="15" name="Shape 13"/>
          <p:cNvSpPr/>
          <p:nvPr/>
        </p:nvSpPr>
        <p:spPr>
          <a:xfrm>
            <a:off x="3346704" y="3136392"/>
            <a:ext cx="0" cy="137160"/>
          </a:xfrm>
          <a:prstGeom prst="line">
            <a:avLst/>
          </a:prstGeom>
          <a:noFill/>
          <a:ln w="15240">
            <a:solidFill>
              <a:srgbClr val="1E2761"/>
            </a:solidFill>
            <a:prstDash val="solid"/>
            <a:tailEnd type="triangle"/>
          </a:ln>
        </p:spPr>
        <p:txBody>
          <a:bodyPr/>
          <a:lstStyle/>
          <a:p>
            <a:endParaRPr lang="en-KE"/>
          </a:p>
        </p:txBody>
      </p:sp>
      <p:sp>
        <p:nvSpPr>
          <p:cNvPr id="16" name="Shape 14"/>
          <p:cNvSpPr/>
          <p:nvPr/>
        </p:nvSpPr>
        <p:spPr>
          <a:xfrm>
            <a:off x="2395728" y="3273552"/>
            <a:ext cx="1901952" cy="987552"/>
          </a:xfrm>
          <a:prstGeom prst="roundRect">
            <a:avLst>
              <a:gd name="adj" fmla="val 7407"/>
            </a:avLst>
          </a:prstGeom>
          <a:solidFill>
            <a:srgbClr val="F0F0FA"/>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7" name="Text 15"/>
          <p:cNvSpPr/>
          <p:nvPr/>
        </p:nvSpPr>
        <p:spPr>
          <a:xfrm>
            <a:off x="2487168" y="3346704"/>
            <a:ext cx="1719072" cy="457200"/>
          </a:xfrm>
          <a:prstGeom prst="rect">
            <a:avLst/>
          </a:prstGeom>
          <a:noFill/>
          <a:ln/>
        </p:spPr>
        <p:txBody>
          <a:bodyPr wrap="square" lIns="0" tIns="0" rIns="0" bIns="0" rtlCol="0" anchor="ctr"/>
          <a:lstStyle/>
          <a:p>
            <a:pPr marL="0" indent="0" algn="ctr">
              <a:buNone/>
            </a:pPr>
            <a:r>
              <a:rPr lang="en-US" sz="1100" b="1" dirty="0">
                <a:solidFill>
                  <a:srgbClr val="2E3D7C"/>
                </a:solidFill>
                <a:latin typeface="Calibri" pitchFamily="34" charset="0"/>
                <a:ea typeface="Calibri" pitchFamily="34" charset="-122"/>
                <a:cs typeface="Calibri" pitchFamily="34" charset="-120"/>
              </a:rPr>
              <a:t>Component 3</a:t>
            </a:r>
            <a:endParaRPr lang="en-US" sz="1100" dirty="0"/>
          </a:p>
          <a:p>
            <a:pPr marL="0" indent="0" algn="ctr">
              <a:buNone/>
            </a:pPr>
            <a:r>
              <a:rPr lang="en-US" sz="1100" b="1" dirty="0">
                <a:solidFill>
                  <a:srgbClr val="2E3D7C"/>
                </a:solidFill>
                <a:latin typeface="Calibri" pitchFamily="34" charset="0"/>
                <a:ea typeface="Calibri" pitchFamily="34" charset="-122"/>
                <a:cs typeface="Calibri" pitchFamily="34" charset="-120"/>
              </a:rPr>
              <a:t>Adaptive Update Controller</a:t>
            </a:r>
            <a:endParaRPr lang="en-US" sz="1100" dirty="0"/>
          </a:p>
        </p:txBody>
      </p:sp>
      <p:sp>
        <p:nvSpPr>
          <p:cNvPr id="18" name="Text 16"/>
          <p:cNvSpPr/>
          <p:nvPr/>
        </p:nvSpPr>
        <p:spPr>
          <a:xfrm>
            <a:off x="2487168" y="3803904"/>
            <a:ext cx="1719072" cy="384048"/>
          </a:xfrm>
          <a:prstGeom prst="rect">
            <a:avLst/>
          </a:prstGeom>
          <a:noFill/>
          <a:ln/>
        </p:spPr>
        <p:txBody>
          <a:bodyPr wrap="square" lIns="0" tIns="0" rIns="0" bIns="0" rtlCol="0" anchor="t"/>
          <a:lstStyle/>
          <a:p>
            <a:pPr marL="0" indent="0" algn="ctr">
              <a:buNone/>
            </a:pPr>
            <a:r>
              <a:rPr lang="en-US" sz="1000" dirty="0">
                <a:solidFill>
                  <a:srgbClr val="5A6080"/>
                </a:solidFill>
                <a:latin typeface="Calibri" pitchFamily="34" charset="0"/>
                <a:ea typeface="Calibri" pitchFamily="34" charset="-122"/>
                <a:cs typeface="Calibri" pitchFamily="34" charset="-120"/>
              </a:rPr>
              <a:t>Threshold-based replanning</a:t>
            </a:r>
            <a:endParaRPr lang="en-US" sz="1000" dirty="0"/>
          </a:p>
          <a:p>
            <a:pPr marL="0" indent="0" algn="ctr">
              <a:buNone/>
            </a:pPr>
            <a:r>
              <a:rPr lang="en-US" sz="1000" dirty="0">
                <a:solidFill>
                  <a:srgbClr val="5A6080"/>
                </a:solidFill>
                <a:latin typeface="Calibri" pitchFamily="34" charset="0"/>
                <a:ea typeface="Calibri" pitchFamily="34" charset="-122"/>
                <a:cs typeface="Calibri" pitchFamily="34" charset="-120"/>
              </a:rPr>
              <a:t>when deviation &gt; δ</a:t>
            </a:r>
            <a:endParaRPr lang="en-US" sz="1000" dirty="0"/>
          </a:p>
        </p:txBody>
      </p:sp>
      <p:sp>
        <p:nvSpPr>
          <p:cNvPr id="19" name="Shape 17"/>
          <p:cNvSpPr/>
          <p:nvPr/>
        </p:nvSpPr>
        <p:spPr>
          <a:xfrm>
            <a:off x="4297680" y="2651760"/>
            <a:ext cx="411480" cy="0"/>
          </a:xfrm>
          <a:prstGeom prst="line">
            <a:avLst/>
          </a:prstGeom>
          <a:noFill/>
          <a:ln w="19050">
            <a:solidFill>
              <a:srgbClr val="1E2761"/>
            </a:solidFill>
            <a:prstDash val="solid"/>
            <a:tailEnd type="triangle"/>
          </a:ln>
        </p:spPr>
        <p:txBody>
          <a:bodyPr/>
          <a:lstStyle/>
          <a:p>
            <a:endParaRPr lang="en-KE"/>
          </a:p>
        </p:txBody>
      </p:sp>
      <p:sp>
        <p:nvSpPr>
          <p:cNvPr id="20" name="Shape 18"/>
          <p:cNvSpPr/>
          <p:nvPr/>
        </p:nvSpPr>
        <p:spPr>
          <a:xfrm>
            <a:off x="4709160" y="1024128"/>
            <a:ext cx="1828800" cy="3291840"/>
          </a:xfrm>
          <a:prstGeom prst="roundRect">
            <a:avLst>
              <a:gd name="adj" fmla="val 4000"/>
            </a:avLst>
          </a:prstGeom>
          <a:solidFill>
            <a:srgbClr val="FFFBE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21" name="Text 19"/>
          <p:cNvSpPr/>
          <p:nvPr/>
        </p:nvSpPr>
        <p:spPr>
          <a:xfrm>
            <a:off x="4754880" y="1078992"/>
            <a:ext cx="1737360" cy="365760"/>
          </a:xfrm>
          <a:prstGeom prst="rect">
            <a:avLst/>
          </a:prstGeom>
          <a:noFill/>
          <a:ln/>
        </p:spPr>
        <p:txBody>
          <a:bodyPr wrap="square" lIns="0" tIns="0" rIns="0" bIns="0" rtlCol="0" anchor="ctr"/>
          <a:lstStyle/>
          <a:p>
            <a:pPr marL="0" indent="0" algn="ctr">
              <a:buNone/>
            </a:pPr>
            <a:r>
              <a:rPr lang="en-US" sz="1050" b="1" dirty="0">
                <a:solidFill>
                  <a:srgbClr val="E8A838"/>
                </a:solidFill>
                <a:latin typeface="Calibri" pitchFamily="34" charset="0"/>
                <a:ea typeface="Calibri" pitchFamily="34" charset="-122"/>
                <a:cs typeface="Calibri" pitchFamily="34" charset="-120"/>
              </a:rPr>
              <a:t>Dependent Variables</a:t>
            </a:r>
            <a:endParaRPr lang="en-US" sz="1050" dirty="0"/>
          </a:p>
        </p:txBody>
      </p:sp>
      <p:sp>
        <p:nvSpPr>
          <p:cNvPr id="22" name="Text 20"/>
          <p:cNvSpPr/>
          <p:nvPr/>
        </p:nvSpPr>
        <p:spPr>
          <a:xfrm>
            <a:off x="4754880" y="1481328"/>
            <a:ext cx="1737360" cy="2468880"/>
          </a:xfrm>
          <a:prstGeom prst="rect">
            <a:avLst/>
          </a:prstGeom>
          <a:noFill/>
          <a:ln/>
        </p:spPr>
        <p:txBody>
          <a:bodyPr wrap="square" lIns="25400" tIns="50800" rIns="50800" bIns="25400" rtlCol="0" anchor="t"/>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Travel time (s)</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Routing latency (ms)</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Route update frequency</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Route optimality</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Prediction MAE</a:t>
            </a:r>
            <a:endParaRPr lang="en-US" sz="1000" dirty="0"/>
          </a:p>
        </p:txBody>
      </p:sp>
      <p:sp>
        <p:nvSpPr>
          <p:cNvPr id="23" name="Shape 21"/>
          <p:cNvSpPr/>
          <p:nvPr/>
        </p:nvSpPr>
        <p:spPr>
          <a:xfrm>
            <a:off x="6720840" y="1417320"/>
            <a:ext cx="2103120" cy="2834640"/>
          </a:xfrm>
          <a:prstGeom prst="roundRect">
            <a:avLst>
              <a:gd name="adj" fmla="val 3478"/>
            </a:avLst>
          </a:prstGeom>
          <a:solidFill>
            <a:srgbClr val="F9F0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24" name="Text 22"/>
          <p:cNvSpPr/>
          <p:nvPr/>
        </p:nvSpPr>
        <p:spPr>
          <a:xfrm>
            <a:off x="6784848" y="1508760"/>
            <a:ext cx="1975104" cy="365760"/>
          </a:xfrm>
          <a:prstGeom prst="rect">
            <a:avLst/>
          </a:prstGeom>
          <a:noFill/>
          <a:ln/>
        </p:spPr>
        <p:txBody>
          <a:bodyPr wrap="square" lIns="0" tIns="0" rIns="0" bIns="0" rtlCol="0" anchor="ctr"/>
          <a:lstStyle/>
          <a:p>
            <a:pPr marL="0" indent="0" algn="ctr">
              <a:buNone/>
            </a:pPr>
            <a:r>
              <a:rPr lang="en-US" sz="1050" b="1" dirty="0">
                <a:solidFill>
                  <a:srgbClr val="6A0DAD"/>
                </a:solidFill>
                <a:latin typeface="Calibri" pitchFamily="34" charset="0"/>
                <a:ea typeface="Calibri" pitchFamily="34" charset="-122"/>
                <a:cs typeface="Calibri" pitchFamily="34" charset="-120"/>
              </a:rPr>
              <a:t>Moderating Variables</a:t>
            </a:r>
            <a:endParaRPr lang="en-US" sz="1050" dirty="0"/>
          </a:p>
        </p:txBody>
      </p:sp>
      <p:sp>
        <p:nvSpPr>
          <p:cNvPr id="25" name="Text 23"/>
          <p:cNvSpPr/>
          <p:nvPr/>
        </p:nvSpPr>
        <p:spPr>
          <a:xfrm>
            <a:off x="6784848" y="1938528"/>
            <a:ext cx="1975104" cy="2103120"/>
          </a:xfrm>
          <a:prstGeom prst="rect">
            <a:avLst/>
          </a:prstGeom>
          <a:noFill/>
          <a:ln/>
        </p:spPr>
        <p:txBody>
          <a:bodyPr wrap="square" lIns="25400" tIns="50800" rIns="50800" bIns="25400" rtlCol="0" anchor="t"/>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Congestion level</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Time of day</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Route distance</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Sensor data density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7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94360"/>
          </a:xfrm>
          <a:prstGeom prst="rect">
            <a:avLst/>
          </a:prstGeom>
          <a:noFill/>
          <a:ln/>
        </p:spPr>
        <p:txBody>
          <a:bodyPr wrap="square" lIns="0" tIns="0" rIns="0" bIns="0" rtlCol="0" anchor="ctr"/>
          <a:lstStyle/>
          <a:p>
            <a:pPr marL="0" indent="0" algn="l">
              <a:buNone/>
            </a:pPr>
            <a:r>
              <a:rPr lang="en-US" sz="2600" b="1" dirty="0">
                <a:solidFill>
                  <a:srgbClr val="1E2761"/>
                </a:solidFill>
                <a:latin typeface="Cambria" pitchFamily="34" charset="0"/>
                <a:ea typeface="Cambria" pitchFamily="34" charset="-122"/>
                <a:cs typeface="Cambria" pitchFamily="34" charset="-120"/>
              </a:rPr>
              <a:t>Research Design</a:t>
            </a:r>
            <a:endParaRPr lang="en-US" sz="2600" dirty="0"/>
          </a:p>
        </p:txBody>
      </p:sp>
      <p:sp>
        <p:nvSpPr>
          <p:cNvPr id="3" name="Shape 1"/>
          <p:cNvSpPr/>
          <p:nvPr/>
        </p:nvSpPr>
        <p:spPr>
          <a:xfrm>
            <a:off x="411480" y="868680"/>
            <a:ext cx="8321040" cy="36576"/>
          </a:xfrm>
          <a:prstGeom prst="rect">
            <a:avLst/>
          </a:prstGeom>
          <a:solidFill>
            <a:srgbClr val="CADCFC"/>
          </a:solidFill>
          <a:ln/>
        </p:spPr>
        <p:txBody>
          <a:bodyPr/>
          <a:lstStyle/>
          <a:p>
            <a:endParaRPr lang="en-KE"/>
          </a:p>
        </p:txBody>
      </p:sp>
      <p:sp>
        <p:nvSpPr>
          <p:cNvPr id="4" name="Text 2"/>
          <p:cNvSpPr/>
          <p:nvPr/>
        </p:nvSpPr>
        <p:spPr>
          <a:xfrm>
            <a:off x="411480" y="1024128"/>
            <a:ext cx="4023360" cy="347472"/>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Research Philosophy &amp; Paradigm</a:t>
            </a:r>
            <a:endParaRPr lang="en-US" sz="1400" dirty="0"/>
          </a:p>
        </p:txBody>
      </p:sp>
      <p:sp>
        <p:nvSpPr>
          <p:cNvPr id="5" name="Text 3"/>
          <p:cNvSpPr/>
          <p:nvPr/>
        </p:nvSpPr>
        <p:spPr>
          <a:xfrm>
            <a:off x="411480" y="1417320"/>
            <a:ext cx="4023360" cy="1371600"/>
          </a:xfrm>
          <a:prstGeom prst="rect">
            <a:avLst/>
          </a:prstGeom>
          <a:noFill/>
          <a:ln/>
        </p:spPr>
        <p:txBody>
          <a:bodyPr wrap="square" lIns="50800" tIns="76200" rIns="76200" bIns="50800" rtlCol="0" anchor="t"/>
          <a:lstStyle/>
          <a:p>
            <a:pPr marL="342900" indent="-342900">
              <a:spcAft>
                <a:spcPts val="400"/>
              </a:spcAft>
              <a:buSzPct val="100000"/>
              <a:buChar char="•"/>
            </a:pPr>
            <a:r>
              <a:rPr lang="en-US" sz="1300" dirty="0">
                <a:solidFill>
                  <a:srgbClr val="1A1A2E"/>
                </a:solidFill>
                <a:latin typeface="Calibri" pitchFamily="34" charset="0"/>
                <a:ea typeface="Calibri" pitchFamily="34" charset="-122"/>
                <a:cs typeface="Calibri" pitchFamily="34" charset="-120"/>
              </a:rPr>
              <a:t>Philosophy: Pragmatism — value judged by practical utility, not doctrine.</a:t>
            </a:r>
            <a:endParaRPr lang="en-US" sz="1300" dirty="0"/>
          </a:p>
          <a:p>
            <a:pPr marL="342900" indent="-342900">
              <a:spcAft>
                <a:spcPts val="400"/>
              </a:spcAft>
              <a:buSzPct val="100000"/>
              <a:buChar char="•"/>
            </a:pPr>
            <a:r>
              <a:rPr lang="en-US" sz="1300" dirty="0">
                <a:solidFill>
                  <a:srgbClr val="1A1A2E"/>
                </a:solidFill>
                <a:latin typeface="Calibri" pitchFamily="34" charset="0"/>
                <a:ea typeface="Calibri" pitchFamily="34" charset="-122"/>
                <a:cs typeface="Calibri" pitchFamily="34" charset="-120"/>
              </a:rPr>
              <a:t>Paradigm: Quantitative experimental — numerical metrics compared through statistical testing.</a:t>
            </a:r>
            <a:endParaRPr lang="en-US" sz="1300" dirty="0"/>
          </a:p>
          <a:p>
            <a:pPr marL="342900" indent="-342900">
              <a:spcAft>
                <a:spcPts val="400"/>
              </a:spcAft>
              <a:buSzPct val="100000"/>
              <a:buChar char="•"/>
            </a:pPr>
            <a:r>
              <a:rPr lang="en-US" sz="1300" dirty="0">
                <a:solidFill>
                  <a:srgbClr val="1A1A2E"/>
                </a:solidFill>
                <a:latin typeface="Calibri" pitchFamily="34" charset="0"/>
                <a:ea typeface="Calibri" pitchFamily="34" charset="-122"/>
                <a:cs typeface="Calibri" pitchFamily="34" charset="-120"/>
              </a:rPr>
              <a:t>Strategy: Design Science Research Methodology (DSRM)</a:t>
            </a:r>
            <a:endParaRPr lang="en-US" sz="1300" dirty="0"/>
          </a:p>
        </p:txBody>
      </p:sp>
      <p:sp>
        <p:nvSpPr>
          <p:cNvPr id="6" name="Text 4"/>
          <p:cNvSpPr/>
          <p:nvPr/>
        </p:nvSpPr>
        <p:spPr>
          <a:xfrm>
            <a:off x="411480" y="2852928"/>
            <a:ext cx="8321040" cy="347472"/>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DSRM Six Activities — Applied in This Study</a:t>
            </a:r>
            <a:endParaRPr lang="en-US" sz="1400" dirty="0"/>
          </a:p>
        </p:txBody>
      </p:sp>
      <p:sp>
        <p:nvSpPr>
          <p:cNvPr id="7" name="Shape 5"/>
          <p:cNvSpPr/>
          <p:nvPr/>
        </p:nvSpPr>
        <p:spPr>
          <a:xfrm>
            <a:off x="320040" y="3246120"/>
            <a:ext cx="1261872" cy="868680"/>
          </a:xfrm>
          <a:prstGeom prst="roundRect">
            <a:avLst>
              <a:gd name="adj" fmla="val 8421"/>
            </a:avLst>
          </a:prstGeom>
          <a:solidFill>
            <a:srgbClr val="1E2761"/>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8" name="Text 6"/>
          <p:cNvSpPr/>
          <p:nvPr/>
        </p:nvSpPr>
        <p:spPr>
          <a:xfrm>
            <a:off x="320040" y="3291840"/>
            <a:ext cx="1261872" cy="347472"/>
          </a:xfrm>
          <a:prstGeom prst="rect">
            <a:avLst/>
          </a:prstGeom>
          <a:noFill/>
          <a:ln/>
        </p:spPr>
        <p:txBody>
          <a:bodyPr wrap="square" lIns="0" tIns="0" rIns="0" bIns="0" rtlCol="0" anchor="ctr"/>
          <a:lstStyle/>
          <a:p>
            <a:pPr marL="0" indent="0" algn="ctr">
              <a:buNone/>
            </a:pPr>
            <a:r>
              <a:rPr lang="en-US" sz="2200" b="1" dirty="0">
                <a:solidFill>
                  <a:srgbClr val="E8A838"/>
                </a:solidFill>
                <a:latin typeface="Cambria" pitchFamily="34" charset="0"/>
                <a:ea typeface="Cambria" pitchFamily="34" charset="-122"/>
                <a:cs typeface="Cambria" pitchFamily="34" charset="-120"/>
              </a:rPr>
              <a:t>1</a:t>
            </a:r>
            <a:endParaRPr lang="en-US" sz="2200" dirty="0"/>
          </a:p>
        </p:txBody>
      </p:sp>
      <p:sp>
        <p:nvSpPr>
          <p:cNvPr id="9" name="Text 7"/>
          <p:cNvSpPr/>
          <p:nvPr/>
        </p:nvSpPr>
        <p:spPr>
          <a:xfrm>
            <a:off x="320040" y="3639312"/>
            <a:ext cx="1261872" cy="438912"/>
          </a:xfrm>
          <a:prstGeom prst="rect">
            <a:avLst/>
          </a:prstGeom>
          <a:noFill/>
          <a:ln/>
        </p:spPr>
        <p:txBody>
          <a:bodyPr wrap="square" lIns="25400" tIns="50800" rIns="5080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Problem</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Identification</a:t>
            </a:r>
            <a:endParaRPr lang="en-US" sz="1000" dirty="0"/>
          </a:p>
        </p:txBody>
      </p:sp>
      <p:sp>
        <p:nvSpPr>
          <p:cNvPr id="10" name="Text 8"/>
          <p:cNvSpPr/>
          <p:nvPr/>
        </p:nvSpPr>
        <p:spPr>
          <a:xfrm>
            <a:off x="1581912" y="3493008"/>
            <a:ext cx="109728" cy="274320"/>
          </a:xfrm>
          <a:prstGeom prst="rect">
            <a:avLst/>
          </a:prstGeom>
          <a:noFill/>
          <a:ln/>
        </p:spPr>
        <p:txBody>
          <a:bodyPr wrap="square" lIns="0" tIns="0" rIns="0" bIns="0" rtlCol="0" anchor="ctr"/>
          <a:lstStyle/>
          <a:p>
            <a:pPr marL="0" indent="0" algn="ctr">
              <a:buNone/>
            </a:pPr>
            <a:r>
              <a:rPr lang="en-US" sz="1200" dirty="0">
                <a:solidFill>
                  <a:srgbClr val="2E3D7C"/>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1655064" y="3246120"/>
            <a:ext cx="1261872" cy="868680"/>
          </a:xfrm>
          <a:prstGeom prst="roundRect">
            <a:avLst>
              <a:gd name="adj" fmla="val 8421"/>
            </a:avLst>
          </a:prstGeom>
          <a:solidFill>
            <a:srgbClr val="1E2761"/>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2" name="Text 10"/>
          <p:cNvSpPr/>
          <p:nvPr/>
        </p:nvSpPr>
        <p:spPr>
          <a:xfrm>
            <a:off x="1655064" y="3291840"/>
            <a:ext cx="1261872" cy="347472"/>
          </a:xfrm>
          <a:prstGeom prst="rect">
            <a:avLst/>
          </a:prstGeom>
          <a:noFill/>
          <a:ln/>
        </p:spPr>
        <p:txBody>
          <a:bodyPr wrap="square" lIns="0" tIns="0" rIns="0" bIns="0" rtlCol="0" anchor="ctr"/>
          <a:lstStyle/>
          <a:p>
            <a:pPr marL="0" indent="0" algn="ctr">
              <a:buNone/>
            </a:pPr>
            <a:r>
              <a:rPr lang="en-US" sz="2200" b="1" dirty="0">
                <a:solidFill>
                  <a:srgbClr val="E8A838"/>
                </a:solidFill>
                <a:latin typeface="Cambria" pitchFamily="34" charset="0"/>
                <a:ea typeface="Cambria" pitchFamily="34" charset="-122"/>
                <a:cs typeface="Cambria" pitchFamily="34" charset="-120"/>
              </a:rPr>
              <a:t>2</a:t>
            </a:r>
            <a:endParaRPr lang="en-US" sz="2200" dirty="0"/>
          </a:p>
        </p:txBody>
      </p:sp>
      <p:sp>
        <p:nvSpPr>
          <p:cNvPr id="13" name="Text 11"/>
          <p:cNvSpPr/>
          <p:nvPr/>
        </p:nvSpPr>
        <p:spPr>
          <a:xfrm>
            <a:off x="1655064" y="3639312"/>
            <a:ext cx="1261872" cy="438912"/>
          </a:xfrm>
          <a:prstGeom prst="rect">
            <a:avLst/>
          </a:prstGeom>
          <a:noFill/>
          <a:ln/>
        </p:spPr>
        <p:txBody>
          <a:bodyPr wrap="square" lIns="25400" tIns="50800" rIns="5080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Define</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Objectives</a:t>
            </a:r>
            <a:endParaRPr lang="en-US" sz="1000" dirty="0"/>
          </a:p>
        </p:txBody>
      </p:sp>
      <p:sp>
        <p:nvSpPr>
          <p:cNvPr id="14" name="Text 12"/>
          <p:cNvSpPr/>
          <p:nvPr/>
        </p:nvSpPr>
        <p:spPr>
          <a:xfrm>
            <a:off x="2916936" y="3493008"/>
            <a:ext cx="109728" cy="274320"/>
          </a:xfrm>
          <a:prstGeom prst="rect">
            <a:avLst/>
          </a:prstGeom>
          <a:noFill/>
          <a:ln/>
        </p:spPr>
        <p:txBody>
          <a:bodyPr wrap="square" lIns="0" tIns="0" rIns="0" bIns="0" rtlCol="0" anchor="ctr"/>
          <a:lstStyle/>
          <a:p>
            <a:pPr marL="0" indent="0" algn="ctr">
              <a:buNone/>
            </a:pPr>
            <a:r>
              <a:rPr lang="en-US" sz="1200" dirty="0">
                <a:solidFill>
                  <a:srgbClr val="2E3D7C"/>
                </a:solidFill>
                <a:latin typeface="Calibri" pitchFamily="34" charset="0"/>
                <a:ea typeface="Calibri" pitchFamily="34" charset="-122"/>
                <a:cs typeface="Calibri" pitchFamily="34" charset="-120"/>
              </a:rPr>
              <a:t>→</a:t>
            </a:r>
            <a:endParaRPr lang="en-US" sz="1200" dirty="0"/>
          </a:p>
        </p:txBody>
      </p:sp>
      <p:sp>
        <p:nvSpPr>
          <p:cNvPr id="15" name="Shape 13"/>
          <p:cNvSpPr/>
          <p:nvPr/>
        </p:nvSpPr>
        <p:spPr>
          <a:xfrm>
            <a:off x="2990088" y="3246120"/>
            <a:ext cx="1261872" cy="868680"/>
          </a:xfrm>
          <a:prstGeom prst="roundRect">
            <a:avLst>
              <a:gd name="adj" fmla="val 8421"/>
            </a:avLst>
          </a:prstGeom>
          <a:solidFill>
            <a:srgbClr val="1E2761"/>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6" name="Text 14"/>
          <p:cNvSpPr/>
          <p:nvPr/>
        </p:nvSpPr>
        <p:spPr>
          <a:xfrm>
            <a:off x="2990088" y="3291840"/>
            <a:ext cx="1261872" cy="347472"/>
          </a:xfrm>
          <a:prstGeom prst="rect">
            <a:avLst/>
          </a:prstGeom>
          <a:noFill/>
          <a:ln/>
        </p:spPr>
        <p:txBody>
          <a:bodyPr wrap="square" lIns="0" tIns="0" rIns="0" bIns="0" rtlCol="0" anchor="ctr"/>
          <a:lstStyle/>
          <a:p>
            <a:pPr marL="0" indent="0" algn="ctr">
              <a:buNone/>
            </a:pPr>
            <a:r>
              <a:rPr lang="en-US" sz="2200" b="1" dirty="0">
                <a:solidFill>
                  <a:srgbClr val="E8A838"/>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2990088" y="3639312"/>
            <a:ext cx="1261872" cy="438912"/>
          </a:xfrm>
          <a:prstGeom prst="rect">
            <a:avLst/>
          </a:prstGeom>
          <a:noFill/>
          <a:ln/>
        </p:spPr>
        <p:txBody>
          <a:bodyPr wrap="square" lIns="25400" tIns="50800" rIns="5080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Design &amp;</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Development</a:t>
            </a:r>
            <a:endParaRPr lang="en-US" sz="1000" dirty="0"/>
          </a:p>
        </p:txBody>
      </p:sp>
      <p:sp>
        <p:nvSpPr>
          <p:cNvPr id="18" name="Text 16"/>
          <p:cNvSpPr/>
          <p:nvPr/>
        </p:nvSpPr>
        <p:spPr>
          <a:xfrm>
            <a:off x="4251960" y="3493008"/>
            <a:ext cx="109728" cy="274320"/>
          </a:xfrm>
          <a:prstGeom prst="rect">
            <a:avLst/>
          </a:prstGeom>
          <a:noFill/>
          <a:ln/>
        </p:spPr>
        <p:txBody>
          <a:bodyPr wrap="square" lIns="0" tIns="0" rIns="0" bIns="0" rtlCol="0" anchor="ctr"/>
          <a:lstStyle/>
          <a:p>
            <a:pPr marL="0" indent="0" algn="ctr">
              <a:buNone/>
            </a:pPr>
            <a:r>
              <a:rPr lang="en-US" sz="1200" dirty="0">
                <a:solidFill>
                  <a:srgbClr val="2E3D7C"/>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4325112" y="3246120"/>
            <a:ext cx="1261872" cy="868680"/>
          </a:xfrm>
          <a:prstGeom prst="roundRect">
            <a:avLst>
              <a:gd name="adj" fmla="val 8421"/>
            </a:avLst>
          </a:prstGeom>
          <a:solidFill>
            <a:srgbClr val="E8EDF8"/>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20" name="Text 18"/>
          <p:cNvSpPr/>
          <p:nvPr/>
        </p:nvSpPr>
        <p:spPr>
          <a:xfrm>
            <a:off x="4325112" y="3291840"/>
            <a:ext cx="1261872" cy="347472"/>
          </a:xfrm>
          <a:prstGeom prst="rect">
            <a:avLst/>
          </a:prstGeom>
          <a:noFill/>
          <a:ln/>
        </p:spPr>
        <p:txBody>
          <a:bodyPr wrap="square" lIns="0" tIns="0" rIns="0" bIns="0" rtlCol="0" anchor="ctr"/>
          <a:lstStyle/>
          <a:p>
            <a:pPr marL="0" indent="0" algn="ctr">
              <a:buNone/>
            </a:pPr>
            <a:r>
              <a:rPr lang="en-US" sz="2200" b="1" dirty="0">
                <a:solidFill>
                  <a:srgbClr val="5A6080"/>
                </a:solidFill>
                <a:latin typeface="Cambria" pitchFamily="34" charset="0"/>
                <a:ea typeface="Cambria" pitchFamily="34" charset="-122"/>
                <a:cs typeface="Cambria" pitchFamily="34" charset="-120"/>
              </a:rPr>
              <a:t>4</a:t>
            </a:r>
            <a:endParaRPr lang="en-US" sz="2200" dirty="0"/>
          </a:p>
        </p:txBody>
      </p:sp>
      <p:sp>
        <p:nvSpPr>
          <p:cNvPr id="21" name="Text 19"/>
          <p:cNvSpPr/>
          <p:nvPr/>
        </p:nvSpPr>
        <p:spPr>
          <a:xfrm>
            <a:off x="4325112" y="3639312"/>
            <a:ext cx="1261872" cy="438912"/>
          </a:xfrm>
          <a:prstGeom prst="rect">
            <a:avLst/>
          </a:prstGeom>
          <a:noFill/>
          <a:ln/>
        </p:spPr>
        <p:txBody>
          <a:bodyPr wrap="square" lIns="25400" tIns="50800" rIns="50800" bIns="0" rtlCol="0" anchor="t"/>
          <a:lstStyle/>
          <a:p>
            <a:pPr marL="0" indent="0" algn="ctr">
              <a:buNone/>
            </a:pPr>
            <a:r>
              <a:rPr lang="en-US" sz="1000" dirty="0">
                <a:solidFill>
                  <a:srgbClr val="5A6080"/>
                </a:solidFill>
                <a:latin typeface="Calibri" pitchFamily="34" charset="0"/>
                <a:ea typeface="Calibri" pitchFamily="34" charset="-122"/>
                <a:cs typeface="Calibri" pitchFamily="34" charset="-120"/>
              </a:rPr>
              <a:t>Demonstrat-</a:t>
            </a:r>
            <a:endParaRPr lang="en-US" sz="1000" dirty="0"/>
          </a:p>
          <a:p>
            <a:pPr marL="0" indent="0" algn="ctr">
              <a:buNone/>
            </a:pPr>
            <a:r>
              <a:rPr lang="en-US" sz="1000" dirty="0">
                <a:solidFill>
                  <a:srgbClr val="5A6080"/>
                </a:solidFill>
                <a:latin typeface="Calibri" pitchFamily="34" charset="0"/>
                <a:ea typeface="Calibri" pitchFamily="34" charset="-122"/>
                <a:cs typeface="Calibri" pitchFamily="34" charset="-120"/>
              </a:rPr>
              <a:t>ion</a:t>
            </a:r>
            <a:endParaRPr lang="en-US" sz="1000" dirty="0"/>
          </a:p>
        </p:txBody>
      </p:sp>
      <p:sp>
        <p:nvSpPr>
          <p:cNvPr id="22" name="Text 20"/>
          <p:cNvSpPr/>
          <p:nvPr/>
        </p:nvSpPr>
        <p:spPr>
          <a:xfrm>
            <a:off x="5586984" y="3493008"/>
            <a:ext cx="109728" cy="274320"/>
          </a:xfrm>
          <a:prstGeom prst="rect">
            <a:avLst/>
          </a:prstGeom>
          <a:noFill/>
          <a:ln/>
        </p:spPr>
        <p:txBody>
          <a:bodyPr wrap="square" lIns="0" tIns="0" rIns="0" bIns="0" rtlCol="0" anchor="ctr"/>
          <a:lstStyle/>
          <a:p>
            <a:pPr marL="0" indent="0" algn="ctr">
              <a:buNone/>
            </a:pPr>
            <a:r>
              <a:rPr lang="en-US" sz="1200" dirty="0">
                <a:solidFill>
                  <a:srgbClr val="2E3D7C"/>
                </a:solidFill>
                <a:latin typeface="Calibri" pitchFamily="34" charset="0"/>
                <a:ea typeface="Calibri" pitchFamily="34" charset="-122"/>
                <a:cs typeface="Calibri" pitchFamily="34" charset="-120"/>
              </a:rPr>
              <a:t>→</a:t>
            </a:r>
            <a:endParaRPr lang="en-US" sz="1200" dirty="0"/>
          </a:p>
        </p:txBody>
      </p:sp>
      <p:sp>
        <p:nvSpPr>
          <p:cNvPr id="23" name="Shape 21"/>
          <p:cNvSpPr/>
          <p:nvPr/>
        </p:nvSpPr>
        <p:spPr>
          <a:xfrm>
            <a:off x="5660136" y="3246120"/>
            <a:ext cx="1261872" cy="868680"/>
          </a:xfrm>
          <a:prstGeom prst="roundRect">
            <a:avLst>
              <a:gd name="adj" fmla="val 8421"/>
            </a:avLst>
          </a:prstGeom>
          <a:solidFill>
            <a:srgbClr val="E8EDF8"/>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24" name="Text 22"/>
          <p:cNvSpPr/>
          <p:nvPr/>
        </p:nvSpPr>
        <p:spPr>
          <a:xfrm>
            <a:off x="5660136" y="3291840"/>
            <a:ext cx="1261872" cy="347472"/>
          </a:xfrm>
          <a:prstGeom prst="rect">
            <a:avLst/>
          </a:prstGeom>
          <a:noFill/>
          <a:ln/>
        </p:spPr>
        <p:txBody>
          <a:bodyPr wrap="square" lIns="0" tIns="0" rIns="0" bIns="0" rtlCol="0" anchor="ctr"/>
          <a:lstStyle/>
          <a:p>
            <a:pPr marL="0" indent="0" algn="ctr">
              <a:buNone/>
            </a:pPr>
            <a:r>
              <a:rPr lang="en-US" sz="2200" b="1" dirty="0">
                <a:solidFill>
                  <a:srgbClr val="5A6080"/>
                </a:solidFill>
                <a:latin typeface="Cambria" pitchFamily="34" charset="0"/>
                <a:ea typeface="Cambria" pitchFamily="34" charset="-122"/>
                <a:cs typeface="Cambria" pitchFamily="34" charset="-120"/>
              </a:rPr>
              <a:t>5</a:t>
            </a:r>
            <a:endParaRPr lang="en-US" sz="2200" dirty="0"/>
          </a:p>
        </p:txBody>
      </p:sp>
      <p:sp>
        <p:nvSpPr>
          <p:cNvPr id="25" name="Text 23"/>
          <p:cNvSpPr/>
          <p:nvPr/>
        </p:nvSpPr>
        <p:spPr>
          <a:xfrm>
            <a:off x="5660136" y="3639312"/>
            <a:ext cx="1261872" cy="438912"/>
          </a:xfrm>
          <a:prstGeom prst="rect">
            <a:avLst/>
          </a:prstGeom>
          <a:noFill/>
          <a:ln/>
        </p:spPr>
        <p:txBody>
          <a:bodyPr wrap="square" lIns="25400" tIns="50800" rIns="50800" bIns="0" rtlCol="0" anchor="t"/>
          <a:lstStyle/>
          <a:p>
            <a:pPr marL="0" indent="0" algn="ctr">
              <a:buNone/>
            </a:pPr>
            <a:r>
              <a:rPr lang="en-US" sz="1000" dirty="0">
                <a:solidFill>
                  <a:srgbClr val="5A6080"/>
                </a:solidFill>
                <a:latin typeface="Calibri" pitchFamily="34" charset="0"/>
                <a:ea typeface="Calibri" pitchFamily="34" charset="-122"/>
                <a:cs typeface="Calibri" pitchFamily="34" charset="-120"/>
              </a:rPr>
              <a:t>Evaluation</a:t>
            </a:r>
            <a:endParaRPr lang="en-US" sz="1000" dirty="0"/>
          </a:p>
        </p:txBody>
      </p:sp>
      <p:sp>
        <p:nvSpPr>
          <p:cNvPr id="26" name="Text 24"/>
          <p:cNvSpPr/>
          <p:nvPr/>
        </p:nvSpPr>
        <p:spPr>
          <a:xfrm>
            <a:off x="6922008" y="3493008"/>
            <a:ext cx="109728" cy="274320"/>
          </a:xfrm>
          <a:prstGeom prst="rect">
            <a:avLst/>
          </a:prstGeom>
          <a:noFill/>
          <a:ln/>
        </p:spPr>
        <p:txBody>
          <a:bodyPr wrap="square" lIns="0" tIns="0" rIns="0" bIns="0" rtlCol="0" anchor="ctr"/>
          <a:lstStyle/>
          <a:p>
            <a:pPr marL="0" indent="0" algn="ctr">
              <a:buNone/>
            </a:pPr>
            <a:r>
              <a:rPr lang="en-US" sz="1200" dirty="0">
                <a:solidFill>
                  <a:srgbClr val="2E3D7C"/>
                </a:solidFill>
                <a:latin typeface="Calibri" pitchFamily="34" charset="0"/>
                <a:ea typeface="Calibri" pitchFamily="34" charset="-122"/>
                <a:cs typeface="Calibri" pitchFamily="34" charset="-120"/>
              </a:rPr>
              <a:t>→</a:t>
            </a:r>
            <a:endParaRPr lang="en-US" sz="1200" dirty="0"/>
          </a:p>
        </p:txBody>
      </p:sp>
      <p:sp>
        <p:nvSpPr>
          <p:cNvPr id="27" name="Shape 25"/>
          <p:cNvSpPr/>
          <p:nvPr/>
        </p:nvSpPr>
        <p:spPr>
          <a:xfrm>
            <a:off x="6995160" y="3246120"/>
            <a:ext cx="1261872" cy="868680"/>
          </a:xfrm>
          <a:prstGeom prst="roundRect">
            <a:avLst>
              <a:gd name="adj" fmla="val 8421"/>
            </a:avLst>
          </a:prstGeom>
          <a:solidFill>
            <a:srgbClr val="E8EDF8"/>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28" name="Text 26"/>
          <p:cNvSpPr/>
          <p:nvPr/>
        </p:nvSpPr>
        <p:spPr>
          <a:xfrm>
            <a:off x="6995160" y="3291840"/>
            <a:ext cx="1261872" cy="347472"/>
          </a:xfrm>
          <a:prstGeom prst="rect">
            <a:avLst/>
          </a:prstGeom>
          <a:noFill/>
          <a:ln/>
        </p:spPr>
        <p:txBody>
          <a:bodyPr wrap="square" lIns="0" tIns="0" rIns="0" bIns="0" rtlCol="0" anchor="ctr"/>
          <a:lstStyle/>
          <a:p>
            <a:pPr marL="0" indent="0" algn="ctr">
              <a:buNone/>
            </a:pPr>
            <a:r>
              <a:rPr lang="en-US" sz="2200" b="1" dirty="0">
                <a:solidFill>
                  <a:srgbClr val="5A6080"/>
                </a:solidFill>
                <a:latin typeface="Cambria" pitchFamily="34" charset="0"/>
                <a:ea typeface="Cambria" pitchFamily="34" charset="-122"/>
                <a:cs typeface="Cambria" pitchFamily="34" charset="-120"/>
              </a:rPr>
              <a:t>6</a:t>
            </a:r>
            <a:endParaRPr lang="en-US" sz="2200" dirty="0"/>
          </a:p>
        </p:txBody>
      </p:sp>
      <p:sp>
        <p:nvSpPr>
          <p:cNvPr id="29" name="Text 27"/>
          <p:cNvSpPr/>
          <p:nvPr/>
        </p:nvSpPr>
        <p:spPr>
          <a:xfrm>
            <a:off x="6995160" y="3639312"/>
            <a:ext cx="1261872" cy="438912"/>
          </a:xfrm>
          <a:prstGeom prst="rect">
            <a:avLst/>
          </a:prstGeom>
          <a:noFill/>
          <a:ln/>
        </p:spPr>
        <p:txBody>
          <a:bodyPr wrap="square" lIns="25400" tIns="50800" rIns="50800" bIns="0" rtlCol="0" anchor="t"/>
          <a:lstStyle/>
          <a:p>
            <a:pPr marL="0" indent="0" algn="ctr">
              <a:buNone/>
            </a:pPr>
            <a:r>
              <a:rPr lang="en-US" sz="1000" dirty="0">
                <a:solidFill>
                  <a:srgbClr val="5A6080"/>
                </a:solidFill>
                <a:latin typeface="Calibri" pitchFamily="34" charset="0"/>
                <a:ea typeface="Calibri" pitchFamily="34" charset="-122"/>
                <a:cs typeface="Calibri" pitchFamily="34" charset="-120"/>
              </a:rPr>
              <a:t>Communic-</a:t>
            </a:r>
            <a:endParaRPr lang="en-US" sz="1000" dirty="0"/>
          </a:p>
          <a:p>
            <a:pPr marL="0" indent="0" algn="ctr">
              <a:buNone/>
            </a:pPr>
            <a:r>
              <a:rPr lang="en-US" sz="1000" dirty="0">
                <a:solidFill>
                  <a:srgbClr val="5A6080"/>
                </a:solidFill>
                <a:latin typeface="Calibri" pitchFamily="34" charset="0"/>
                <a:ea typeface="Calibri" pitchFamily="34" charset="-122"/>
                <a:cs typeface="Calibri" pitchFamily="34" charset="-120"/>
              </a:rPr>
              <a:t>ation</a:t>
            </a:r>
            <a:endParaRPr lang="en-US" sz="1000" dirty="0"/>
          </a:p>
        </p:txBody>
      </p:sp>
      <p:sp>
        <p:nvSpPr>
          <p:cNvPr id="30" name="Text 28"/>
          <p:cNvSpPr/>
          <p:nvPr/>
        </p:nvSpPr>
        <p:spPr>
          <a:xfrm>
            <a:off x="411480" y="4754880"/>
            <a:ext cx="8321040" cy="256032"/>
          </a:xfrm>
          <a:prstGeom prst="rect">
            <a:avLst/>
          </a:prstGeom>
          <a:noFill/>
          <a:ln/>
        </p:spPr>
        <p:txBody>
          <a:bodyPr wrap="square" lIns="0" tIns="0" rIns="0" bIns="0" rtlCol="0" anchor="ctr"/>
          <a:lstStyle/>
          <a:p>
            <a:pPr marL="0" indent="0" algn="ctr">
              <a:buNone/>
            </a:pPr>
            <a:r>
              <a:rPr lang="en-US" sz="1000" i="1" dirty="0">
                <a:solidFill>
                  <a:srgbClr val="5A6080"/>
                </a:solidFill>
                <a:latin typeface="Calibri" pitchFamily="34" charset="0"/>
                <a:ea typeface="Calibri" pitchFamily="34" charset="-122"/>
                <a:cs typeface="Calibri" pitchFamily="34" charset="-120"/>
              </a:rPr>
              <a:t>Activities 1–3 completed  |  Activities 4–6 in progress / planned</a:t>
            </a:r>
            <a:endParaRPr lang="en-US" sz="1000" dirty="0"/>
          </a:p>
        </p:txBody>
      </p:sp>
      <p:sp>
        <p:nvSpPr>
          <p:cNvPr id="31" name="Text 29"/>
          <p:cNvSpPr/>
          <p:nvPr/>
        </p:nvSpPr>
        <p:spPr>
          <a:xfrm>
            <a:off x="4572000" y="1024128"/>
            <a:ext cx="4160520" cy="347472"/>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Three Research Phases</a:t>
            </a:r>
            <a:endParaRPr lang="en-US" sz="1400" dirty="0"/>
          </a:p>
        </p:txBody>
      </p:sp>
      <p:sp>
        <p:nvSpPr>
          <p:cNvPr id="32" name="Shape 30"/>
          <p:cNvSpPr/>
          <p:nvPr/>
        </p:nvSpPr>
        <p:spPr>
          <a:xfrm>
            <a:off x="4572000" y="1417320"/>
            <a:ext cx="4160520" cy="365760"/>
          </a:xfrm>
          <a:prstGeom prst="roundRect">
            <a:avLst>
              <a:gd name="adj" fmla="val 20000"/>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33" name="Text 31"/>
          <p:cNvSpPr/>
          <p:nvPr/>
        </p:nvSpPr>
        <p:spPr>
          <a:xfrm>
            <a:off x="4645152" y="1435608"/>
            <a:ext cx="804672" cy="329184"/>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Phase 1</a:t>
            </a:r>
            <a:endParaRPr lang="en-US" sz="1000" dirty="0"/>
          </a:p>
        </p:txBody>
      </p:sp>
      <p:sp>
        <p:nvSpPr>
          <p:cNvPr id="34" name="Text 32"/>
          <p:cNvSpPr/>
          <p:nvPr/>
        </p:nvSpPr>
        <p:spPr>
          <a:xfrm>
            <a:off x="5504688" y="1435608"/>
            <a:ext cx="3154680" cy="329184"/>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Framework Design &amp; Specification</a:t>
            </a:r>
            <a:endParaRPr lang="en-US" sz="1200" dirty="0"/>
          </a:p>
        </p:txBody>
      </p:sp>
      <p:sp>
        <p:nvSpPr>
          <p:cNvPr id="35" name="Shape 33"/>
          <p:cNvSpPr/>
          <p:nvPr/>
        </p:nvSpPr>
        <p:spPr>
          <a:xfrm>
            <a:off x="4572000" y="1856232"/>
            <a:ext cx="4160520" cy="365760"/>
          </a:xfrm>
          <a:prstGeom prst="roundRect">
            <a:avLst>
              <a:gd name="adj" fmla="val 20000"/>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36" name="Text 34"/>
          <p:cNvSpPr/>
          <p:nvPr/>
        </p:nvSpPr>
        <p:spPr>
          <a:xfrm>
            <a:off x="4645152" y="1874520"/>
            <a:ext cx="804672" cy="329184"/>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Phase 2</a:t>
            </a:r>
            <a:endParaRPr lang="en-US" sz="1000" dirty="0"/>
          </a:p>
        </p:txBody>
      </p:sp>
      <p:sp>
        <p:nvSpPr>
          <p:cNvPr id="37" name="Text 35"/>
          <p:cNvSpPr/>
          <p:nvPr/>
        </p:nvSpPr>
        <p:spPr>
          <a:xfrm>
            <a:off x="5504688" y="1874520"/>
            <a:ext cx="3154680" cy="329184"/>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GRU Model Training &amp; Algorithm Implementation</a:t>
            </a:r>
            <a:endParaRPr lang="en-US" sz="1200" dirty="0"/>
          </a:p>
        </p:txBody>
      </p:sp>
      <p:sp>
        <p:nvSpPr>
          <p:cNvPr id="38" name="Shape 36"/>
          <p:cNvSpPr/>
          <p:nvPr/>
        </p:nvSpPr>
        <p:spPr>
          <a:xfrm>
            <a:off x="4572000" y="2295144"/>
            <a:ext cx="4160520" cy="365760"/>
          </a:xfrm>
          <a:prstGeom prst="roundRect">
            <a:avLst>
              <a:gd name="adj" fmla="val 20000"/>
            </a:avLst>
          </a:prstGeom>
          <a:solidFill>
            <a:srgbClr val="F5F5F5"/>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39" name="Text 37"/>
          <p:cNvSpPr/>
          <p:nvPr/>
        </p:nvSpPr>
        <p:spPr>
          <a:xfrm>
            <a:off x="4645152" y="2313432"/>
            <a:ext cx="804672" cy="329184"/>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Phase 3</a:t>
            </a:r>
            <a:endParaRPr lang="en-US" sz="1000" dirty="0"/>
          </a:p>
        </p:txBody>
      </p:sp>
      <p:sp>
        <p:nvSpPr>
          <p:cNvPr id="40" name="Text 38"/>
          <p:cNvSpPr/>
          <p:nvPr/>
        </p:nvSpPr>
        <p:spPr>
          <a:xfrm>
            <a:off x="5504688" y="2313432"/>
            <a:ext cx="3154680" cy="329184"/>
          </a:xfrm>
          <a:prstGeom prst="rect">
            <a:avLst/>
          </a:prstGeom>
          <a:noFill/>
          <a:ln/>
        </p:spPr>
        <p:txBody>
          <a:bodyPr wrap="square" lIns="0" tIns="0" rIns="0" bIns="0" rtlCol="0" anchor="ctr"/>
          <a:lstStyle/>
          <a:p>
            <a:pPr marL="0" indent="0">
              <a:buNone/>
            </a:pPr>
            <a:r>
              <a:rPr lang="en-US" sz="1200" dirty="0">
                <a:solidFill>
                  <a:srgbClr val="5A6080"/>
                </a:solidFill>
                <a:latin typeface="Calibri" pitchFamily="34" charset="0"/>
                <a:ea typeface="Calibri" pitchFamily="34" charset="-122"/>
                <a:cs typeface="Calibri" pitchFamily="34" charset="-120"/>
              </a:rPr>
              <a:t>Simulation-Based Evaluation (planned)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4F7FF"/>
        </a:solidFill>
        <a:effectLst/>
      </p:bgPr>
    </p:bg>
    <p:spTree>
      <p:nvGrpSpPr>
        <p:cNvPr id="1" name=""/>
        <p:cNvGrpSpPr/>
        <p:nvPr/>
      </p:nvGrpSpPr>
      <p:grpSpPr>
        <a:xfrm>
          <a:off x="0" y="0"/>
          <a:ext cx="0" cy="0"/>
          <a:chOff x="0" y="0"/>
          <a:chExt cx="0" cy="0"/>
        </a:xfrm>
      </p:grpSpPr>
      <p:sp>
        <p:nvSpPr>
          <p:cNvPr id="142" name="Text 0">
            <a:extLst>
              <a:ext uri="{FF2B5EF4-FFF2-40B4-BE49-F238E27FC236}">
                <a16:creationId xmlns:a16="http://schemas.microsoft.com/office/drawing/2014/main" id="{553E94CF-18E3-6693-B537-2D49C156E90A}"/>
              </a:ext>
            </a:extLst>
          </p:cNvPr>
          <p:cNvSpPr/>
          <p:nvPr/>
        </p:nvSpPr>
        <p:spPr>
          <a:xfrm>
            <a:off x="411480" y="201168"/>
            <a:ext cx="8321040" cy="566928"/>
          </a:xfrm>
          <a:prstGeom prst="rect">
            <a:avLst/>
          </a:prstGeom>
          <a:noFill/>
          <a:ln/>
        </p:spPr>
        <p:txBody>
          <a:bodyPr wrap="square" lIns="0" tIns="0" rIns="0" bIns="0" rtlCol="0" anchor="ctr"/>
          <a:lstStyle/>
          <a:p>
            <a:pPr marL="0" indent="0" algn="l">
              <a:buNone/>
            </a:pPr>
            <a:r>
              <a:rPr lang="en-US" sz="2500" b="1" dirty="0">
                <a:solidFill>
                  <a:srgbClr val="1E2761"/>
                </a:solidFill>
                <a:latin typeface="Cambria" pitchFamily="34" charset="0"/>
                <a:ea typeface="Cambria" pitchFamily="34" charset="-122"/>
                <a:cs typeface="Cambria" pitchFamily="34" charset="-120"/>
              </a:rPr>
              <a:t>Data Processing &amp; Analysis</a:t>
            </a:r>
            <a:endParaRPr lang="en-US" sz="2500" dirty="0"/>
          </a:p>
        </p:txBody>
      </p:sp>
      <p:sp>
        <p:nvSpPr>
          <p:cNvPr id="144" name="Shape 1">
            <a:extLst>
              <a:ext uri="{FF2B5EF4-FFF2-40B4-BE49-F238E27FC236}">
                <a16:creationId xmlns:a16="http://schemas.microsoft.com/office/drawing/2014/main" id="{AA4035D9-E699-6C8E-E55C-D06AEA73A72E}"/>
              </a:ext>
            </a:extLst>
          </p:cNvPr>
          <p:cNvSpPr/>
          <p:nvPr/>
        </p:nvSpPr>
        <p:spPr>
          <a:xfrm>
            <a:off x="411480" y="841248"/>
            <a:ext cx="8321040" cy="32004"/>
          </a:xfrm>
          <a:prstGeom prst="rect">
            <a:avLst/>
          </a:prstGeom>
          <a:solidFill>
            <a:srgbClr val="CADCFC"/>
          </a:solidFill>
          <a:ln/>
        </p:spPr>
        <p:txBody>
          <a:bodyPr/>
          <a:lstStyle/>
          <a:p>
            <a:endParaRPr lang="en-KE"/>
          </a:p>
        </p:txBody>
      </p:sp>
      <p:sp>
        <p:nvSpPr>
          <p:cNvPr id="146" name="Shape 2">
            <a:extLst>
              <a:ext uri="{FF2B5EF4-FFF2-40B4-BE49-F238E27FC236}">
                <a16:creationId xmlns:a16="http://schemas.microsoft.com/office/drawing/2014/main" id="{248CA716-8653-50F9-4EE6-6F3138CA4DEB}"/>
              </a:ext>
            </a:extLst>
          </p:cNvPr>
          <p:cNvSpPr/>
          <p:nvPr/>
        </p:nvSpPr>
        <p:spPr>
          <a:xfrm>
            <a:off x="320040" y="960120"/>
            <a:ext cx="1874520" cy="914400"/>
          </a:xfrm>
          <a:prstGeom prst="roundRect">
            <a:avLst>
              <a:gd name="adj" fmla="val 7000"/>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48" name="Text 3">
            <a:extLst>
              <a:ext uri="{FF2B5EF4-FFF2-40B4-BE49-F238E27FC236}">
                <a16:creationId xmlns:a16="http://schemas.microsoft.com/office/drawing/2014/main" id="{2F019077-1602-6ADA-068D-F203028A8EAD}"/>
              </a:ext>
            </a:extLst>
          </p:cNvPr>
          <p:cNvSpPr/>
          <p:nvPr/>
        </p:nvSpPr>
        <p:spPr>
          <a:xfrm>
            <a:off x="320040" y="1014984"/>
            <a:ext cx="1874520" cy="502920"/>
          </a:xfrm>
          <a:prstGeom prst="rect">
            <a:avLst/>
          </a:prstGeom>
          <a:noFill/>
          <a:ln/>
        </p:spPr>
        <p:txBody>
          <a:bodyPr wrap="square" lIns="0" tIns="0" rIns="0" bIns="0" rtlCol="0" anchor="b"/>
          <a:lstStyle/>
          <a:p>
            <a:pPr marL="0" indent="0" algn="ctr">
              <a:buNone/>
            </a:pPr>
            <a:r>
              <a:rPr lang="en-US" sz="2600" b="1" dirty="0">
                <a:solidFill>
                  <a:srgbClr val="1E2761"/>
                </a:solidFill>
                <a:latin typeface="Cambria" pitchFamily="34" charset="0"/>
                <a:ea typeface="Cambria" pitchFamily="34" charset="-122"/>
                <a:cs typeface="Cambria" pitchFamily="34" charset="-120"/>
              </a:rPr>
              <a:t>207</a:t>
            </a:r>
            <a:endParaRPr lang="en-US" sz="2600" dirty="0"/>
          </a:p>
        </p:txBody>
      </p:sp>
      <p:sp>
        <p:nvSpPr>
          <p:cNvPr id="150" name="Text 4">
            <a:extLst>
              <a:ext uri="{FF2B5EF4-FFF2-40B4-BE49-F238E27FC236}">
                <a16:creationId xmlns:a16="http://schemas.microsoft.com/office/drawing/2014/main" id="{7B1D62E1-63EF-8D7F-6202-BA9C3FA36E6E}"/>
              </a:ext>
            </a:extLst>
          </p:cNvPr>
          <p:cNvSpPr/>
          <p:nvPr/>
        </p:nvSpPr>
        <p:spPr>
          <a:xfrm>
            <a:off x="320040" y="1463040"/>
            <a:ext cx="1874520" cy="384048"/>
          </a:xfrm>
          <a:prstGeom prst="rect">
            <a:avLst/>
          </a:prstGeom>
          <a:noFill/>
          <a:ln/>
        </p:spPr>
        <p:txBody>
          <a:bodyPr wrap="square" lIns="0" tIns="0" rIns="0" bIns="0" rtlCol="0" anchor="t"/>
          <a:lstStyle/>
          <a:p>
            <a:pPr marL="0" indent="0" algn="ctr">
              <a:buNone/>
            </a:pPr>
            <a:r>
              <a:rPr lang="en-US" sz="1050" dirty="0">
                <a:solidFill>
                  <a:srgbClr val="5A6080"/>
                </a:solidFill>
                <a:latin typeface="Calibri" pitchFamily="34" charset="0"/>
                <a:ea typeface="Calibri" pitchFamily="34" charset="-122"/>
                <a:cs typeface="Calibri" pitchFamily="34" charset="-120"/>
              </a:rPr>
              <a:t>METR-LA</a:t>
            </a:r>
            <a:endParaRPr lang="en-US" sz="1050" dirty="0"/>
          </a:p>
          <a:p>
            <a:pPr marL="0" indent="0" algn="ctr">
              <a:buNone/>
            </a:pPr>
            <a:r>
              <a:rPr lang="en-US" sz="1050" dirty="0">
                <a:solidFill>
                  <a:srgbClr val="5A6080"/>
                </a:solidFill>
                <a:latin typeface="Calibri" pitchFamily="34" charset="0"/>
                <a:ea typeface="Calibri" pitchFamily="34" charset="-122"/>
                <a:cs typeface="Calibri" pitchFamily="34" charset="-120"/>
              </a:rPr>
              <a:t>Sensors</a:t>
            </a:r>
            <a:endParaRPr lang="en-US" sz="1050" dirty="0"/>
          </a:p>
        </p:txBody>
      </p:sp>
      <p:sp>
        <p:nvSpPr>
          <p:cNvPr id="152" name="Shape 5">
            <a:extLst>
              <a:ext uri="{FF2B5EF4-FFF2-40B4-BE49-F238E27FC236}">
                <a16:creationId xmlns:a16="http://schemas.microsoft.com/office/drawing/2014/main" id="{460623E4-A9D8-CF0A-E13C-0DCF38C6AB78}"/>
              </a:ext>
            </a:extLst>
          </p:cNvPr>
          <p:cNvSpPr/>
          <p:nvPr/>
        </p:nvSpPr>
        <p:spPr>
          <a:xfrm>
            <a:off x="2395728" y="960120"/>
            <a:ext cx="1874520" cy="914400"/>
          </a:xfrm>
          <a:prstGeom prst="roundRect">
            <a:avLst>
              <a:gd name="adj" fmla="val 7000"/>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54" name="Text 6">
            <a:extLst>
              <a:ext uri="{FF2B5EF4-FFF2-40B4-BE49-F238E27FC236}">
                <a16:creationId xmlns:a16="http://schemas.microsoft.com/office/drawing/2014/main" id="{627ECF33-B1C0-1CD3-A000-95E31DC40EF5}"/>
              </a:ext>
            </a:extLst>
          </p:cNvPr>
          <p:cNvSpPr/>
          <p:nvPr/>
        </p:nvSpPr>
        <p:spPr>
          <a:xfrm>
            <a:off x="2395728" y="1014984"/>
            <a:ext cx="1874520" cy="502920"/>
          </a:xfrm>
          <a:prstGeom prst="rect">
            <a:avLst/>
          </a:prstGeom>
          <a:noFill/>
          <a:ln/>
        </p:spPr>
        <p:txBody>
          <a:bodyPr wrap="square" lIns="0" tIns="0" rIns="0" bIns="0" rtlCol="0" anchor="b"/>
          <a:lstStyle/>
          <a:p>
            <a:pPr marL="0" indent="0" algn="ctr">
              <a:buNone/>
            </a:pPr>
            <a:r>
              <a:rPr lang="en-US" sz="2600" b="1" dirty="0">
                <a:solidFill>
                  <a:srgbClr val="1E2761"/>
                </a:solidFill>
                <a:latin typeface="Cambria" pitchFamily="34" charset="0"/>
                <a:ea typeface="Cambria" pitchFamily="34" charset="-122"/>
                <a:cs typeface="Cambria" pitchFamily="34" charset="-120"/>
              </a:rPr>
              <a:t>34,254</a:t>
            </a:r>
            <a:endParaRPr lang="en-US" sz="2600" dirty="0"/>
          </a:p>
        </p:txBody>
      </p:sp>
      <p:sp>
        <p:nvSpPr>
          <p:cNvPr id="156" name="Text 7">
            <a:extLst>
              <a:ext uri="{FF2B5EF4-FFF2-40B4-BE49-F238E27FC236}">
                <a16:creationId xmlns:a16="http://schemas.microsoft.com/office/drawing/2014/main" id="{59D03AB1-94EE-80CD-32CB-928834518058}"/>
              </a:ext>
            </a:extLst>
          </p:cNvPr>
          <p:cNvSpPr/>
          <p:nvPr/>
        </p:nvSpPr>
        <p:spPr>
          <a:xfrm>
            <a:off x="2395728" y="1463040"/>
            <a:ext cx="1874520" cy="384048"/>
          </a:xfrm>
          <a:prstGeom prst="rect">
            <a:avLst/>
          </a:prstGeom>
          <a:noFill/>
          <a:ln/>
        </p:spPr>
        <p:txBody>
          <a:bodyPr wrap="square" lIns="0" tIns="0" rIns="0" bIns="0" rtlCol="0" anchor="t"/>
          <a:lstStyle/>
          <a:p>
            <a:pPr marL="0" indent="0" algn="ctr">
              <a:buNone/>
            </a:pPr>
            <a:r>
              <a:rPr lang="en-US" sz="1050" dirty="0">
                <a:solidFill>
                  <a:srgbClr val="5A6080"/>
                </a:solidFill>
                <a:latin typeface="Calibri" pitchFamily="34" charset="0"/>
                <a:ea typeface="Calibri" pitchFamily="34" charset="-122"/>
                <a:cs typeface="Calibri" pitchFamily="34" charset="-120"/>
              </a:rPr>
              <a:t>Time steps</a:t>
            </a:r>
            <a:endParaRPr lang="en-US" sz="1050" dirty="0"/>
          </a:p>
          <a:p>
            <a:pPr marL="0" indent="0" algn="ctr">
              <a:buNone/>
            </a:pPr>
            <a:r>
              <a:rPr lang="en-US" sz="1050" dirty="0">
                <a:solidFill>
                  <a:srgbClr val="5A6080"/>
                </a:solidFill>
                <a:latin typeface="Calibri" pitchFamily="34" charset="0"/>
                <a:ea typeface="Calibri" pitchFamily="34" charset="-122"/>
                <a:cs typeface="Calibri" pitchFamily="34" charset="-120"/>
              </a:rPr>
              <a:t>(5-min intervals)</a:t>
            </a:r>
            <a:endParaRPr lang="en-US" sz="1050" dirty="0"/>
          </a:p>
        </p:txBody>
      </p:sp>
      <p:sp>
        <p:nvSpPr>
          <p:cNvPr id="158" name="Shape 8">
            <a:extLst>
              <a:ext uri="{FF2B5EF4-FFF2-40B4-BE49-F238E27FC236}">
                <a16:creationId xmlns:a16="http://schemas.microsoft.com/office/drawing/2014/main" id="{D5AB195C-AC13-6BDA-C4AF-A39319095690}"/>
              </a:ext>
            </a:extLst>
          </p:cNvPr>
          <p:cNvSpPr/>
          <p:nvPr/>
        </p:nvSpPr>
        <p:spPr>
          <a:xfrm>
            <a:off x="4471416" y="960120"/>
            <a:ext cx="1874520" cy="914400"/>
          </a:xfrm>
          <a:prstGeom prst="roundRect">
            <a:avLst>
              <a:gd name="adj" fmla="val 7000"/>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60" name="Text 9">
            <a:extLst>
              <a:ext uri="{FF2B5EF4-FFF2-40B4-BE49-F238E27FC236}">
                <a16:creationId xmlns:a16="http://schemas.microsoft.com/office/drawing/2014/main" id="{C180993B-1DD3-956F-0BBB-88FD18843392}"/>
              </a:ext>
            </a:extLst>
          </p:cNvPr>
          <p:cNvSpPr/>
          <p:nvPr/>
        </p:nvSpPr>
        <p:spPr>
          <a:xfrm>
            <a:off x="4471416" y="1014984"/>
            <a:ext cx="1874520" cy="502920"/>
          </a:xfrm>
          <a:prstGeom prst="rect">
            <a:avLst/>
          </a:prstGeom>
          <a:noFill/>
          <a:ln/>
        </p:spPr>
        <p:txBody>
          <a:bodyPr wrap="square" lIns="0" tIns="0" rIns="0" bIns="0" rtlCol="0" anchor="b"/>
          <a:lstStyle/>
          <a:p>
            <a:pPr marL="0" indent="0" algn="ctr">
              <a:buNone/>
            </a:pPr>
            <a:r>
              <a:rPr lang="en-US" sz="2600" b="1" dirty="0">
                <a:solidFill>
                  <a:srgbClr val="1E2761"/>
                </a:solidFill>
                <a:latin typeface="Cambria" pitchFamily="34" charset="0"/>
                <a:ea typeface="Cambria" pitchFamily="34" charset="-122"/>
                <a:cs typeface="Cambria" pitchFamily="34" charset="-120"/>
              </a:rPr>
              <a:t>70/15/15</a:t>
            </a:r>
            <a:endParaRPr lang="en-US" sz="2600" dirty="0"/>
          </a:p>
        </p:txBody>
      </p:sp>
      <p:sp>
        <p:nvSpPr>
          <p:cNvPr id="162" name="Text 10">
            <a:extLst>
              <a:ext uri="{FF2B5EF4-FFF2-40B4-BE49-F238E27FC236}">
                <a16:creationId xmlns:a16="http://schemas.microsoft.com/office/drawing/2014/main" id="{84649C3F-4F5D-4619-A50C-36B4027370C6}"/>
              </a:ext>
            </a:extLst>
          </p:cNvPr>
          <p:cNvSpPr/>
          <p:nvPr/>
        </p:nvSpPr>
        <p:spPr>
          <a:xfrm>
            <a:off x="4471416" y="1463040"/>
            <a:ext cx="1874520" cy="384048"/>
          </a:xfrm>
          <a:prstGeom prst="rect">
            <a:avLst/>
          </a:prstGeom>
          <a:noFill/>
          <a:ln/>
        </p:spPr>
        <p:txBody>
          <a:bodyPr wrap="square" lIns="0" tIns="0" rIns="0" bIns="0" rtlCol="0" anchor="t"/>
          <a:lstStyle/>
          <a:p>
            <a:pPr marL="0" indent="0" algn="ctr">
              <a:buNone/>
            </a:pPr>
            <a:r>
              <a:rPr lang="en-US" sz="1050" dirty="0">
                <a:solidFill>
                  <a:srgbClr val="5A6080"/>
                </a:solidFill>
                <a:latin typeface="Calibri" pitchFamily="34" charset="0"/>
                <a:ea typeface="Calibri" pitchFamily="34" charset="-122"/>
                <a:cs typeface="Calibri" pitchFamily="34" charset="-120"/>
              </a:rPr>
              <a:t>Train / Val /</a:t>
            </a:r>
            <a:endParaRPr lang="en-US" sz="1050" dirty="0"/>
          </a:p>
          <a:p>
            <a:pPr marL="0" indent="0" algn="ctr">
              <a:buNone/>
            </a:pPr>
            <a:r>
              <a:rPr lang="en-US" sz="1050" dirty="0">
                <a:solidFill>
                  <a:srgbClr val="5A6080"/>
                </a:solidFill>
                <a:latin typeface="Calibri" pitchFamily="34" charset="0"/>
                <a:ea typeface="Calibri" pitchFamily="34" charset="-122"/>
                <a:cs typeface="Calibri" pitchFamily="34" charset="-120"/>
              </a:rPr>
              <a:t>Test split</a:t>
            </a:r>
            <a:endParaRPr lang="en-US" sz="1050" dirty="0"/>
          </a:p>
        </p:txBody>
      </p:sp>
      <p:sp>
        <p:nvSpPr>
          <p:cNvPr id="164" name="Shape 11">
            <a:extLst>
              <a:ext uri="{FF2B5EF4-FFF2-40B4-BE49-F238E27FC236}">
                <a16:creationId xmlns:a16="http://schemas.microsoft.com/office/drawing/2014/main" id="{58BAE5DE-2533-BE35-19BB-F74A5F19E13F}"/>
              </a:ext>
            </a:extLst>
          </p:cNvPr>
          <p:cNvSpPr/>
          <p:nvPr/>
        </p:nvSpPr>
        <p:spPr>
          <a:xfrm>
            <a:off x="6547104" y="960120"/>
            <a:ext cx="1874520" cy="914400"/>
          </a:xfrm>
          <a:prstGeom prst="roundRect">
            <a:avLst>
              <a:gd name="adj" fmla="val 7000"/>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66" name="Text 12">
            <a:extLst>
              <a:ext uri="{FF2B5EF4-FFF2-40B4-BE49-F238E27FC236}">
                <a16:creationId xmlns:a16="http://schemas.microsoft.com/office/drawing/2014/main" id="{DA61A97C-584F-7D0F-4D0A-7C501EA6CAD9}"/>
              </a:ext>
            </a:extLst>
          </p:cNvPr>
          <p:cNvSpPr/>
          <p:nvPr/>
        </p:nvSpPr>
        <p:spPr>
          <a:xfrm>
            <a:off x="6547104" y="1014984"/>
            <a:ext cx="1874520" cy="502920"/>
          </a:xfrm>
          <a:prstGeom prst="rect">
            <a:avLst/>
          </a:prstGeom>
          <a:noFill/>
          <a:ln/>
        </p:spPr>
        <p:txBody>
          <a:bodyPr wrap="square" lIns="0" tIns="0" rIns="0" bIns="0" rtlCol="0" anchor="b"/>
          <a:lstStyle/>
          <a:p>
            <a:pPr marL="0" indent="0" algn="ctr">
              <a:buNone/>
            </a:pPr>
            <a:r>
              <a:rPr lang="en-US" sz="2600" b="1" dirty="0">
                <a:solidFill>
                  <a:srgbClr val="1E2761"/>
                </a:solidFill>
                <a:latin typeface="Cambria" pitchFamily="34" charset="0"/>
                <a:ea typeface="Cambria" pitchFamily="34" charset="-122"/>
                <a:cs typeface="Cambria" pitchFamily="34" charset="-120"/>
              </a:rPr>
              <a:t>12 steps</a:t>
            </a:r>
            <a:endParaRPr lang="en-US" sz="2600" dirty="0"/>
          </a:p>
        </p:txBody>
      </p:sp>
      <p:sp>
        <p:nvSpPr>
          <p:cNvPr id="168" name="Text 13">
            <a:extLst>
              <a:ext uri="{FF2B5EF4-FFF2-40B4-BE49-F238E27FC236}">
                <a16:creationId xmlns:a16="http://schemas.microsoft.com/office/drawing/2014/main" id="{E0E17E06-7685-A815-E388-68CE8149C3EC}"/>
              </a:ext>
            </a:extLst>
          </p:cNvPr>
          <p:cNvSpPr/>
          <p:nvPr/>
        </p:nvSpPr>
        <p:spPr>
          <a:xfrm>
            <a:off x="6547104" y="1463040"/>
            <a:ext cx="1874520" cy="384048"/>
          </a:xfrm>
          <a:prstGeom prst="rect">
            <a:avLst/>
          </a:prstGeom>
          <a:noFill/>
          <a:ln/>
        </p:spPr>
        <p:txBody>
          <a:bodyPr wrap="square" lIns="0" tIns="0" rIns="0" bIns="0" rtlCol="0" anchor="t"/>
          <a:lstStyle/>
          <a:p>
            <a:pPr marL="0" indent="0" algn="ctr">
              <a:buNone/>
            </a:pPr>
            <a:r>
              <a:rPr lang="en-US" sz="1050" dirty="0">
                <a:solidFill>
                  <a:srgbClr val="5A6080"/>
                </a:solidFill>
                <a:latin typeface="Calibri" pitchFamily="34" charset="0"/>
                <a:ea typeface="Calibri" pitchFamily="34" charset="-122"/>
                <a:cs typeface="Calibri" pitchFamily="34" charset="-120"/>
              </a:rPr>
              <a:t>Input window</a:t>
            </a:r>
            <a:endParaRPr lang="en-US" sz="1050" dirty="0"/>
          </a:p>
          <a:p>
            <a:pPr marL="0" indent="0" algn="ctr">
              <a:buNone/>
            </a:pPr>
            <a:r>
              <a:rPr lang="en-US" sz="1050" dirty="0">
                <a:solidFill>
                  <a:srgbClr val="5A6080"/>
                </a:solidFill>
                <a:latin typeface="Calibri" pitchFamily="34" charset="0"/>
                <a:ea typeface="Calibri" pitchFamily="34" charset="-122"/>
                <a:cs typeface="Calibri" pitchFamily="34" charset="-120"/>
              </a:rPr>
              <a:t>(60 minutes)</a:t>
            </a:r>
            <a:endParaRPr lang="en-US" sz="1050" dirty="0"/>
          </a:p>
        </p:txBody>
      </p:sp>
      <p:sp>
        <p:nvSpPr>
          <p:cNvPr id="170" name="Text 14">
            <a:extLst>
              <a:ext uri="{FF2B5EF4-FFF2-40B4-BE49-F238E27FC236}">
                <a16:creationId xmlns:a16="http://schemas.microsoft.com/office/drawing/2014/main" id="{D39F4225-67F3-7A04-0CB6-5A021C94B751}"/>
              </a:ext>
            </a:extLst>
          </p:cNvPr>
          <p:cNvSpPr/>
          <p:nvPr/>
        </p:nvSpPr>
        <p:spPr>
          <a:xfrm>
            <a:off x="411480" y="2029968"/>
            <a:ext cx="4846320" cy="310896"/>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Processing Pipeline</a:t>
            </a:r>
            <a:endParaRPr lang="en-US" sz="1350" dirty="0"/>
          </a:p>
        </p:txBody>
      </p:sp>
      <p:sp>
        <p:nvSpPr>
          <p:cNvPr id="172" name="Shape 15">
            <a:extLst>
              <a:ext uri="{FF2B5EF4-FFF2-40B4-BE49-F238E27FC236}">
                <a16:creationId xmlns:a16="http://schemas.microsoft.com/office/drawing/2014/main" id="{D95C162F-EF58-363C-3DA4-FBC40CE907E8}"/>
              </a:ext>
            </a:extLst>
          </p:cNvPr>
          <p:cNvSpPr/>
          <p:nvPr/>
        </p:nvSpPr>
        <p:spPr>
          <a:xfrm>
            <a:off x="320040" y="2395728"/>
            <a:ext cx="1207008" cy="512064"/>
          </a:xfrm>
          <a:prstGeom prst="roundRect">
            <a:avLst>
              <a:gd name="adj" fmla="val 12500"/>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74" name="Text 16">
            <a:extLst>
              <a:ext uri="{FF2B5EF4-FFF2-40B4-BE49-F238E27FC236}">
                <a16:creationId xmlns:a16="http://schemas.microsoft.com/office/drawing/2014/main" id="{8206A3A7-482B-57CD-0D89-81C7C85A2774}"/>
              </a:ext>
            </a:extLst>
          </p:cNvPr>
          <p:cNvSpPr/>
          <p:nvPr/>
        </p:nvSpPr>
        <p:spPr>
          <a:xfrm>
            <a:off x="320040" y="2395728"/>
            <a:ext cx="1207008" cy="512064"/>
          </a:xfrm>
          <a:prstGeom prst="rect">
            <a:avLst/>
          </a:prstGeom>
          <a:noFill/>
          <a:ln/>
        </p:spPr>
        <p:txBody>
          <a:bodyPr wrap="square" lIns="25400" tIns="38100" rIns="38100" bIns="25400" rtlCol="0" anchor="ctr"/>
          <a:lstStyle/>
          <a:p>
            <a:pPr marL="0" indent="0" algn="ctr">
              <a:buNone/>
            </a:pPr>
            <a:r>
              <a:rPr lang="en-US" sz="950" dirty="0">
                <a:solidFill>
                  <a:srgbClr val="1E2761"/>
                </a:solidFill>
                <a:latin typeface="Calibri" pitchFamily="34" charset="0"/>
                <a:ea typeface="Calibri" pitchFamily="34" charset="-122"/>
                <a:cs typeface="Calibri" pitchFamily="34" charset="-120"/>
              </a:rPr>
              <a:t>Raw METR-LA Data</a:t>
            </a:r>
            <a:endParaRPr lang="en-US" sz="950" dirty="0"/>
          </a:p>
        </p:txBody>
      </p:sp>
      <p:sp>
        <p:nvSpPr>
          <p:cNvPr id="176" name="Text 17">
            <a:extLst>
              <a:ext uri="{FF2B5EF4-FFF2-40B4-BE49-F238E27FC236}">
                <a16:creationId xmlns:a16="http://schemas.microsoft.com/office/drawing/2014/main" id="{9D6308F4-3D31-900B-D7F7-93C23A2BC99C}"/>
              </a:ext>
            </a:extLst>
          </p:cNvPr>
          <p:cNvSpPr/>
          <p:nvPr/>
        </p:nvSpPr>
        <p:spPr>
          <a:xfrm>
            <a:off x="1527048" y="2514600"/>
            <a:ext cx="164592" cy="274320"/>
          </a:xfrm>
          <a:prstGeom prst="rect">
            <a:avLst/>
          </a:prstGeom>
          <a:noFill/>
          <a:ln/>
        </p:spPr>
        <p:txBody>
          <a:bodyPr wrap="square" lIns="0" tIns="0" rIns="0" bIns="0" rtlCol="0" anchor="ctr"/>
          <a:lstStyle/>
          <a:p>
            <a:pPr marL="0" indent="0" algn="ctr">
              <a:buNone/>
            </a:pPr>
            <a:r>
              <a:rPr lang="en-US" sz="1200" dirty="0">
                <a:solidFill>
                  <a:srgbClr val="2E3D7C"/>
                </a:solidFill>
                <a:latin typeface="Calibri" pitchFamily="34" charset="0"/>
                <a:ea typeface="Calibri" pitchFamily="34" charset="-122"/>
                <a:cs typeface="Calibri" pitchFamily="34" charset="-120"/>
              </a:rPr>
              <a:t>→</a:t>
            </a:r>
            <a:endParaRPr lang="en-US" sz="1200" dirty="0"/>
          </a:p>
        </p:txBody>
      </p:sp>
      <p:sp>
        <p:nvSpPr>
          <p:cNvPr id="178" name="Shape 18">
            <a:extLst>
              <a:ext uri="{FF2B5EF4-FFF2-40B4-BE49-F238E27FC236}">
                <a16:creationId xmlns:a16="http://schemas.microsoft.com/office/drawing/2014/main" id="{C1A3BC52-8291-BFA4-DB4D-2ED94424F30E}"/>
              </a:ext>
            </a:extLst>
          </p:cNvPr>
          <p:cNvSpPr/>
          <p:nvPr/>
        </p:nvSpPr>
        <p:spPr>
          <a:xfrm>
            <a:off x="1691640" y="2395728"/>
            <a:ext cx="1207008" cy="512064"/>
          </a:xfrm>
          <a:prstGeom prst="roundRect">
            <a:avLst>
              <a:gd name="adj" fmla="val 12500"/>
            </a:avLst>
          </a:prstGeom>
          <a:solidFill>
            <a:srgbClr val="EFFAF8"/>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80" name="Text 19">
            <a:extLst>
              <a:ext uri="{FF2B5EF4-FFF2-40B4-BE49-F238E27FC236}">
                <a16:creationId xmlns:a16="http://schemas.microsoft.com/office/drawing/2014/main" id="{C4F7E82A-64D9-7217-8F2D-A4A5CE84FD6B}"/>
              </a:ext>
            </a:extLst>
          </p:cNvPr>
          <p:cNvSpPr/>
          <p:nvPr/>
        </p:nvSpPr>
        <p:spPr>
          <a:xfrm>
            <a:off x="1691640" y="2395728"/>
            <a:ext cx="1207008" cy="512064"/>
          </a:xfrm>
          <a:prstGeom prst="rect">
            <a:avLst/>
          </a:prstGeom>
          <a:noFill/>
          <a:ln/>
        </p:spPr>
        <p:txBody>
          <a:bodyPr wrap="square" lIns="25400" tIns="38100" rIns="38100" bIns="25400" rtlCol="0" anchor="ctr"/>
          <a:lstStyle/>
          <a:p>
            <a:pPr marL="0" indent="0" algn="ctr">
              <a:buNone/>
            </a:pPr>
            <a:r>
              <a:rPr lang="en-US" sz="950" dirty="0">
                <a:solidFill>
                  <a:srgbClr val="1E2761"/>
                </a:solidFill>
                <a:latin typeface="Calibri" pitchFamily="34" charset="0"/>
                <a:ea typeface="Calibri" pitchFamily="34" charset="-122"/>
                <a:cs typeface="Calibri" pitchFamily="34" charset="-120"/>
              </a:rPr>
              <a:t>Imputation</a:t>
            </a:r>
            <a:endParaRPr lang="en-US" sz="950" dirty="0"/>
          </a:p>
        </p:txBody>
      </p:sp>
      <p:sp>
        <p:nvSpPr>
          <p:cNvPr id="182" name="Text 20">
            <a:extLst>
              <a:ext uri="{FF2B5EF4-FFF2-40B4-BE49-F238E27FC236}">
                <a16:creationId xmlns:a16="http://schemas.microsoft.com/office/drawing/2014/main" id="{D076F4CA-722A-146D-49C4-DC41F83653A5}"/>
              </a:ext>
            </a:extLst>
          </p:cNvPr>
          <p:cNvSpPr/>
          <p:nvPr/>
        </p:nvSpPr>
        <p:spPr>
          <a:xfrm>
            <a:off x="2898648" y="2514600"/>
            <a:ext cx="164592" cy="274320"/>
          </a:xfrm>
          <a:prstGeom prst="rect">
            <a:avLst/>
          </a:prstGeom>
          <a:noFill/>
          <a:ln/>
        </p:spPr>
        <p:txBody>
          <a:bodyPr wrap="square" lIns="0" tIns="0" rIns="0" bIns="0" rtlCol="0" anchor="ctr"/>
          <a:lstStyle/>
          <a:p>
            <a:pPr marL="0" indent="0" algn="ctr">
              <a:buNone/>
            </a:pPr>
            <a:r>
              <a:rPr lang="en-US" sz="1200" dirty="0">
                <a:solidFill>
                  <a:srgbClr val="2E3D7C"/>
                </a:solidFill>
                <a:latin typeface="Calibri" pitchFamily="34" charset="0"/>
                <a:ea typeface="Calibri" pitchFamily="34" charset="-122"/>
                <a:cs typeface="Calibri" pitchFamily="34" charset="-120"/>
              </a:rPr>
              <a:t>→</a:t>
            </a:r>
            <a:endParaRPr lang="en-US" sz="1200" dirty="0"/>
          </a:p>
        </p:txBody>
      </p:sp>
      <p:sp>
        <p:nvSpPr>
          <p:cNvPr id="184" name="Shape 21">
            <a:extLst>
              <a:ext uri="{FF2B5EF4-FFF2-40B4-BE49-F238E27FC236}">
                <a16:creationId xmlns:a16="http://schemas.microsoft.com/office/drawing/2014/main" id="{B855E030-8295-F664-F533-47B7571270CD}"/>
              </a:ext>
            </a:extLst>
          </p:cNvPr>
          <p:cNvSpPr/>
          <p:nvPr/>
        </p:nvSpPr>
        <p:spPr>
          <a:xfrm>
            <a:off x="3063240" y="2395728"/>
            <a:ext cx="1207008" cy="512064"/>
          </a:xfrm>
          <a:prstGeom prst="roundRect">
            <a:avLst>
              <a:gd name="adj" fmla="val 12500"/>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86" name="Text 22">
            <a:extLst>
              <a:ext uri="{FF2B5EF4-FFF2-40B4-BE49-F238E27FC236}">
                <a16:creationId xmlns:a16="http://schemas.microsoft.com/office/drawing/2014/main" id="{3FA10DCC-7B2D-C07E-E844-AB18A23592D8}"/>
              </a:ext>
            </a:extLst>
          </p:cNvPr>
          <p:cNvSpPr/>
          <p:nvPr/>
        </p:nvSpPr>
        <p:spPr>
          <a:xfrm>
            <a:off x="3063240" y="2395728"/>
            <a:ext cx="1207008" cy="512064"/>
          </a:xfrm>
          <a:prstGeom prst="rect">
            <a:avLst/>
          </a:prstGeom>
          <a:noFill/>
          <a:ln/>
        </p:spPr>
        <p:txBody>
          <a:bodyPr wrap="square" lIns="25400" tIns="38100" rIns="38100" bIns="25400" rtlCol="0" anchor="ctr"/>
          <a:lstStyle/>
          <a:p>
            <a:pPr marL="0" indent="0" algn="ctr">
              <a:buNone/>
            </a:pPr>
            <a:r>
              <a:rPr lang="en-US" sz="950" dirty="0">
                <a:solidFill>
                  <a:srgbClr val="1E2761"/>
                </a:solidFill>
                <a:latin typeface="Calibri" pitchFamily="34" charset="0"/>
                <a:ea typeface="Calibri" pitchFamily="34" charset="-122"/>
                <a:cs typeface="Calibri" pitchFamily="34" charset="-120"/>
              </a:rPr>
              <a:t>MinMaxScaler</a:t>
            </a:r>
            <a:endParaRPr lang="en-US" sz="950" dirty="0"/>
          </a:p>
        </p:txBody>
      </p:sp>
      <p:sp>
        <p:nvSpPr>
          <p:cNvPr id="188" name="Text 23">
            <a:extLst>
              <a:ext uri="{FF2B5EF4-FFF2-40B4-BE49-F238E27FC236}">
                <a16:creationId xmlns:a16="http://schemas.microsoft.com/office/drawing/2014/main" id="{BD70167C-2593-ED1C-C519-3D11BBC60BEE}"/>
              </a:ext>
            </a:extLst>
          </p:cNvPr>
          <p:cNvSpPr/>
          <p:nvPr/>
        </p:nvSpPr>
        <p:spPr>
          <a:xfrm>
            <a:off x="4270248" y="2514600"/>
            <a:ext cx="164592" cy="274320"/>
          </a:xfrm>
          <a:prstGeom prst="rect">
            <a:avLst/>
          </a:prstGeom>
          <a:noFill/>
          <a:ln/>
        </p:spPr>
        <p:txBody>
          <a:bodyPr wrap="square" lIns="0" tIns="0" rIns="0" bIns="0" rtlCol="0" anchor="ctr"/>
          <a:lstStyle/>
          <a:p>
            <a:pPr marL="0" indent="0" algn="ctr">
              <a:buNone/>
            </a:pPr>
            <a:r>
              <a:rPr lang="en-US" sz="1200" dirty="0">
                <a:solidFill>
                  <a:srgbClr val="2E3D7C"/>
                </a:solidFill>
                <a:latin typeface="Calibri" pitchFamily="34" charset="0"/>
                <a:ea typeface="Calibri" pitchFamily="34" charset="-122"/>
                <a:cs typeface="Calibri" pitchFamily="34" charset="-120"/>
              </a:rPr>
              <a:t>→</a:t>
            </a:r>
            <a:endParaRPr lang="en-US" sz="1200" dirty="0"/>
          </a:p>
        </p:txBody>
      </p:sp>
      <p:sp>
        <p:nvSpPr>
          <p:cNvPr id="190" name="Shape 24">
            <a:extLst>
              <a:ext uri="{FF2B5EF4-FFF2-40B4-BE49-F238E27FC236}">
                <a16:creationId xmlns:a16="http://schemas.microsoft.com/office/drawing/2014/main" id="{2171EC69-A7CC-BC9A-554B-C3BC842CA3E9}"/>
              </a:ext>
            </a:extLst>
          </p:cNvPr>
          <p:cNvSpPr/>
          <p:nvPr/>
        </p:nvSpPr>
        <p:spPr>
          <a:xfrm>
            <a:off x="4434840" y="2395728"/>
            <a:ext cx="1207008" cy="512064"/>
          </a:xfrm>
          <a:prstGeom prst="roundRect">
            <a:avLst>
              <a:gd name="adj" fmla="val 12500"/>
            </a:avLst>
          </a:prstGeom>
          <a:solidFill>
            <a:srgbClr val="EFFAF8"/>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92" name="Text 25">
            <a:extLst>
              <a:ext uri="{FF2B5EF4-FFF2-40B4-BE49-F238E27FC236}">
                <a16:creationId xmlns:a16="http://schemas.microsoft.com/office/drawing/2014/main" id="{E62F1899-A349-5BE6-3083-FE22869BB9EE}"/>
              </a:ext>
            </a:extLst>
          </p:cNvPr>
          <p:cNvSpPr/>
          <p:nvPr/>
        </p:nvSpPr>
        <p:spPr>
          <a:xfrm>
            <a:off x="4434840" y="2395728"/>
            <a:ext cx="1207008" cy="512064"/>
          </a:xfrm>
          <a:prstGeom prst="rect">
            <a:avLst/>
          </a:prstGeom>
          <a:noFill/>
          <a:ln/>
        </p:spPr>
        <p:txBody>
          <a:bodyPr wrap="square" lIns="25400" tIns="38100" rIns="38100" bIns="25400" rtlCol="0" anchor="ctr"/>
          <a:lstStyle/>
          <a:p>
            <a:pPr marL="0" indent="0" algn="ctr">
              <a:buNone/>
            </a:pPr>
            <a:r>
              <a:rPr lang="en-US" sz="950" dirty="0">
                <a:solidFill>
                  <a:srgbClr val="1E2761"/>
                </a:solidFill>
                <a:latin typeface="Calibri" pitchFamily="34" charset="0"/>
                <a:ea typeface="Calibri" pitchFamily="34" charset="-122"/>
                <a:cs typeface="Calibri" pitchFamily="34" charset="-120"/>
              </a:rPr>
              <a:t>Sliding Window</a:t>
            </a:r>
            <a:endParaRPr lang="en-US" sz="950" dirty="0"/>
          </a:p>
          <a:p>
            <a:pPr marL="0" indent="0" algn="ctr">
              <a:buNone/>
            </a:pPr>
            <a:r>
              <a:rPr lang="en-US" sz="950" dirty="0">
                <a:solidFill>
                  <a:srgbClr val="1E2761"/>
                </a:solidFill>
                <a:latin typeface="Calibri" pitchFamily="34" charset="0"/>
                <a:ea typeface="Calibri" pitchFamily="34" charset="-122"/>
                <a:cs typeface="Calibri" pitchFamily="34" charset="-120"/>
              </a:rPr>
              <a:t>(12→6 steps)</a:t>
            </a:r>
            <a:endParaRPr lang="en-US" sz="950" dirty="0"/>
          </a:p>
        </p:txBody>
      </p:sp>
      <p:sp>
        <p:nvSpPr>
          <p:cNvPr id="194" name="Text 26">
            <a:extLst>
              <a:ext uri="{FF2B5EF4-FFF2-40B4-BE49-F238E27FC236}">
                <a16:creationId xmlns:a16="http://schemas.microsoft.com/office/drawing/2014/main" id="{DF0B084B-E2E5-2C75-B8FF-06FE0DCC6A4B}"/>
              </a:ext>
            </a:extLst>
          </p:cNvPr>
          <p:cNvSpPr/>
          <p:nvPr/>
        </p:nvSpPr>
        <p:spPr>
          <a:xfrm>
            <a:off x="5641848" y="2514600"/>
            <a:ext cx="164592" cy="274320"/>
          </a:xfrm>
          <a:prstGeom prst="rect">
            <a:avLst/>
          </a:prstGeom>
          <a:noFill/>
          <a:ln/>
        </p:spPr>
        <p:txBody>
          <a:bodyPr wrap="square" lIns="0" tIns="0" rIns="0" bIns="0" rtlCol="0" anchor="ctr"/>
          <a:lstStyle/>
          <a:p>
            <a:pPr marL="0" indent="0" algn="ctr">
              <a:buNone/>
            </a:pPr>
            <a:r>
              <a:rPr lang="en-US" sz="1200" dirty="0">
                <a:solidFill>
                  <a:srgbClr val="2E3D7C"/>
                </a:solidFill>
                <a:latin typeface="Calibri" pitchFamily="34" charset="0"/>
                <a:ea typeface="Calibri" pitchFamily="34" charset="-122"/>
                <a:cs typeface="Calibri" pitchFamily="34" charset="-120"/>
              </a:rPr>
              <a:t>→</a:t>
            </a:r>
            <a:endParaRPr lang="en-US" sz="1200" dirty="0"/>
          </a:p>
        </p:txBody>
      </p:sp>
      <p:sp>
        <p:nvSpPr>
          <p:cNvPr id="196" name="Shape 27">
            <a:extLst>
              <a:ext uri="{FF2B5EF4-FFF2-40B4-BE49-F238E27FC236}">
                <a16:creationId xmlns:a16="http://schemas.microsoft.com/office/drawing/2014/main" id="{3A42910D-24FB-3362-4396-5042992EEABC}"/>
              </a:ext>
            </a:extLst>
          </p:cNvPr>
          <p:cNvSpPr/>
          <p:nvPr/>
        </p:nvSpPr>
        <p:spPr>
          <a:xfrm>
            <a:off x="5806440" y="2395728"/>
            <a:ext cx="1207008" cy="512064"/>
          </a:xfrm>
          <a:prstGeom prst="roundRect">
            <a:avLst>
              <a:gd name="adj" fmla="val 12500"/>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98" name="Text 28">
            <a:extLst>
              <a:ext uri="{FF2B5EF4-FFF2-40B4-BE49-F238E27FC236}">
                <a16:creationId xmlns:a16="http://schemas.microsoft.com/office/drawing/2014/main" id="{1CE9E114-8662-36B7-1E0A-8214B5E24F23}"/>
              </a:ext>
            </a:extLst>
          </p:cNvPr>
          <p:cNvSpPr/>
          <p:nvPr/>
        </p:nvSpPr>
        <p:spPr>
          <a:xfrm>
            <a:off x="5806440" y="2395728"/>
            <a:ext cx="1207008" cy="512064"/>
          </a:xfrm>
          <a:prstGeom prst="rect">
            <a:avLst/>
          </a:prstGeom>
          <a:noFill/>
          <a:ln/>
        </p:spPr>
        <p:txBody>
          <a:bodyPr wrap="square" lIns="25400" tIns="38100" rIns="38100" bIns="25400" rtlCol="0" anchor="ctr"/>
          <a:lstStyle/>
          <a:p>
            <a:pPr marL="0" indent="0" algn="ctr">
              <a:buNone/>
            </a:pPr>
            <a:r>
              <a:rPr lang="en-US" sz="950" dirty="0">
                <a:solidFill>
                  <a:srgbClr val="1E2761"/>
                </a:solidFill>
                <a:latin typeface="Calibri" pitchFamily="34" charset="0"/>
                <a:ea typeface="Calibri" pitchFamily="34" charset="-122"/>
                <a:cs typeface="Calibri" pitchFamily="34" charset="-120"/>
              </a:rPr>
              <a:t>GRU Training</a:t>
            </a:r>
            <a:endParaRPr lang="en-US" sz="950" dirty="0"/>
          </a:p>
        </p:txBody>
      </p:sp>
      <p:sp>
        <p:nvSpPr>
          <p:cNvPr id="200" name="Text 29">
            <a:extLst>
              <a:ext uri="{FF2B5EF4-FFF2-40B4-BE49-F238E27FC236}">
                <a16:creationId xmlns:a16="http://schemas.microsoft.com/office/drawing/2014/main" id="{AFB0EC96-9581-BFB8-E8DE-BCF01B9DCD54}"/>
              </a:ext>
            </a:extLst>
          </p:cNvPr>
          <p:cNvSpPr/>
          <p:nvPr/>
        </p:nvSpPr>
        <p:spPr>
          <a:xfrm>
            <a:off x="7013448" y="2514600"/>
            <a:ext cx="164592" cy="274320"/>
          </a:xfrm>
          <a:prstGeom prst="rect">
            <a:avLst/>
          </a:prstGeom>
          <a:noFill/>
          <a:ln/>
        </p:spPr>
        <p:txBody>
          <a:bodyPr wrap="square" lIns="0" tIns="0" rIns="0" bIns="0" rtlCol="0" anchor="ctr"/>
          <a:lstStyle/>
          <a:p>
            <a:pPr marL="0" indent="0" algn="ctr">
              <a:buNone/>
            </a:pPr>
            <a:r>
              <a:rPr lang="en-US" sz="1200" dirty="0">
                <a:solidFill>
                  <a:srgbClr val="2E3D7C"/>
                </a:solidFill>
                <a:latin typeface="Calibri" pitchFamily="34" charset="0"/>
                <a:ea typeface="Calibri" pitchFamily="34" charset="-122"/>
                <a:cs typeface="Calibri" pitchFamily="34" charset="-120"/>
              </a:rPr>
              <a:t>→</a:t>
            </a:r>
            <a:endParaRPr lang="en-US" sz="1200" dirty="0"/>
          </a:p>
        </p:txBody>
      </p:sp>
      <p:sp>
        <p:nvSpPr>
          <p:cNvPr id="202" name="Shape 30">
            <a:extLst>
              <a:ext uri="{FF2B5EF4-FFF2-40B4-BE49-F238E27FC236}">
                <a16:creationId xmlns:a16="http://schemas.microsoft.com/office/drawing/2014/main" id="{315105F7-5E13-D681-03B1-DBCFD191C2FB}"/>
              </a:ext>
            </a:extLst>
          </p:cNvPr>
          <p:cNvSpPr/>
          <p:nvPr/>
        </p:nvSpPr>
        <p:spPr>
          <a:xfrm>
            <a:off x="7178040" y="2395728"/>
            <a:ext cx="1207008" cy="512064"/>
          </a:xfrm>
          <a:prstGeom prst="roundRect">
            <a:avLst>
              <a:gd name="adj" fmla="val 12500"/>
            </a:avLst>
          </a:prstGeom>
          <a:solidFill>
            <a:srgbClr val="EFFAF8"/>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204" name="Text 31">
            <a:extLst>
              <a:ext uri="{FF2B5EF4-FFF2-40B4-BE49-F238E27FC236}">
                <a16:creationId xmlns:a16="http://schemas.microsoft.com/office/drawing/2014/main" id="{5FA1734E-A621-6A57-9838-8B850FE8F5B9}"/>
              </a:ext>
            </a:extLst>
          </p:cNvPr>
          <p:cNvSpPr/>
          <p:nvPr/>
        </p:nvSpPr>
        <p:spPr>
          <a:xfrm>
            <a:off x="7178040" y="2395728"/>
            <a:ext cx="1207008" cy="512064"/>
          </a:xfrm>
          <a:prstGeom prst="rect">
            <a:avLst/>
          </a:prstGeom>
          <a:noFill/>
          <a:ln/>
        </p:spPr>
        <p:txBody>
          <a:bodyPr wrap="square" lIns="25400" tIns="38100" rIns="38100" bIns="25400" rtlCol="0" anchor="ctr"/>
          <a:lstStyle/>
          <a:p>
            <a:pPr marL="0" indent="0" algn="ctr">
              <a:buNone/>
            </a:pPr>
            <a:r>
              <a:rPr lang="en-US" sz="950" dirty="0">
                <a:solidFill>
                  <a:srgbClr val="1E2761"/>
                </a:solidFill>
                <a:latin typeface="Calibri" pitchFamily="34" charset="0"/>
                <a:ea typeface="Calibri" pitchFamily="34" charset="-122"/>
                <a:cs typeface="Calibri" pitchFamily="34" charset="-120"/>
              </a:rPr>
              <a:t>Predictions</a:t>
            </a:r>
            <a:endParaRPr lang="en-US" sz="950" dirty="0"/>
          </a:p>
          <a:p>
            <a:pPr marL="0" indent="0" algn="ctr">
              <a:buNone/>
            </a:pPr>
            <a:r>
              <a:rPr lang="en-US" sz="950" dirty="0">
                <a:solidFill>
                  <a:srgbClr val="1E2761"/>
                </a:solidFill>
                <a:latin typeface="Calibri" pitchFamily="34" charset="0"/>
                <a:ea typeface="Calibri" pitchFamily="34" charset="-122"/>
                <a:cs typeface="Calibri" pitchFamily="34" charset="-120"/>
              </a:rPr>
              <a:t>→ TD-A*</a:t>
            </a:r>
            <a:endParaRPr lang="en-US" sz="950" dirty="0"/>
          </a:p>
        </p:txBody>
      </p:sp>
      <p:sp>
        <p:nvSpPr>
          <p:cNvPr id="206" name="Text 32">
            <a:extLst>
              <a:ext uri="{FF2B5EF4-FFF2-40B4-BE49-F238E27FC236}">
                <a16:creationId xmlns:a16="http://schemas.microsoft.com/office/drawing/2014/main" id="{BF41BB44-94C1-71F7-609C-EC7B163BAB71}"/>
              </a:ext>
            </a:extLst>
          </p:cNvPr>
          <p:cNvSpPr/>
          <p:nvPr/>
        </p:nvSpPr>
        <p:spPr>
          <a:xfrm>
            <a:off x="411480" y="3072384"/>
            <a:ext cx="4846320" cy="310896"/>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Statistical Analysis Methods</a:t>
            </a:r>
            <a:endParaRPr lang="en-US" sz="1350" dirty="0"/>
          </a:p>
        </p:txBody>
      </p:sp>
      <p:sp>
        <p:nvSpPr>
          <p:cNvPr id="208" name="Text 34">
            <a:extLst>
              <a:ext uri="{FF2B5EF4-FFF2-40B4-BE49-F238E27FC236}">
                <a16:creationId xmlns:a16="http://schemas.microsoft.com/office/drawing/2014/main" id="{EEE35ADB-E5E5-5732-6F89-67471D9877DF}"/>
              </a:ext>
            </a:extLst>
          </p:cNvPr>
          <p:cNvSpPr/>
          <p:nvPr/>
        </p:nvSpPr>
        <p:spPr>
          <a:xfrm>
            <a:off x="5440680" y="2029968"/>
            <a:ext cx="3291840" cy="310896"/>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Baselines Compared</a:t>
            </a:r>
            <a:endParaRPr lang="en-US" sz="1350" dirty="0"/>
          </a:p>
        </p:txBody>
      </p:sp>
      <p:sp>
        <p:nvSpPr>
          <p:cNvPr id="210" name="Shape 35">
            <a:extLst>
              <a:ext uri="{FF2B5EF4-FFF2-40B4-BE49-F238E27FC236}">
                <a16:creationId xmlns:a16="http://schemas.microsoft.com/office/drawing/2014/main" id="{9277D91A-C3A7-2C1B-C61C-5F42F6976CC0}"/>
              </a:ext>
            </a:extLst>
          </p:cNvPr>
          <p:cNvSpPr/>
          <p:nvPr/>
        </p:nvSpPr>
        <p:spPr>
          <a:xfrm>
            <a:off x="5440680" y="2395728"/>
            <a:ext cx="3291840" cy="420624"/>
          </a:xfrm>
          <a:prstGeom prst="roundRect">
            <a:avLst>
              <a:gd name="adj" fmla="val 15217"/>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212" name="Text 36">
            <a:extLst>
              <a:ext uri="{FF2B5EF4-FFF2-40B4-BE49-F238E27FC236}">
                <a16:creationId xmlns:a16="http://schemas.microsoft.com/office/drawing/2014/main" id="{F137D935-B779-7234-4F8A-7A5319112858}"/>
              </a:ext>
            </a:extLst>
          </p:cNvPr>
          <p:cNvSpPr/>
          <p:nvPr/>
        </p:nvSpPr>
        <p:spPr>
          <a:xfrm>
            <a:off x="5504688" y="2423160"/>
            <a:ext cx="548640" cy="36576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B1</a:t>
            </a:r>
            <a:endParaRPr lang="en-US" sz="1100" dirty="0"/>
          </a:p>
        </p:txBody>
      </p:sp>
      <p:sp>
        <p:nvSpPr>
          <p:cNvPr id="214" name="Text 37">
            <a:extLst>
              <a:ext uri="{FF2B5EF4-FFF2-40B4-BE49-F238E27FC236}">
                <a16:creationId xmlns:a16="http://schemas.microsoft.com/office/drawing/2014/main" id="{DD3F5585-2330-0729-476E-CAC2C0420841}"/>
              </a:ext>
            </a:extLst>
          </p:cNvPr>
          <p:cNvSpPr/>
          <p:nvPr/>
        </p:nvSpPr>
        <p:spPr>
          <a:xfrm>
            <a:off x="6108192" y="2423160"/>
            <a:ext cx="2560320" cy="365760"/>
          </a:xfrm>
          <a:prstGeom prst="rect">
            <a:avLst/>
          </a:prstGeom>
          <a:noFill/>
          <a:ln/>
        </p:spPr>
        <p:txBody>
          <a:bodyPr wrap="square" lIns="0" tIns="0" rIns="0" bIns="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Dijkstra (current conditions)</a:t>
            </a:r>
            <a:endParaRPr lang="en-US" sz="1150" dirty="0"/>
          </a:p>
        </p:txBody>
      </p:sp>
      <p:sp>
        <p:nvSpPr>
          <p:cNvPr id="216" name="Shape 38">
            <a:extLst>
              <a:ext uri="{FF2B5EF4-FFF2-40B4-BE49-F238E27FC236}">
                <a16:creationId xmlns:a16="http://schemas.microsoft.com/office/drawing/2014/main" id="{B280AF8E-97B3-B1D6-E8E1-B417E6DD2AA7}"/>
              </a:ext>
            </a:extLst>
          </p:cNvPr>
          <p:cNvSpPr/>
          <p:nvPr/>
        </p:nvSpPr>
        <p:spPr>
          <a:xfrm>
            <a:off x="5440680" y="2889504"/>
            <a:ext cx="3291840" cy="420624"/>
          </a:xfrm>
          <a:prstGeom prst="roundRect">
            <a:avLst>
              <a:gd name="adj" fmla="val 15217"/>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218" name="Text 39">
            <a:extLst>
              <a:ext uri="{FF2B5EF4-FFF2-40B4-BE49-F238E27FC236}">
                <a16:creationId xmlns:a16="http://schemas.microsoft.com/office/drawing/2014/main" id="{6152983A-D18D-2C21-C0C8-50C3E557B968}"/>
              </a:ext>
            </a:extLst>
          </p:cNvPr>
          <p:cNvSpPr/>
          <p:nvPr/>
        </p:nvSpPr>
        <p:spPr>
          <a:xfrm>
            <a:off x="5504688" y="2916936"/>
            <a:ext cx="548640" cy="36576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B2</a:t>
            </a:r>
            <a:endParaRPr lang="en-US" sz="1100" dirty="0"/>
          </a:p>
        </p:txBody>
      </p:sp>
      <p:sp>
        <p:nvSpPr>
          <p:cNvPr id="220" name="Text 40">
            <a:extLst>
              <a:ext uri="{FF2B5EF4-FFF2-40B4-BE49-F238E27FC236}">
                <a16:creationId xmlns:a16="http://schemas.microsoft.com/office/drawing/2014/main" id="{DB416D3E-5E3A-D1FB-4FCB-78E40739B476}"/>
              </a:ext>
            </a:extLst>
          </p:cNvPr>
          <p:cNvSpPr/>
          <p:nvPr/>
        </p:nvSpPr>
        <p:spPr>
          <a:xfrm>
            <a:off x="6108192" y="2916936"/>
            <a:ext cx="2560320" cy="365760"/>
          </a:xfrm>
          <a:prstGeom prst="rect">
            <a:avLst/>
          </a:prstGeom>
          <a:noFill/>
          <a:ln/>
        </p:spPr>
        <p:txBody>
          <a:bodyPr wrap="square" lIns="0" tIns="0" rIns="0" bIns="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Static A* (historical averages)</a:t>
            </a:r>
            <a:endParaRPr lang="en-US" sz="1150" dirty="0"/>
          </a:p>
        </p:txBody>
      </p:sp>
      <p:sp>
        <p:nvSpPr>
          <p:cNvPr id="222" name="Shape 41">
            <a:extLst>
              <a:ext uri="{FF2B5EF4-FFF2-40B4-BE49-F238E27FC236}">
                <a16:creationId xmlns:a16="http://schemas.microsoft.com/office/drawing/2014/main" id="{B312AC44-01F7-5174-1AA0-8C527135DD57}"/>
              </a:ext>
            </a:extLst>
          </p:cNvPr>
          <p:cNvSpPr/>
          <p:nvPr/>
        </p:nvSpPr>
        <p:spPr>
          <a:xfrm>
            <a:off x="5440680" y="3383280"/>
            <a:ext cx="3291840" cy="420624"/>
          </a:xfrm>
          <a:prstGeom prst="roundRect">
            <a:avLst>
              <a:gd name="adj" fmla="val 15217"/>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224" name="Text 42">
            <a:extLst>
              <a:ext uri="{FF2B5EF4-FFF2-40B4-BE49-F238E27FC236}">
                <a16:creationId xmlns:a16="http://schemas.microsoft.com/office/drawing/2014/main" id="{4D25FFE5-D73E-8DDD-E8F7-4FE4A6D9FB05}"/>
              </a:ext>
            </a:extLst>
          </p:cNvPr>
          <p:cNvSpPr/>
          <p:nvPr/>
        </p:nvSpPr>
        <p:spPr>
          <a:xfrm>
            <a:off x="5504688" y="3410712"/>
            <a:ext cx="548640" cy="36576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B3</a:t>
            </a:r>
            <a:endParaRPr lang="en-US" sz="1100" dirty="0"/>
          </a:p>
        </p:txBody>
      </p:sp>
      <p:sp>
        <p:nvSpPr>
          <p:cNvPr id="226" name="Text 43">
            <a:extLst>
              <a:ext uri="{FF2B5EF4-FFF2-40B4-BE49-F238E27FC236}">
                <a16:creationId xmlns:a16="http://schemas.microsoft.com/office/drawing/2014/main" id="{76C8F33F-7689-86CC-C741-EE7F611123DD}"/>
              </a:ext>
            </a:extLst>
          </p:cNvPr>
          <p:cNvSpPr/>
          <p:nvPr/>
        </p:nvSpPr>
        <p:spPr>
          <a:xfrm>
            <a:off x="6108192" y="3410712"/>
            <a:ext cx="2560320" cy="365760"/>
          </a:xfrm>
          <a:prstGeom prst="rect">
            <a:avLst/>
          </a:prstGeom>
          <a:noFill/>
          <a:ln/>
        </p:spPr>
        <p:txBody>
          <a:bodyPr wrap="square" lIns="0" tIns="0" rIns="0" bIns="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Reactive A* (current conditions)</a:t>
            </a:r>
            <a:endParaRPr lang="en-US" sz="1150" dirty="0"/>
          </a:p>
        </p:txBody>
      </p:sp>
      <p:sp>
        <p:nvSpPr>
          <p:cNvPr id="228" name="Shape 44">
            <a:extLst>
              <a:ext uri="{FF2B5EF4-FFF2-40B4-BE49-F238E27FC236}">
                <a16:creationId xmlns:a16="http://schemas.microsoft.com/office/drawing/2014/main" id="{A14B4EB0-5B18-6E68-3CB8-CD45B64255ED}"/>
              </a:ext>
            </a:extLst>
          </p:cNvPr>
          <p:cNvSpPr/>
          <p:nvPr/>
        </p:nvSpPr>
        <p:spPr>
          <a:xfrm>
            <a:off x="5440680" y="3877056"/>
            <a:ext cx="3291840" cy="420624"/>
          </a:xfrm>
          <a:prstGeom prst="roundRect">
            <a:avLst>
              <a:gd name="adj" fmla="val 15217"/>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230" name="Text 45">
            <a:extLst>
              <a:ext uri="{FF2B5EF4-FFF2-40B4-BE49-F238E27FC236}">
                <a16:creationId xmlns:a16="http://schemas.microsoft.com/office/drawing/2014/main" id="{E4CC2EA7-1137-5B9A-D44B-C105F2D1618D}"/>
              </a:ext>
            </a:extLst>
          </p:cNvPr>
          <p:cNvSpPr/>
          <p:nvPr/>
        </p:nvSpPr>
        <p:spPr>
          <a:xfrm>
            <a:off x="5504688" y="3904488"/>
            <a:ext cx="548640" cy="36576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B4</a:t>
            </a:r>
            <a:endParaRPr lang="en-US" sz="1100" dirty="0"/>
          </a:p>
        </p:txBody>
      </p:sp>
      <p:sp>
        <p:nvSpPr>
          <p:cNvPr id="232" name="Text 46">
            <a:extLst>
              <a:ext uri="{FF2B5EF4-FFF2-40B4-BE49-F238E27FC236}">
                <a16:creationId xmlns:a16="http://schemas.microsoft.com/office/drawing/2014/main" id="{C46B091B-5C92-314D-0411-32FAB6EB7CAD}"/>
              </a:ext>
            </a:extLst>
          </p:cNvPr>
          <p:cNvSpPr/>
          <p:nvPr/>
        </p:nvSpPr>
        <p:spPr>
          <a:xfrm>
            <a:off x="6108192" y="3904488"/>
            <a:ext cx="2560320" cy="365760"/>
          </a:xfrm>
          <a:prstGeom prst="rect">
            <a:avLst/>
          </a:prstGeom>
          <a:noFill/>
          <a:ln/>
        </p:spPr>
        <p:txBody>
          <a:bodyPr wrap="square" lIns="0" tIns="0" rIns="0" bIns="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Oracle A* (perfect future knowledge)</a:t>
            </a:r>
            <a:endParaRPr lang="en-US" sz="1150" dirty="0"/>
          </a:p>
        </p:txBody>
      </p:sp>
      <p:sp>
        <p:nvSpPr>
          <p:cNvPr id="234" name="Text 33">
            <a:extLst>
              <a:ext uri="{FF2B5EF4-FFF2-40B4-BE49-F238E27FC236}">
                <a16:creationId xmlns:a16="http://schemas.microsoft.com/office/drawing/2014/main" id="{4841850B-982D-437E-5907-7B7CA843BF7E}"/>
              </a:ext>
            </a:extLst>
          </p:cNvPr>
          <p:cNvSpPr/>
          <p:nvPr/>
        </p:nvSpPr>
        <p:spPr>
          <a:xfrm>
            <a:off x="411480" y="3419856"/>
            <a:ext cx="4846320" cy="1325880"/>
          </a:xfrm>
          <a:prstGeom prst="rect">
            <a:avLst/>
          </a:prstGeom>
          <a:noFill/>
          <a:ln/>
        </p:spPr>
        <p:txBody>
          <a:bodyPr wrap="square" lIns="50800" tIns="76200" rIns="76200" bIns="50800" rtlCol="0" anchor="t"/>
          <a:lstStyle/>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Descriptive statistics — mean, SD, median across all experiments.</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Paired t-tests — framework vs each baseline (matched OD pairs).</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One-way ANOVA — compare route quality across δ values.</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Significance threshold: α = 0.05.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4F7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94360"/>
          </a:xfrm>
          <a:prstGeom prst="rect">
            <a:avLst/>
          </a:prstGeom>
          <a:noFill/>
          <a:ln/>
        </p:spPr>
        <p:txBody>
          <a:bodyPr wrap="square" lIns="0" tIns="0" rIns="0" bIns="0" rtlCol="0" anchor="ctr"/>
          <a:lstStyle/>
          <a:p>
            <a:pPr marL="0" indent="0" algn="l">
              <a:buNone/>
            </a:pPr>
            <a:r>
              <a:rPr lang="en-US" sz="2600" b="1" dirty="0">
                <a:solidFill>
                  <a:srgbClr val="1E2761"/>
                </a:solidFill>
                <a:latin typeface="Cambria" pitchFamily="34" charset="0"/>
                <a:ea typeface="Cambria" pitchFamily="34" charset="-122"/>
                <a:cs typeface="Cambria" pitchFamily="34" charset="-120"/>
              </a:rPr>
              <a:t>Ethical Considerations</a:t>
            </a:r>
            <a:endParaRPr lang="en-US" sz="2600" dirty="0"/>
          </a:p>
        </p:txBody>
      </p:sp>
      <p:sp>
        <p:nvSpPr>
          <p:cNvPr id="3" name="Shape 1"/>
          <p:cNvSpPr/>
          <p:nvPr/>
        </p:nvSpPr>
        <p:spPr>
          <a:xfrm>
            <a:off x="411480" y="868680"/>
            <a:ext cx="8321040" cy="36576"/>
          </a:xfrm>
          <a:prstGeom prst="rect">
            <a:avLst/>
          </a:prstGeom>
          <a:solidFill>
            <a:srgbClr val="CADCFC"/>
          </a:solidFill>
          <a:ln/>
        </p:spPr>
        <p:txBody>
          <a:bodyPr/>
          <a:lstStyle/>
          <a:p>
            <a:endParaRPr lang="en-KE"/>
          </a:p>
        </p:txBody>
      </p:sp>
      <p:sp>
        <p:nvSpPr>
          <p:cNvPr id="4" name="Shape 2"/>
          <p:cNvSpPr/>
          <p:nvPr/>
        </p:nvSpPr>
        <p:spPr>
          <a:xfrm>
            <a:off x="365760" y="1005840"/>
            <a:ext cx="3977640" cy="914400"/>
          </a:xfrm>
          <a:prstGeom prst="roundRect">
            <a:avLst>
              <a:gd name="adj" fmla="val 8000"/>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5" name="Text 3"/>
          <p:cNvSpPr/>
          <p:nvPr/>
        </p:nvSpPr>
        <p:spPr>
          <a:xfrm>
            <a:off x="475488" y="1097280"/>
            <a:ext cx="50292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6" name="Text 4"/>
          <p:cNvSpPr/>
          <p:nvPr/>
        </p:nvSpPr>
        <p:spPr>
          <a:xfrm>
            <a:off x="1024128" y="1097280"/>
            <a:ext cx="3209544" cy="320040"/>
          </a:xfrm>
          <a:prstGeom prst="rect">
            <a:avLst/>
          </a:prstGeom>
          <a:noFill/>
          <a:ln/>
        </p:spPr>
        <p:txBody>
          <a:bodyPr wrap="square" lIns="0" tIns="0" rIns="0" bIns="0"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Institutional Approval</a:t>
            </a:r>
            <a:endParaRPr lang="en-US" sz="1300" dirty="0"/>
          </a:p>
        </p:txBody>
      </p:sp>
      <p:sp>
        <p:nvSpPr>
          <p:cNvPr id="7" name="Text 5"/>
          <p:cNvSpPr/>
          <p:nvPr/>
        </p:nvSpPr>
        <p:spPr>
          <a:xfrm>
            <a:off x="1024128" y="1426464"/>
            <a:ext cx="3209544" cy="438912"/>
          </a:xfrm>
          <a:prstGeom prst="rect">
            <a:avLst/>
          </a:prstGeom>
          <a:noFill/>
          <a:ln/>
        </p:spPr>
        <p:txBody>
          <a:bodyPr wrap="square" lIns="0" tIns="0" rIns="0" bIns="0" rtlCol="0" anchor="t"/>
          <a:lstStyle/>
          <a:p>
            <a:pPr marL="0" indent="0">
              <a:buNone/>
            </a:pPr>
            <a:r>
              <a:rPr lang="en-US" sz="1100" dirty="0">
                <a:solidFill>
                  <a:srgbClr val="1A1A2E"/>
                </a:solidFill>
                <a:latin typeface="Calibri" pitchFamily="34" charset="0"/>
                <a:ea typeface="Calibri" pitchFamily="34" charset="-122"/>
                <a:cs typeface="Calibri" pitchFamily="34" charset="-120"/>
              </a:rPr>
              <a:t>Ethical clearance sought from Kirinyaga University Research and Ethics.</a:t>
            </a:r>
            <a:endParaRPr lang="en-US" sz="1100" dirty="0"/>
          </a:p>
        </p:txBody>
      </p:sp>
      <p:sp>
        <p:nvSpPr>
          <p:cNvPr id="8" name="Shape 6"/>
          <p:cNvSpPr/>
          <p:nvPr/>
        </p:nvSpPr>
        <p:spPr>
          <a:xfrm>
            <a:off x="4507992" y="1005840"/>
            <a:ext cx="3977640" cy="914400"/>
          </a:xfrm>
          <a:prstGeom prst="roundRect">
            <a:avLst>
              <a:gd name="adj" fmla="val 8000"/>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9" name="Text 7"/>
          <p:cNvSpPr/>
          <p:nvPr/>
        </p:nvSpPr>
        <p:spPr>
          <a:xfrm>
            <a:off x="4617720" y="1097280"/>
            <a:ext cx="50292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0" name="Text 8"/>
          <p:cNvSpPr/>
          <p:nvPr/>
        </p:nvSpPr>
        <p:spPr>
          <a:xfrm>
            <a:off x="5166360" y="1097280"/>
            <a:ext cx="3209544" cy="320040"/>
          </a:xfrm>
          <a:prstGeom prst="rect">
            <a:avLst/>
          </a:prstGeom>
          <a:noFill/>
          <a:ln/>
        </p:spPr>
        <p:txBody>
          <a:bodyPr wrap="square" lIns="0" tIns="0" rIns="0" bIns="0"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NACOSTI Compliance</a:t>
            </a:r>
            <a:endParaRPr lang="en-US" sz="1300" dirty="0"/>
          </a:p>
        </p:txBody>
      </p:sp>
      <p:sp>
        <p:nvSpPr>
          <p:cNvPr id="11" name="Text 9"/>
          <p:cNvSpPr/>
          <p:nvPr/>
        </p:nvSpPr>
        <p:spPr>
          <a:xfrm>
            <a:off x="5166360" y="1426464"/>
            <a:ext cx="3209544" cy="438912"/>
          </a:xfrm>
          <a:prstGeom prst="rect">
            <a:avLst/>
          </a:prstGeom>
          <a:noFill/>
          <a:ln/>
        </p:spPr>
        <p:txBody>
          <a:bodyPr wrap="square" lIns="0" tIns="0" rIns="0" bIns="0" rtlCol="0" anchor="t"/>
          <a:lstStyle/>
          <a:p>
            <a:r>
              <a:rPr lang="en-KE" sz="1100" dirty="0"/>
              <a:t>Research permit application to be prepared per Kenya's Science, Technology and Innovation Act</a:t>
            </a:r>
            <a:endParaRPr lang="en-US" sz="1100" dirty="0"/>
          </a:p>
        </p:txBody>
      </p:sp>
      <p:sp>
        <p:nvSpPr>
          <p:cNvPr id="12" name="Shape 10"/>
          <p:cNvSpPr/>
          <p:nvPr/>
        </p:nvSpPr>
        <p:spPr>
          <a:xfrm>
            <a:off x="365760" y="2084832"/>
            <a:ext cx="3977640" cy="914400"/>
          </a:xfrm>
          <a:prstGeom prst="roundRect">
            <a:avLst>
              <a:gd name="adj" fmla="val 8000"/>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3" name="Text 11"/>
          <p:cNvSpPr/>
          <p:nvPr/>
        </p:nvSpPr>
        <p:spPr>
          <a:xfrm>
            <a:off x="475488" y="2176272"/>
            <a:ext cx="50292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1024128" y="2176272"/>
            <a:ext cx="3209544" cy="320040"/>
          </a:xfrm>
          <a:prstGeom prst="rect">
            <a:avLst/>
          </a:prstGeom>
          <a:noFill/>
          <a:ln/>
        </p:spPr>
        <p:txBody>
          <a:bodyPr wrap="square" lIns="0" tIns="0" rIns="0" bIns="0"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Plagiarism Compliance</a:t>
            </a:r>
            <a:endParaRPr lang="en-US" sz="1300" dirty="0"/>
          </a:p>
        </p:txBody>
      </p:sp>
      <p:sp>
        <p:nvSpPr>
          <p:cNvPr id="15" name="Text 13"/>
          <p:cNvSpPr/>
          <p:nvPr/>
        </p:nvSpPr>
        <p:spPr>
          <a:xfrm>
            <a:off x="1024128" y="2505456"/>
            <a:ext cx="3209544" cy="438912"/>
          </a:xfrm>
          <a:prstGeom prst="rect">
            <a:avLst/>
          </a:prstGeom>
          <a:noFill/>
          <a:ln/>
        </p:spPr>
        <p:txBody>
          <a:bodyPr wrap="square" lIns="0" tIns="0" rIns="0" bIns="0" rtlCol="0" anchor="t"/>
          <a:lstStyle/>
          <a:p>
            <a:pPr marL="0" indent="0">
              <a:buNone/>
            </a:pPr>
            <a:r>
              <a:rPr lang="en-US" sz="1100" dirty="0">
                <a:solidFill>
                  <a:srgbClr val="1A1A2E"/>
                </a:solidFill>
                <a:latin typeface="Calibri" pitchFamily="34" charset="0"/>
                <a:ea typeface="Calibri" pitchFamily="34" charset="-122"/>
                <a:cs typeface="Calibri" pitchFamily="34" charset="-120"/>
              </a:rPr>
              <a:t>Thesis submitted through DrillBit plagiarism detection in accordance with university policy.</a:t>
            </a:r>
            <a:endParaRPr lang="en-US" sz="1100" dirty="0"/>
          </a:p>
        </p:txBody>
      </p:sp>
      <p:sp>
        <p:nvSpPr>
          <p:cNvPr id="16" name="Shape 14"/>
          <p:cNvSpPr/>
          <p:nvPr/>
        </p:nvSpPr>
        <p:spPr>
          <a:xfrm>
            <a:off x="4507992" y="2084832"/>
            <a:ext cx="3977640" cy="914400"/>
          </a:xfrm>
          <a:prstGeom prst="roundRect">
            <a:avLst>
              <a:gd name="adj" fmla="val 8000"/>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7" name="Text 15"/>
          <p:cNvSpPr/>
          <p:nvPr/>
        </p:nvSpPr>
        <p:spPr>
          <a:xfrm>
            <a:off x="4617720" y="2176272"/>
            <a:ext cx="50292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5166360" y="2176272"/>
            <a:ext cx="3209544" cy="320040"/>
          </a:xfrm>
          <a:prstGeom prst="rect">
            <a:avLst/>
          </a:prstGeom>
          <a:noFill/>
          <a:ln/>
        </p:spPr>
        <p:txBody>
          <a:bodyPr wrap="square" lIns="0" tIns="0" rIns="0" bIns="0"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Data Privacy</a:t>
            </a:r>
            <a:endParaRPr lang="en-US" sz="1300" dirty="0"/>
          </a:p>
        </p:txBody>
      </p:sp>
      <p:sp>
        <p:nvSpPr>
          <p:cNvPr id="19" name="Text 17"/>
          <p:cNvSpPr/>
          <p:nvPr/>
        </p:nvSpPr>
        <p:spPr>
          <a:xfrm>
            <a:off x="5166360" y="2505456"/>
            <a:ext cx="3209544" cy="438912"/>
          </a:xfrm>
          <a:prstGeom prst="rect">
            <a:avLst/>
          </a:prstGeom>
          <a:noFill/>
          <a:ln/>
        </p:spPr>
        <p:txBody>
          <a:bodyPr wrap="square" lIns="0" tIns="0" rIns="0" bIns="0" rtlCol="0" anchor="t"/>
          <a:lstStyle/>
          <a:p>
            <a:pPr marL="0" indent="0">
              <a:buNone/>
            </a:pPr>
            <a:r>
              <a:rPr lang="en-US" sz="1100" dirty="0">
                <a:solidFill>
                  <a:srgbClr val="1A1A2E"/>
                </a:solidFill>
                <a:latin typeface="Calibri" pitchFamily="34" charset="0"/>
                <a:ea typeface="Calibri" pitchFamily="34" charset="-122"/>
                <a:cs typeface="Calibri" pitchFamily="34" charset="-120"/>
              </a:rPr>
              <a:t>METR-LA and PEMS-BAY contain only aggregated speed readings. No personally identifiable information.</a:t>
            </a:r>
            <a:endParaRPr lang="en-US" sz="1100" dirty="0"/>
          </a:p>
        </p:txBody>
      </p:sp>
      <p:sp>
        <p:nvSpPr>
          <p:cNvPr id="20" name="Shape 18"/>
          <p:cNvSpPr/>
          <p:nvPr/>
        </p:nvSpPr>
        <p:spPr>
          <a:xfrm>
            <a:off x="2441448" y="3154680"/>
            <a:ext cx="3977640" cy="914400"/>
          </a:xfrm>
          <a:prstGeom prst="roundRect">
            <a:avLst>
              <a:gd name="adj" fmla="val 8000"/>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21" name="Text 19"/>
          <p:cNvSpPr/>
          <p:nvPr/>
        </p:nvSpPr>
        <p:spPr>
          <a:xfrm>
            <a:off x="2551176" y="3246120"/>
            <a:ext cx="50292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2" name="Text 20"/>
          <p:cNvSpPr/>
          <p:nvPr/>
        </p:nvSpPr>
        <p:spPr>
          <a:xfrm>
            <a:off x="3099816" y="3246120"/>
            <a:ext cx="3209544" cy="320040"/>
          </a:xfrm>
          <a:prstGeom prst="rect">
            <a:avLst/>
          </a:prstGeom>
          <a:noFill/>
          <a:ln/>
        </p:spPr>
        <p:txBody>
          <a:bodyPr wrap="square" lIns="0" tIns="0" rIns="0" bIns="0"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Open Science</a:t>
            </a:r>
            <a:endParaRPr lang="en-US" sz="1300" dirty="0"/>
          </a:p>
        </p:txBody>
      </p:sp>
      <p:sp>
        <p:nvSpPr>
          <p:cNvPr id="23" name="Text 21"/>
          <p:cNvSpPr/>
          <p:nvPr/>
        </p:nvSpPr>
        <p:spPr>
          <a:xfrm>
            <a:off x="3099816" y="3575304"/>
            <a:ext cx="3209544" cy="438912"/>
          </a:xfrm>
          <a:prstGeom prst="rect">
            <a:avLst/>
          </a:prstGeom>
          <a:noFill/>
          <a:ln/>
        </p:spPr>
        <p:txBody>
          <a:bodyPr wrap="square" lIns="0" tIns="0" rIns="0" bIns="0" rtlCol="0" anchor="t"/>
          <a:lstStyle/>
          <a:p>
            <a:pPr marL="0" indent="0">
              <a:buNone/>
            </a:pPr>
            <a:r>
              <a:rPr lang="en-US" sz="1100" dirty="0">
                <a:solidFill>
                  <a:srgbClr val="1A1A2E"/>
                </a:solidFill>
                <a:latin typeface="Calibri" pitchFamily="34" charset="0"/>
                <a:ea typeface="Calibri" pitchFamily="34" charset="-122"/>
                <a:cs typeface="Calibri" pitchFamily="34" charset="-120"/>
              </a:rPr>
              <a:t>All source code and experimental configurations released publicly at github.com/Freshia-Njoki/Emergency_Routing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4F7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94360"/>
          </a:xfrm>
          <a:prstGeom prst="rect">
            <a:avLst/>
          </a:prstGeom>
          <a:noFill/>
          <a:ln/>
        </p:spPr>
        <p:txBody>
          <a:bodyPr wrap="square" lIns="0" tIns="0" rIns="0" bIns="0" rtlCol="0" anchor="ctr"/>
          <a:lstStyle/>
          <a:p>
            <a:pPr marL="0" indent="0" algn="l">
              <a:buNone/>
            </a:pPr>
            <a:r>
              <a:rPr lang="en-US" sz="2600" b="1" dirty="0">
                <a:solidFill>
                  <a:srgbClr val="1E2761"/>
                </a:solidFill>
                <a:latin typeface="Cambria" pitchFamily="34" charset="0"/>
                <a:ea typeface="Cambria" pitchFamily="34" charset="-122"/>
                <a:cs typeface="Cambria" pitchFamily="34" charset="-120"/>
              </a:rPr>
              <a:t>Findings — Objective 1: Literature Review</a:t>
            </a:r>
            <a:endParaRPr lang="en-US" sz="2600" dirty="0"/>
          </a:p>
        </p:txBody>
      </p:sp>
      <p:sp>
        <p:nvSpPr>
          <p:cNvPr id="3" name="Shape 1"/>
          <p:cNvSpPr/>
          <p:nvPr/>
        </p:nvSpPr>
        <p:spPr>
          <a:xfrm>
            <a:off x="411480" y="868680"/>
            <a:ext cx="8321040" cy="36576"/>
          </a:xfrm>
          <a:prstGeom prst="rect">
            <a:avLst/>
          </a:prstGeom>
          <a:solidFill>
            <a:srgbClr val="CADCFC"/>
          </a:solidFill>
          <a:ln/>
        </p:spPr>
        <p:txBody>
          <a:bodyPr/>
          <a:lstStyle/>
          <a:p>
            <a:endParaRPr lang="en-KE"/>
          </a:p>
        </p:txBody>
      </p:sp>
      <p:sp>
        <p:nvSpPr>
          <p:cNvPr id="4" name="Shape 2"/>
          <p:cNvSpPr/>
          <p:nvPr/>
        </p:nvSpPr>
        <p:spPr>
          <a:xfrm>
            <a:off x="411480" y="1005840"/>
            <a:ext cx="1920240" cy="914400"/>
          </a:xfrm>
          <a:prstGeom prst="roundRect">
            <a:avLst>
              <a:gd name="adj" fmla="val 8000"/>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5" name="Text 3"/>
          <p:cNvSpPr/>
          <p:nvPr/>
        </p:nvSpPr>
        <p:spPr>
          <a:xfrm>
            <a:off x="411480" y="1078992"/>
            <a:ext cx="1920240" cy="502920"/>
          </a:xfrm>
          <a:prstGeom prst="rect">
            <a:avLst/>
          </a:prstGeom>
          <a:noFill/>
          <a:ln/>
        </p:spPr>
        <p:txBody>
          <a:bodyPr wrap="square" lIns="0" tIns="0" rIns="0" bIns="0" rtlCol="0" anchor="b"/>
          <a:lstStyle/>
          <a:p>
            <a:pPr marL="0" indent="0" algn="ctr">
              <a:buNone/>
            </a:pPr>
            <a:r>
              <a:rPr lang="en-US" sz="3600" b="1" dirty="0">
                <a:solidFill>
                  <a:srgbClr val="1E2761"/>
                </a:solidFill>
                <a:latin typeface="Cambria" pitchFamily="34" charset="0"/>
                <a:ea typeface="Cambria" pitchFamily="34" charset="-122"/>
              </a:rPr>
              <a:t>40+</a:t>
            </a:r>
            <a:endParaRPr lang="en-US" sz="3600" dirty="0"/>
          </a:p>
        </p:txBody>
      </p:sp>
      <p:sp>
        <p:nvSpPr>
          <p:cNvPr id="6" name="Text 4"/>
          <p:cNvSpPr/>
          <p:nvPr/>
        </p:nvSpPr>
        <p:spPr>
          <a:xfrm>
            <a:off x="411480" y="1508760"/>
            <a:ext cx="1920240" cy="365760"/>
          </a:xfrm>
          <a:prstGeom prst="rect">
            <a:avLst/>
          </a:prstGeom>
          <a:noFill/>
          <a:ln/>
        </p:spPr>
        <p:txBody>
          <a:bodyPr wrap="square" lIns="0" tIns="0" rIns="0" bIns="0" rtlCol="0" anchor="t"/>
          <a:lstStyle/>
          <a:p>
            <a:pPr marL="0" indent="0" algn="ctr">
              <a:buNone/>
            </a:pPr>
            <a:r>
              <a:rPr lang="en-US" sz="1100" dirty="0">
                <a:solidFill>
                  <a:srgbClr val="5A6080"/>
                </a:solidFill>
                <a:latin typeface="Calibri" pitchFamily="34" charset="0"/>
                <a:ea typeface="Calibri" pitchFamily="34" charset="-122"/>
                <a:cs typeface="Calibri" pitchFamily="34" charset="-120"/>
              </a:rPr>
              <a:t>Papers reviewed</a:t>
            </a:r>
            <a:endParaRPr lang="en-US" sz="1100" dirty="0"/>
          </a:p>
        </p:txBody>
      </p:sp>
      <p:sp>
        <p:nvSpPr>
          <p:cNvPr id="7" name="Shape 5"/>
          <p:cNvSpPr/>
          <p:nvPr/>
        </p:nvSpPr>
        <p:spPr>
          <a:xfrm>
            <a:off x="2514600" y="1005840"/>
            <a:ext cx="1920240" cy="914400"/>
          </a:xfrm>
          <a:prstGeom prst="roundRect">
            <a:avLst>
              <a:gd name="adj" fmla="val 8000"/>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8" name="Text 6"/>
          <p:cNvSpPr/>
          <p:nvPr/>
        </p:nvSpPr>
        <p:spPr>
          <a:xfrm>
            <a:off x="2514600" y="1078992"/>
            <a:ext cx="1920240" cy="502920"/>
          </a:xfrm>
          <a:prstGeom prst="rect">
            <a:avLst/>
          </a:prstGeom>
          <a:noFill/>
          <a:ln/>
        </p:spPr>
        <p:txBody>
          <a:bodyPr wrap="square" lIns="0" tIns="0" rIns="0" bIns="0" rtlCol="0" anchor="b"/>
          <a:lstStyle/>
          <a:p>
            <a:pPr marL="0" indent="0" algn="ctr">
              <a:buNone/>
            </a:pPr>
            <a:r>
              <a:rPr lang="en-US" sz="3600" b="1" dirty="0">
                <a:solidFill>
                  <a:srgbClr val="0D9488"/>
                </a:solidFill>
                <a:latin typeface="Cambria" pitchFamily="34" charset="0"/>
                <a:ea typeface="Cambria" pitchFamily="34" charset="-122"/>
                <a:cs typeface="Cambria" pitchFamily="34" charset="-120"/>
              </a:rPr>
              <a:t>5</a:t>
            </a:r>
            <a:endParaRPr lang="en-US" sz="3600" dirty="0"/>
          </a:p>
        </p:txBody>
      </p:sp>
      <p:sp>
        <p:nvSpPr>
          <p:cNvPr id="9" name="Text 7"/>
          <p:cNvSpPr/>
          <p:nvPr/>
        </p:nvSpPr>
        <p:spPr>
          <a:xfrm>
            <a:off x="2514600" y="1508760"/>
            <a:ext cx="1920240" cy="365760"/>
          </a:xfrm>
          <a:prstGeom prst="rect">
            <a:avLst/>
          </a:prstGeom>
          <a:noFill/>
          <a:ln/>
        </p:spPr>
        <p:txBody>
          <a:bodyPr wrap="square" lIns="0" tIns="0" rIns="0" bIns="0" rtlCol="0" anchor="t"/>
          <a:lstStyle/>
          <a:p>
            <a:pPr algn="ctr"/>
            <a:r>
              <a:rPr lang="en-US" sz="1100" dirty="0">
                <a:solidFill>
                  <a:srgbClr val="5A6080"/>
                </a:solidFill>
                <a:latin typeface="Calibri" pitchFamily="34" charset="0"/>
                <a:ea typeface="Calibri" pitchFamily="34" charset="-122"/>
                <a:cs typeface="Calibri" pitchFamily="34" charset="-120"/>
              </a:rPr>
              <a:t>Major themes</a:t>
            </a:r>
            <a:endParaRPr lang="en-US" sz="1100" dirty="0"/>
          </a:p>
          <a:p>
            <a:pPr algn="ctr"/>
            <a:r>
              <a:rPr lang="en-US" sz="1100" dirty="0">
                <a:solidFill>
                  <a:srgbClr val="5A6080"/>
                </a:solidFill>
                <a:latin typeface="Calibri" pitchFamily="34" charset="0"/>
                <a:ea typeface="Calibri" pitchFamily="34" charset="-122"/>
                <a:cs typeface="Calibri" pitchFamily="34" charset="-120"/>
              </a:rPr>
              <a:t>covered</a:t>
            </a:r>
            <a:endParaRPr lang="en-US" sz="1100" dirty="0"/>
          </a:p>
        </p:txBody>
      </p:sp>
      <p:sp>
        <p:nvSpPr>
          <p:cNvPr id="10" name="Shape 8"/>
          <p:cNvSpPr/>
          <p:nvPr/>
        </p:nvSpPr>
        <p:spPr>
          <a:xfrm>
            <a:off x="4617720" y="1005840"/>
            <a:ext cx="1920240" cy="914400"/>
          </a:xfrm>
          <a:prstGeom prst="roundRect">
            <a:avLst>
              <a:gd name="adj" fmla="val 8000"/>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1" name="Text 9"/>
          <p:cNvSpPr/>
          <p:nvPr/>
        </p:nvSpPr>
        <p:spPr>
          <a:xfrm>
            <a:off x="4617720" y="1078992"/>
            <a:ext cx="1920240" cy="502920"/>
          </a:xfrm>
          <a:prstGeom prst="rect">
            <a:avLst/>
          </a:prstGeom>
          <a:noFill/>
          <a:ln/>
        </p:spPr>
        <p:txBody>
          <a:bodyPr wrap="square" lIns="0" tIns="0" rIns="0" bIns="0" rtlCol="0" anchor="b"/>
          <a:lstStyle/>
          <a:p>
            <a:pPr marL="0" indent="0" algn="ctr">
              <a:buNone/>
            </a:pPr>
            <a:r>
              <a:rPr lang="en-US" sz="3600" b="1" dirty="0">
                <a:solidFill>
                  <a:srgbClr val="E8A838"/>
                </a:solidFill>
                <a:latin typeface="Cambria" pitchFamily="34" charset="0"/>
                <a:ea typeface="Cambria" pitchFamily="34" charset="-122"/>
                <a:cs typeface="Cambria" pitchFamily="34" charset="-120"/>
              </a:rPr>
              <a:t>4</a:t>
            </a:r>
            <a:endParaRPr lang="en-US" sz="3600" dirty="0"/>
          </a:p>
        </p:txBody>
      </p:sp>
      <p:sp>
        <p:nvSpPr>
          <p:cNvPr id="12" name="Text 10"/>
          <p:cNvSpPr/>
          <p:nvPr/>
        </p:nvSpPr>
        <p:spPr>
          <a:xfrm>
            <a:off x="4617720" y="1508760"/>
            <a:ext cx="1920240" cy="365760"/>
          </a:xfrm>
          <a:prstGeom prst="rect">
            <a:avLst/>
          </a:prstGeom>
          <a:noFill/>
          <a:ln/>
        </p:spPr>
        <p:txBody>
          <a:bodyPr wrap="square" lIns="0" tIns="0" rIns="0" bIns="0" rtlCol="0" anchor="t"/>
          <a:lstStyle/>
          <a:p>
            <a:pPr marL="0" indent="0" algn="ctr">
              <a:buNone/>
            </a:pPr>
            <a:r>
              <a:rPr lang="en-US" sz="1100" dirty="0">
                <a:solidFill>
                  <a:srgbClr val="5A6080"/>
                </a:solidFill>
                <a:latin typeface="Calibri" pitchFamily="34" charset="0"/>
                <a:ea typeface="Calibri" pitchFamily="34" charset="-122"/>
                <a:cs typeface="Calibri" pitchFamily="34" charset="-120"/>
              </a:rPr>
              <a:t>Key gaps</a:t>
            </a:r>
            <a:endParaRPr lang="en-US" sz="1100" dirty="0"/>
          </a:p>
          <a:p>
            <a:pPr marL="0" indent="0" algn="ctr">
              <a:buNone/>
            </a:pPr>
            <a:r>
              <a:rPr lang="en-US" sz="1100" dirty="0">
                <a:solidFill>
                  <a:srgbClr val="5A6080"/>
                </a:solidFill>
                <a:latin typeface="Calibri" pitchFamily="34" charset="0"/>
                <a:ea typeface="Calibri" pitchFamily="34" charset="-122"/>
                <a:cs typeface="Calibri" pitchFamily="34" charset="-120"/>
              </a:rPr>
              <a:t>identified</a:t>
            </a:r>
            <a:endParaRPr lang="en-US" sz="1100" dirty="0"/>
          </a:p>
        </p:txBody>
      </p:sp>
      <p:sp>
        <p:nvSpPr>
          <p:cNvPr id="13" name="Shape 11"/>
          <p:cNvSpPr/>
          <p:nvPr/>
        </p:nvSpPr>
        <p:spPr>
          <a:xfrm>
            <a:off x="6720840" y="1005840"/>
            <a:ext cx="1920240" cy="914400"/>
          </a:xfrm>
          <a:prstGeom prst="roundRect">
            <a:avLst>
              <a:gd name="adj" fmla="val 8000"/>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4" name="Text 12"/>
          <p:cNvSpPr/>
          <p:nvPr/>
        </p:nvSpPr>
        <p:spPr>
          <a:xfrm>
            <a:off x="6720840" y="1078992"/>
            <a:ext cx="1920240" cy="502920"/>
          </a:xfrm>
          <a:prstGeom prst="rect">
            <a:avLst/>
          </a:prstGeom>
          <a:noFill/>
          <a:ln/>
        </p:spPr>
        <p:txBody>
          <a:bodyPr wrap="square" lIns="0" tIns="0" rIns="0" bIns="0" rtlCol="0" anchor="b"/>
          <a:lstStyle/>
          <a:p>
            <a:pPr marL="0" indent="0" algn="ctr">
              <a:buNone/>
            </a:pPr>
            <a:r>
              <a:rPr lang="en-US" sz="3600" b="1" dirty="0">
                <a:solidFill>
                  <a:srgbClr val="C0392B"/>
                </a:solidFill>
                <a:latin typeface="Cambria" pitchFamily="34" charset="0"/>
                <a:ea typeface="Cambria" pitchFamily="34" charset="-122"/>
                <a:cs typeface="Cambria" pitchFamily="34" charset="-120"/>
              </a:rPr>
              <a:t>0</a:t>
            </a:r>
            <a:endParaRPr lang="en-US" sz="3600" dirty="0"/>
          </a:p>
        </p:txBody>
      </p:sp>
      <p:sp>
        <p:nvSpPr>
          <p:cNvPr id="15" name="Text 13"/>
          <p:cNvSpPr/>
          <p:nvPr/>
        </p:nvSpPr>
        <p:spPr>
          <a:xfrm>
            <a:off x="6720840" y="1508760"/>
            <a:ext cx="1920240" cy="365760"/>
          </a:xfrm>
          <a:prstGeom prst="rect">
            <a:avLst/>
          </a:prstGeom>
          <a:noFill/>
          <a:ln/>
        </p:spPr>
        <p:txBody>
          <a:bodyPr wrap="square" lIns="0" tIns="0" rIns="0" bIns="0" rtlCol="0" anchor="t"/>
          <a:lstStyle/>
          <a:p>
            <a:pPr marL="0" indent="0" algn="ctr">
              <a:buNone/>
            </a:pPr>
            <a:r>
              <a:rPr lang="en-US" sz="1100" dirty="0">
                <a:solidFill>
                  <a:srgbClr val="5A6080"/>
                </a:solidFill>
                <a:latin typeface="Calibri" pitchFamily="34" charset="0"/>
                <a:ea typeface="Calibri" pitchFamily="34" charset="-122"/>
                <a:cs typeface="Calibri" pitchFamily="34" charset="-120"/>
              </a:rPr>
              <a:t>Prior studies covering</a:t>
            </a:r>
            <a:endParaRPr lang="en-US" sz="1100" dirty="0"/>
          </a:p>
          <a:p>
            <a:pPr marL="0" indent="0" algn="ctr">
              <a:buNone/>
            </a:pPr>
            <a:r>
              <a:rPr lang="en-US" sz="1100" dirty="0">
                <a:solidFill>
                  <a:srgbClr val="5A6080"/>
                </a:solidFill>
                <a:latin typeface="Calibri" pitchFamily="34" charset="0"/>
                <a:ea typeface="Calibri" pitchFamily="34" charset="-122"/>
                <a:cs typeface="Calibri" pitchFamily="34" charset="-120"/>
              </a:rPr>
              <a:t>all 5 dimensions</a:t>
            </a:r>
            <a:endParaRPr lang="en-US" sz="1100" dirty="0"/>
          </a:p>
        </p:txBody>
      </p:sp>
      <p:sp>
        <p:nvSpPr>
          <p:cNvPr id="16" name="Text 14"/>
          <p:cNvSpPr/>
          <p:nvPr/>
        </p:nvSpPr>
        <p:spPr>
          <a:xfrm>
            <a:off x="411480" y="2084832"/>
            <a:ext cx="8321040" cy="32004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Four Gaps Identified — Driving the Framework Design</a:t>
            </a:r>
            <a:endParaRPr lang="en-US" sz="1400" dirty="0"/>
          </a:p>
        </p:txBody>
      </p:sp>
      <p:sp>
        <p:nvSpPr>
          <p:cNvPr id="17" name="Shape 15"/>
          <p:cNvSpPr/>
          <p:nvPr/>
        </p:nvSpPr>
        <p:spPr>
          <a:xfrm>
            <a:off x="411480" y="2468880"/>
            <a:ext cx="3977640" cy="713232"/>
          </a:xfrm>
          <a:prstGeom prst="roundRect">
            <a:avLst>
              <a:gd name="adj" fmla="val 10256"/>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8" name="Text 16"/>
          <p:cNvSpPr/>
          <p:nvPr/>
        </p:nvSpPr>
        <p:spPr>
          <a:xfrm>
            <a:off x="502920" y="2542032"/>
            <a:ext cx="658368"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Gap 1</a:t>
            </a:r>
            <a:endParaRPr lang="en-US" sz="1050" dirty="0"/>
          </a:p>
        </p:txBody>
      </p:sp>
      <p:sp>
        <p:nvSpPr>
          <p:cNvPr id="19" name="Shape 17"/>
          <p:cNvSpPr/>
          <p:nvPr/>
        </p:nvSpPr>
        <p:spPr>
          <a:xfrm>
            <a:off x="502920" y="2542032"/>
            <a:ext cx="658368" cy="256032"/>
          </a:xfrm>
          <a:prstGeom prst="roundRect">
            <a:avLst>
              <a:gd name="adj" fmla="val 14286"/>
            </a:avLst>
          </a:prstGeom>
          <a:solidFill>
            <a:srgbClr val="1E2761"/>
          </a:solidFill>
          <a:ln/>
        </p:spPr>
        <p:txBody>
          <a:bodyPr/>
          <a:lstStyle/>
          <a:p>
            <a:endParaRPr lang="en-KE"/>
          </a:p>
        </p:txBody>
      </p:sp>
      <p:sp>
        <p:nvSpPr>
          <p:cNvPr id="20" name="Text 18"/>
          <p:cNvSpPr/>
          <p:nvPr/>
        </p:nvSpPr>
        <p:spPr>
          <a:xfrm>
            <a:off x="502920" y="2542032"/>
            <a:ext cx="658368"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Gap 1</a:t>
            </a:r>
            <a:endParaRPr lang="en-US" sz="1050" dirty="0"/>
          </a:p>
        </p:txBody>
      </p:sp>
      <p:sp>
        <p:nvSpPr>
          <p:cNvPr id="21" name="Text 19"/>
          <p:cNvSpPr/>
          <p:nvPr/>
        </p:nvSpPr>
        <p:spPr>
          <a:xfrm>
            <a:off x="1234440" y="2523744"/>
            <a:ext cx="3017520" cy="594360"/>
          </a:xfrm>
          <a:prstGeom prst="rect">
            <a:avLst/>
          </a:prstGeom>
          <a:noFill/>
          <a:ln/>
        </p:spPr>
        <p:txBody>
          <a:bodyPr wrap="square" lIns="0" tIns="50800" rIns="5080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No framework integrates ML traffic prediction with time-dependent routing for emergency dispatch.</a:t>
            </a:r>
            <a:endParaRPr lang="en-US" sz="1200" dirty="0"/>
          </a:p>
        </p:txBody>
      </p:sp>
      <p:sp>
        <p:nvSpPr>
          <p:cNvPr id="22" name="Shape 20"/>
          <p:cNvSpPr/>
          <p:nvPr/>
        </p:nvSpPr>
        <p:spPr>
          <a:xfrm>
            <a:off x="4572000" y="2468880"/>
            <a:ext cx="3977640" cy="713232"/>
          </a:xfrm>
          <a:prstGeom prst="roundRect">
            <a:avLst>
              <a:gd name="adj" fmla="val 10256"/>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23" name="Text 21"/>
          <p:cNvSpPr/>
          <p:nvPr/>
        </p:nvSpPr>
        <p:spPr>
          <a:xfrm>
            <a:off x="4663440" y="2542032"/>
            <a:ext cx="658368"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Gap 2</a:t>
            </a:r>
            <a:endParaRPr lang="en-US" sz="1050" dirty="0"/>
          </a:p>
        </p:txBody>
      </p:sp>
      <p:sp>
        <p:nvSpPr>
          <p:cNvPr id="24" name="Shape 22"/>
          <p:cNvSpPr/>
          <p:nvPr/>
        </p:nvSpPr>
        <p:spPr>
          <a:xfrm>
            <a:off x="4663440" y="2542032"/>
            <a:ext cx="658368" cy="256032"/>
          </a:xfrm>
          <a:prstGeom prst="roundRect">
            <a:avLst>
              <a:gd name="adj" fmla="val 14286"/>
            </a:avLst>
          </a:prstGeom>
          <a:solidFill>
            <a:srgbClr val="1E2761"/>
          </a:solidFill>
          <a:ln/>
        </p:spPr>
        <p:txBody>
          <a:bodyPr/>
          <a:lstStyle/>
          <a:p>
            <a:endParaRPr lang="en-KE"/>
          </a:p>
        </p:txBody>
      </p:sp>
      <p:sp>
        <p:nvSpPr>
          <p:cNvPr id="25" name="Text 23"/>
          <p:cNvSpPr/>
          <p:nvPr/>
        </p:nvSpPr>
        <p:spPr>
          <a:xfrm>
            <a:off x="4663440" y="2542032"/>
            <a:ext cx="658368"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Gap 2</a:t>
            </a:r>
            <a:endParaRPr lang="en-US" sz="1050" dirty="0"/>
          </a:p>
        </p:txBody>
      </p:sp>
      <p:sp>
        <p:nvSpPr>
          <p:cNvPr id="26" name="Text 24"/>
          <p:cNvSpPr/>
          <p:nvPr/>
        </p:nvSpPr>
        <p:spPr>
          <a:xfrm>
            <a:off x="5394960" y="2523744"/>
            <a:ext cx="3017520" cy="594360"/>
          </a:xfrm>
          <a:prstGeom prst="rect">
            <a:avLst/>
          </a:prstGeom>
          <a:noFill/>
          <a:ln/>
        </p:spPr>
        <p:txBody>
          <a:bodyPr wrap="square" lIns="0" tIns="50800" rIns="5080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Threshold-based replanning strategies during vehicle traversal have not been studied.</a:t>
            </a:r>
            <a:endParaRPr lang="en-US" sz="1200" dirty="0"/>
          </a:p>
        </p:txBody>
      </p:sp>
      <p:sp>
        <p:nvSpPr>
          <p:cNvPr id="27" name="Shape 25"/>
          <p:cNvSpPr/>
          <p:nvPr/>
        </p:nvSpPr>
        <p:spPr>
          <a:xfrm>
            <a:off x="411480" y="3273552"/>
            <a:ext cx="3977640" cy="713232"/>
          </a:xfrm>
          <a:prstGeom prst="roundRect">
            <a:avLst>
              <a:gd name="adj" fmla="val 10256"/>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28" name="Text 26"/>
          <p:cNvSpPr/>
          <p:nvPr/>
        </p:nvSpPr>
        <p:spPr>
          <a:xfrm>
            <a:off x="502920" y="3346704"/>
            <a:ext cx="658368"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Gap 3</a:t>
            </a:r>
            <a:endParaRPr lang="en-US" sz="1050" dirty="0"/>
          </a:p>
        </p:txBody>
      </p:sp>
      <p:sp>
        <p:nvSpPr>
          <p:cNvPr id="29" name="Shape 27"/>
          <p:cNvSpPr/>
          <p:nvPr/>
        </p:nvSpPr>
        <p:spPr>
          <a:xfrm>
            <a:off x="502920" y="3346704"/>
            <a:ext cx="658368" cy="256032"/>
          </a:xfrm>
          <a:prstGeom prst="roundRect">
            <a:avLst>
              <a:gd name="adj" fmla="val 14286"/>
            </a:avLst>
          </a:prstGeom>
          <a:solidFill>
            <a:srgbClr val="1E2761"/>
          </a:solidFill>
          <a:ln/>
        </p:spPr>
        <p:txBody>
          <a:bodyPr/>
          <a:lstStyle/>
          <a:p>
            <a:endParaRPr lang="en-KE"/>
          </a:p>
        </p:txBody>
      </p:sp>
      <p:sp>
        <p:nvSpPr>
          <p:cNvPr id="30" name="Text 28"/>
          <p:cNvSpPr/>
          <p:nvPr/>
        </p:nvSpPr>
        <p:spPr>
          <a:xfrm>
            <a:off x="502920" y="3346704"/>
            <a:ext cx="658368"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Gap 3</a:t>
            </a:r>
            <a:endParaRPr lang="en-US" sz="1050" dirty="0"/>
          </a:p>
        </p:txBody>
      </p:sp>
      <p:sp>
        <p:nvSpPr>
          <p:cNvPr id="31" name="Text 29"/>
          <p:cNvSpPr/>
          <p:nvPr/>
        </p:nvSpPr>
        <p:spPr>
          <a:xfrm>
            <a:off x="1234440" y="3328416"/>
            <a:ext cx="3017520" cy="594360"/>
          </a:xfrm>
          <a:prstGeom prst="rect">
            <a:avLst/>
          </a:prstGeom>
          <a:noFill/>
          <a:ln/>
        </p:spPr>
        <p:txBody>
          <a:bodyPr wrap="square" lIns="0" tIns="50800" rIns="5080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Evaluations address prediction or routing independently — not the combined, integrated effect.</a:t>
            </a:r>
            <a:endParaRPr lang="en-US" sz="1200" dirty="0"/>
          </a:p>
        </p:txBody>
      </p:sp>
      <p:sp>
        <p:nvSpPr>
          <p:cNvPr id="32" name="Shape 30"/>
          <p:cNvSpPr/>
          <p:nvPr/>
        </p:nvSpPr>
        <p:spPr>
          <a:xfrm>
            <a:off x="4572000" y="3273552"/>
            <a:ext cx="3977640" cy="713232"/>
          </a:xfrm>
          <a:prstGeom prst="roundRect">
            <a:avLst>
              <a:gd name="adj" fmla="val 10256"/>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33" name="Text 31"/>
          <p:cNvSpPr/>
          <p:nvPr/>
        </p:nvSpPr>
        <p:spPr>
          <a:xfrm>
            <a:off x="4663440" y="3346704"/>
            <a:ext cx="658368"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Gap 4</a:t>
            </a:r>
            <a:endParaRPr lang="en-US" sz="1050" dirty="0"/>
          </a:p>
        </p:txBody>
      </p:sp>
      <p:sp>
        <p:nvSpPr>
          <p:cNvPr id="34" name="Shape 32"/>
          <p:cNvSpPr/>
          <p:nvPr/>
        </p:nvSpPr>
        <p:spPr>
          <a:xfrm>
            <a:off x="4663440" y="3346704"/>
            <a:ext cx="658368" cy="256032"/>
          </a:xfrm>
          <a:prstGeom prst="roundRect">
            <a:avLst>
              <a:gd name="adj" fmla="val 14286"/>
            </a:avLst>
          </a:prstGeom>
          <a:solidFill>
            <a:srgbClr val="1E2761"/>
          </a:solidFill>
          <a:ln/>
        </p:spPr>
        <p:txBody>
          <a:bodyPr/>
          <a:lstStyle/>
          <a:p>
            <a:endParaRPr lang="en-KE"/>
          </a:p>
        </p:txBody>
      </p:sp>
      <p:sp>
        <p:nvSpPr>
          <p:cNvPr id="35" name="Text 33"/>
          <p:cNvSpPr/>
          <p:nvPr/>
        </p:nvSpPr>
        <p:spPr>
          <a:xfrm>
            <a:off x="4663440" y="3346704"/>
            <a:ext cx="658368"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Gap 4</a:t>
            </a:r>
            <a:endParaRPr lang="en-US" sz="1050" dirty="0"/>
          </a:p>
        </p:txBody>
      </p:sp>
      <p:sp>
        <p:nvSpPr>
          <p:cNvPr id="36" name="Text 34"/>
          <p:cNvSpPr/>
          <p:nvPr/>
        </p:nvSpPr>
        <p:spPr>
          <a:xfrm>
            <a:off x="5394960" y="3328416"/>
            <a:ext cx="3017520" cy="594360"/>
          </a:xfrm>
          <a:prstGeom prst="rect">
            <a:avLst/>
          </a:prstGeom>
          <a:noFill/>
          <a:ln/>
        </p:spPr>
        <p:txBody>
          <a:bodyPr wrap="square" lIns="0" tIns="50800" rIns="5080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EV routing with deep learning is under-researched, especially in Sub-Saharan African urban contexts.</a:t>
            </a:r>
            <a:endParaRPr lang="en-US" sz="1200" dirty="0"/>
          </a:p>
        </p:txBody>
      </p:sp>
      <p:sp>
        <p:nvSpPr>
          <p:cNvPr id="37" name="Text 35"/>
          <p:cNvSpPr/>
          <p:nvPr/>
        </p:nvSpPr>
        <p:spPr>
          <a:xfrm>
            <a:off x="411480" y="4663440"/>
            <a:ext cx="8321040" cy="320040"/>
          </a:xfrm>
          <a:prstGeom prst="rect">
            <a:avLst/>
          </a:prstGeom>
          <a:noFill/>
          <a:ln/>
        </p:spPr>
        <p:txBody>
          <a:bodyPr wrap="square" lIns="0" tIns="0" rIns="0" bIns="0" rtlCol="0" anchor="ctr"/>
          <a:lstStyle/>
          <a:p>
            <a:pPr marL="0" indent="0" algn="l">
              <a:buNone/>
            </a:pPr>
            <a:r>
              <a:rPr lang="en-US" sz="1100" i="1" dirty="0">
                <a:solidFill>
                  <a:srgbClr val="1E2761"/>
                </a:solidFill>
                <a:latin typeface="Calibri" pitchFamily="34" charset="0"/>
                <a:ea typeface="Calibri" pitchFamily="34" charset="-122"/>
                <a:cs typeface="Calibri" pitchFamily="34" charset="-120"/>
              </a:rPr>
              <a:t>Conclusion: No prior study addressed all five dimensions simultaneously — prediction, routing, integration, EV-specific, and African ITS context.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4F7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94360"/>
          </a:xfrm>
          <a:prstGeom prst="rect">
            <a:avLst/>
          </a:prstGeom>
          <a:noFill/>
          <a:ln/>
        </p:spPr>
        <p:txBody>
          <a:bodyPr wrap="square" lIns="0" tIns="0" rIns="0" bIns="0" rtlCol="0" anchor="ctr"/>
          <a:lstStyle/>
          <a:p>
            <a:pPr marL="0" indent="0" algn="l">
              <a:buNone/>
            </a:pPr>
            <a:r>
              <a:rPr lang="en-US" sz="2600" b="1" dirty="0">
                <a:solidFill>
                  <a:srgbClr val="1E2761"/>
                </a:solidFill>
                <a:latin typeface="Cambria" pitchFamily="34" charset="0"/>
                <a:ea typeface="Cambria" pitchFamily="34" charset="-122"/>
                <a:cs typeface="Cambria" pitchFamily="34" charset="-120"/>
              </a:rPr>
              <a:t>Findings — Objective 2: GRU Prediction Module</a:t>
            </a:r>
            <a:endParaRPr lang="en-US" sz="2600" dirty="0"/>
          </a:p>
        </p:txBody>
      </p:sp>
      <p:sp>
        <p:nvSpPr>
          <p:cNvPr id="31" name="Shape 1">
            <a:extLst>
              <a:ext uri="{FF2B5EF4-FFF2-40B4-BE49-F238E27FC236}">
                <a16:creationId xmlns:a16="http://schemas.microsoft.com/office/drawing/2014/main" id="{C0B1697B-1659-01E2-15A0-4E1663F57560}"/>
              </a:ext>
            </a:extLst>
          </p:cNvPr>
          <p:cNvSpPr/>
          <p:nvPr/>
        </p:nvSpPr>
        <p:spPr>
          <a:xfrm>
            <a:off x="411480" y="841248"/>
            <a:ext cx="8321040" cy="32004"/>
          </a:xfrm>
          <a:prstGeom prst="rect">
            <a:avLst/>
          </a:prstGeom>
          <a:solidFill>
            <a:srgbClr val="CADCFC"/>
          </a:solidFill>
          <a:ln/>
        </p:spPr>
        <p:txBody>
          <a:bodyPr/>
          <a:lstStyle/>
          <a:p>
            <a:endParaRPr lang="en-KE"/>
          </a:p>
        </p:txBody>
      </p:sp>
      <p:sp>
        <p:nvSpPr>
          <p:cNvPr id="33" name="Shape 2">
            <a:extLst>
              <a:ext uri="{FF2B5EF4-FFF2-40B4-BE49-F238E27FC236}">
                <a16:creationId xmlns:a16="http://schemas.microsoft.com/office/drawing/2014/main" id="{CEE275E5-8C08-2357-EEED-A68FC08A0A95}"/>
              </a:ext>
            </a:extLst>
          </p:cNvPr>
          <p:cNvSpPr/>
          <p:nvPr/>
        </p:nvSpPr>
        <p:spPr>
          <a:xfrm>
            <a:off x="411480" y="960120"/>
            <a:ext cx="1920240" cy="960120"/>
          </a:xfrm>
          <a:prstGeom prst="roundRect">
            <a:avLst>
              <a:gd name="adj" fmla="val 6667"/>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35" name="Text 3">
            <a:extLst>
              <a:ext uri="{FF2B5EF4-FFF2-40B4-BE49-F238E27FC236}">
                <a16:creationId xmlns:a16="http://schemas.microsoft.com/office/drawing/2014/main" id="{5E6429E7-6098-E429-128F-76C01858B7CA}"/>
              </a:ext>
            </a:extLst>
          </p:cNvPr>
          <p:cNvSpPr/>
          <p:nvPr/>
        </p:nvSpPr>
        <p:spPr>
          <a:xfrm>
            <a:off x="411480" y="1014984"/>
            <a:ext cx="1920240" cy="528066"/>
          </a:xfrm>
          <a:prstGeom prst="rect">
            <a:avLst/>
          </a:prstGeom>
          <a:noFill/>
          <a:ln/>
        </p:spPr>
        <p:txBody>
          <a:bodyPr wrap="square" lIns="0" tIns="0" rIns="0" bIns="0" rtlCol="0" anchor="b"/>
          <a:lstStyle/>
          <a:p>
            <a:pPr marL="0" indent="0" algn="ctr">
              <a:buNone/>
            </a:pPr>
            <a:r>
              <a:rPr lang="en-US" sz="2400" b="1" dirty="0">
                <a:solidFill>
                  <a:srgbClr val="0D9488"/>
                </a:solidFill>
                <a:latin typeface="Cambria" pitchFamily="34" charset="0"/>
                <a:ea typeface="Cambria" pitchFamily="34" charset="-122"/>
                <a:cs typeface="Cambria" pitchFamily="34" charset="-120"/>
              </a:rPr>
              <a:t>3.42 mph</a:t>
            </a:r>
            <a:endParaRPr lang="en-US" sz="2400" dirty="0"/>
          </a:p>
        </p:txBody>
      </p:sp>
      <p:sp>
        <p:nvSpPr>
          <p:cNvPr id="37" name="Text 4">
            <a:extLst>
              <a:ext uri="{FF2B5EF4-FFF2-40B4-BE49-F238E27FC236}">
                <a16:creationId xmlns:a16="http://schemas.microsoft.com/office/drawing/2014/main" id="{A185B99E-0386-4BE4-FB98-71E36B1C40D9}"/>
              </a:ext>
            </a:extLst>
          </p:cNvPr>
          <p:cNvSpPr/>
          <p:nvPr/>
        </p:nvSpPr>
        <p:spPr>
          <a:xfrm>
            <a:off x="411480" y="1488186"/>
            <a:ext cx="1920240" cy="403250"/>
          </a:xfrm>
          <a:prstGeom prst="rect">
            <a:avLst/>
          </a:prstGeom>
          <a:noFill/>
          <a:ln/>
        </p:spPr>
        <p:txBody>
          <a:bodyPr wrap="square" lIns="0" tIns="0" rIns="0" bIns="0" rtlCol="0" anchor="t"/>
          <a:lstStyle/>
          <a:p>
            <a:pPr marL="0" indent="0" algn="ctr">
              <a:buNone/>
            </a:pPr>
            <a:r>
              <a:rPr lang="en-US" sz="1050" dirty="0">
                <a:solidFill>
                  <a:srgbClr val="5A6080"/>
                </a:solidFill>
                <a:latin typeface="Calibri" pitchFamily="34" charset="0"/>
                <a:ea typeface="Calibri" pitchFamily="34" charset="-122"/>
                <a:cs typeface="Calibri" pitchFamily="34" charset="-120"/>
              </a:rPr>
              <a:t>Test MAE</a:t>
            </a:r>
            <a:endParaRPr lang="en-US" sz="1050" dirty="0"/>
          </a:p>
          <a:p>
            <a:pPr marL="0" indent="0" algn="ctr">
              <a:buNone/>
            </a:pPr>
            <a:r>
              <a:rPr lang="en-US" sz="1050" dirty="0">
                <a:solidFill>
                  <a:srgbClr val="5A6080"/>
                </a:solidFill>
                <a:latin typeface="Calibri" pitchFamily="34" charset="0"/>
                <a:ea typeface="Calibri" pitchFamily="34" charset="-122"/>
                <a:cs typeface="Calibri" pitchFamily="34" charset="-120"/>
              </a:rPr>
              <a:t>(Mean Absolute Error)</a:t>
            </a:r>
            <a:endParaRPr lang="en-US" sz="1050" dirty="0"/>
          </a:p>
        </p:txBody>
      </p:sp>
      <p:sp>
        <p:nvSpPr>
          <p:cNvPr id="39" name="Shape 5">
            <a:extLst>
              <a:ext uri="{FF2B5EF4-FFF2-40B4-BE49-F238E27FC236}">
                <a16:creationId xmlns:a16="http://schemas.microsoft.com/office/drawing/2014/main" id="{233D9D99-791F-8E09-BC41-66734A492E9A}"/>
              </a:ext>
            </a:extLst>
          </p:cNvPr>
          <p:cNvSpPr/>
          <p:nvPr/>
        </p:nvSpPr>
        <p:spPr>
          <a:xfrm>
            <a:off x="2514600" y="960120"/>
            <a:ext cx="1920240" cy="960120"/>
          </a:xfrm>
          <a:prstGeom prst="roundRect">
            <a:avLst>
              <a:gd name="adj" fmla="val 6667"/>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41" name="Text 6">
            <a:extLst>
              <a:ext uri="{FF2B5EF4-FFF2-40B4-BE49-F238E27FC236}">
                <a16:creationId xmlns:a16="http://schemas.microsoft.com/office/drawing/2014/main" id="{4D51BC2D-E35E-BE83-C2AC-DBEE390C848C}"/>
              </a:ext>
            </a:extLst>
          </p:cNvPr>
          <p:cNvSpPr/>
          <p:nvPr/>
        </p:nvSpPr>
        <p:spPr>
          <a:xfrm>
            <a:off x="2514600" y="1014984"/>
            <a:ext cx="1920240" cy="528066"/>
          </a:xfrm>
          <a:prstGeom prst="rect">
            <a:avLst/>
          </a:prstGeom>
          <a:noFill/>
          <a:ln/>
        </p:spPr>
        <p:txBody>
          <a:bodyPr wrap="square" lIns="0" tIns="0" rIns="0" bIns="0" rtlCol="0" anchor="b"/>
          <a:lstStyle/>
          <a:p>
            <a:pPr marL="0" indent="0" algn="ctr">
              <a:buNone/>
            </a:pPr>
            <a:r>
              <a:rPr lang="en-US" sz="2400" b="1" dirty="0">
                <a:solidFill>
                  <a:srgbClr val="1E2761"/>
                </a:solidFill>
                <a:latin typeface="Cambria" pitchFamily="34" charset="0"/>
                <a:ea typeface="Cambria" pitchFamily="34" charset="-122"/>
                <a:cs typeface="Cambria" pitchFamily="34" charset="-120"/>
              </a:rPr>
              <a:t>6.14 mph</a:t>
            </a:r>
            <a:endParaRPr lang="en-US" sz="2400" dirty="0"/>
          </a:p>
        </p:txBody>
      </p:sp>
      <p:sp>
        <p:nvSpPr>
          <p:cNvPr id="43" name="Text 7">
            <a:extLst>
              <a:ext uri="{FF2B5EF4-FFF2-40B4-BE49-F238E27FC236}">
                <a16:creationId xmlns:a16="http://schemas.microsoft.com/office/drawing/2014/main" id="{BB5F7A08-376A-F9A6-F259-F06F2AC288D4}"/>
              </a:ext>
            </a:extLst>
          </p:cNvPr>
          <p:cNvSpPr/>
          <p:nvPr/>
        </p:nvSpPr>
        <p:spPr>
          <a:xfrm>
            <a:off x="2514600" y="1488186"/>
            <a:ext cx="1920240" cy="403250"/>
          </a:xfrm>
          <a:prstGeom prst="rect">
            <a:avLst/>
          </a:prstGeom>
          <a:noFill/>
          <a:ln/>
        </p:spPr>
        <p:txBody>
          <a:bodyPr wrap="square" lIns="0" tIns="0" rIns="0" bIns="0" rtlCol="0" anchor="t"/>
          <a:lstStyle/>
          <a:p>
            <a:pPr marL="0" indent="0" algn="ctr">
              <a:buNone/>
            </a:pPr>
            <a:r>
              <a:rPr lang="en-US" sz="1050" dirty="0">
                <a:solidFill>
                  <a:srgbClr val="5A6080"/>
                </a:solidFill>
                <a:latin typeface="Calibri" pitchFamily="34" charset="0"/>
                <a:ea typeface="Calibri" pitchFamily="34" charset="-122"/>
                <a:cs typeface="Calibri" pitchFamily="34" charset="-120"/>
              </a:rPr>
              <a:t>Test RMSE</a:t>
            </a:r>
            <a:endParaRPr lang="en-US" sz="1050" dirty="0"/>
          </a:p>
          <a:p>
            <a:pPr marL="0" indent="0" algn="ctr">
              <a:buNone/>
            </a:pPr>
            <a:r>
              <a:rPr lang="en-US" sz="1050" dirty="0">
                <a:solidFill>
                  <a:srgbClr val="5A6080"/>
                </a:solidFill>
                <a:latin typeface="Calibri" pitchFamily="34" charset="0"/>
                <a:ea typeface="Calibri" pitchFamily="34" charset="-122"/>
                <a:cs typeface="Calibri" pitchFamily="34" charset="-120"/>
              </a:rPr>
              <a:t>(Root Mean Sq. Error)</a:t>
            </a:r>
            <a:endParaRPr lang="en-US" sz="1050" dirty="0"/>
          </a:p>
        </p:txBody>
      </p:sp>
      <p:sp>
        <p:nvSpPr>
          <p:cNvPr id="45" name="Shape 8">
            <a:extLst>
              <a:ext uri="{FF2B5EF4-FFF2-40B4-BE49-F238E27FC236}">
                <a16:creationId xmlns:a16="http://schemas.microsoft.com/office/drawing/2014/main" id="{011368DD-91C8-02BD-C554-1B9F7FF00384}"/>
              </a:ext>
            </a:extLst>
          </p:cNvPr>
          <p:cNvSpPr/>
          <p:nvPr/>
        </p:nvSpPr>
        <p:spPr>
          <a:xfrm>
            <a:off x="4617720" y="960120"/>
            <a:ext cx="1920240" cy="960120"/>
          </a:xfrm>
          <a:prstGeom prst="roundRect">
            <a:avLst>
              <a:gd name="adj" fmla="val 6667"/>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47" name="Text 9">
            <a:extLst>
              <a:ext uri="{FF2B5EF4-FFF2-40B4-BE49-F238E27FC236}">
                <a16:creationId xmlns:a16="http://schemas.microsoft.com/office/drawing/2014/main" id="{07425355-6C70-6FBF-A7CA-044681A0EAF6}"/>
              </a:ext>
            </a:extLst>
          </p:cNvPr>
          <p:cNvSpPr/>
          <p:nvPr/>
        </p:nvSpPr>
        <p:spPr>
          <a:xfrm>
            <a:off x="4617720" y="1014984"/>
            <a:ext cx="1920240" cy="528066"/>
          </a:xfrm>
          <a:prstGeom prst="rect">
            <a:avLst/>
          </a:prstGeom>
          <a:noFill/>
          <a:ln/>
        </p:spPr>
        <p:txBody>
          <a:bodyPr wrap="square" lIns="0" tIns="0" rIns="0" bIns="0" rtlCol="0" anchor="b"/>
          <a:lstStyle/>
          <a:p>
            <a:pPr marL="0" indent="0" algn="ctr">
              <a:buNone/>
            </a:pPr>
            <a:r>
              <a:rPr lang="en-US" sz="2800" b="1" dirty="0">
                <a:solidFill>
                  <a:srgbClr val="E8A838"/>
                </a:solidFill>
                <a:latin typeface="Cambria" pitchFamily="34" charset="0"/>
                <a:ea typeface="Cambria" pitchFamily="34" charset="-122"/>
                <a:cs typeface="Cambria" pitchFamily="34" charset="-120"/>
              </a:rPr>
              <a:t>17</a:t>
            </a:r>
            <a:endParaRPr lang="en-US" sz="2800" dirty="0"/>
          </a:p>
        </p:txBody>
      </p:sp>
      <p:sp>
        <p:nvSpPr>
          <p:cNvPr id="49" name="Text 10">
            <a:extLst>
              <a:ext uri="{FF2B5EF4-FFF2-40B4-BE49-F238E27FC236}">
                <a16:creationId xmlns:a16="http://schemas.microsoft.com/office/drawing/2014/main" id="{747A93E4-4A76-5F9B-9223-0B1E20917876}"/>
              </a:ext>
            </a:extLst>
          </p:cNvPr>
          <p:cNvSpPr/>
          <p:nvPr/>
        </p:nvSpPr>
        <p:spPr>
          <a:xfrm>
            <a:off x="4617720" y="1488186"/>
            <a:ext cx="1920240" cy="403250"/>
          </a:xfrm>
          <a:prstGeom prst="rect">
            <a:avLst/>
          </a:prstGeom>
          <a:noFill/>
          <a:ln/>
        </p:spPr>
        <p:txBody>
          <a:bodyPr wrap="square" lIns="0" tIns="0" rIns="0" bIns="0" rtlCol="0" anchor="t"/>
          <a:lstStyle/>
          <a:p>
            <a:pPr marL="0" indent="0" algn="ctr">
              <a:buNone/>
            </a:pPr>
            <a:r>
              <a:rPr lang="en-US" sz="1050" dirty="0">
                <a:solidFill>
                  <a:srgbClr val="5A6080"/>
                </a:solidFill>
                <a:latin typeface="Calibri" pitchFamily="34" charset="0"/>
                <a:ea typeface="Calibri" pitchFamily="34" charset="-122"/>
                <a:cs typeface="Calibri" pitchFamily="34" charset="-120"/>
              </a:rPr>
              <a:t>Epochs trained</a:t>
            </a:r>
            <a:endParaRPr lang="en-US" sz="1050" dirty="0"/>
          </a:p>
          <a:p>
            <a:pPr marL="0" indent="0" algn="ctr">
              <a:buNone/>
            </a:pPr>
            <a:r>
              <a:rPr lang="en-US" sz="1050" dirty="0">
                <a:solidFill>
                  <a:srgbClr val="5A6080"/>
                </a:solidFill>
                <a:latin typeface="Calibri" pitchFamily="34" charset="0"/>
                <a:ea typeface="Calibri" pitchFamily="34" charset="-122"/>
                <a:cs typeface="Calibri" pitchFamily="34" charset="-120"/>
              </a:rPr>
              <a:t>(early stopping)</a:t>
            </a:r>
            <a:endParaRPr lang="en-US" sz="1050" dirty="0"/>
          </a:p>
        </p:txBody>
      </p:sp>
      <p:sp>
        <p:nvSpPr>
          <p:cNvPr id="51" name="Shape 11">
            <a:extLst>
              <a:ext uri="{FF2B5EF4-FFF2-40B4-BE49-F238E27FC236}">
                <a16:creationId xmlns:a16="http://schemas.microsoft.com/office/drawing/2014/main" id="{1A91225A-6431-2E44-4A96-422327E36354}"/>
              </a:ext>
            </a:extLst>
          </p:cNvPr>
          <p:cNvSpPr/>
          <p:nvPr/>
        </p:nvSpPr>
        <p:spPr>
          <a:xfrm>
            <a:off x="6720840" y="960120"/>
            <a:ext cx="1920240" cy="960120"/>
          </a:xfrm>
          <a:prstGeom prst="roundRect">
            <a:avLst>
              <a:gd name="adj" fmla="val 6667"/>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53" name="Text 12">
            <a:extLst>
              <a:ext uri="{FF2B5EF4-FFF2-40B4-BE49-F238E27FC236}">
                <a16:creationId xmlns:a16="http://schemas.microsoft.com/office/drawing/2014/main" id="{9D58DDC9-B6B4-677F-B498-C8A1FDAB2CE5}"/>
              </a:ext>
            </a:extLst>
          </p:cNvPr>
          <p:cNvSpPr/>
          <p:nvPr/>
        </p:nvSpPr>
        <p:spPr>
          <a:xfrm>
            <a:off x="6720840" y="1014984"/>
            <a:ext cx="1920240" cy="528066"/>
          </a:xfrm>
          <a:prstGeom prst="rect">
            <a:avLst/>
          </a:prstGeom>
          <a:noFill/>
          <a:ln/>
        </p:spPr>
        <p:txBody>
          <a:bodyPr wrap="square" lIns="0" tIns="0" rIns="0" bIns="0" rtlCol="0" anchor="b"/>
          <a:lstStyle/>
          <a:p>
            <a:pPr marL="0" indent="0" algn="ctr">
              <a:buNone/>
            </a:pPr>
            <a:r>
              <a:rPr lang="en-US" sz="2200" b="1" dirty="0">
                <a:solidFill>
                  <a:srgbClr val="0D9488"/>
                </a:solidFill>
                <a:latin typeface="Cambria" pitchFamily="34" charset="0"/>
                <a:ea typeface="Cambria" pitchFamily="34" charset="-122"/>
                <a:cs typeface="Cambria" pitchFamily="34" charset="-120"/>
              </a:rPr>
              <a:t>~41 ms</a:t>
            </a:r>
            <a:endParaRPr lang="en-US" sz="2200" dirty="0"/>
          </a:p>
        </p:txBody>
      </p:sp>
      <p:sp>
        <p:nvSpPr>
          <p:cNvPr id="55" name="Text 13">
            <a:extLst>
              <a:ext uri="{FF2B5EF4-FFF2-40B4-BE49-F238E27FC236}">
                <a16:creationId xmlns:a16="http://schemas.microsoft.com/office/drawing/2014/main" id="{CE46A528-8E87-88D4-3EA6-61278A06F92C}"/>
              </a:ext>
            </a:extLst>
          </p:cNvPr>
          <p:cNvSpPr/>
          <p:nvPr/>
        </p:nvSpPr>
        <p:spPr>
          <a:xfrm>
            <a:off x="6720840" y="1488186"/>
            <a:ext cx="1920240" cy="403250"/>
          </a:xfrm>
          <a:prstGeom prst="rect">
            <a:avLst/>
          </a:prstGeom>
          <a:noFill/>
          <a:ln/>
        </p:spPr>
        <p:txBody>
          <a:bodyPr wrap="square" lIns="0" tIns="0" rIns="0" bIns="0" rtlCol="0" anchor="t"/>
          <a:lstStyle/>
          <a:p>
            <a:pPr marL="0" indent="0" algn="ctr">
              <a:buNone/>
            </a:pPr>
            <a:r>
              <a:rPr lang="en-US" sz="1050" dirty="0">
                <a:solidFill>
                  <a:srgbClr val="5A6080"/>
                </a:solidFill>
                <a:latin typeface="Calibri" pitchFamily="34" charset="0"/>
                <a:ea typeface="Calibri" pitchFamily="34" charset="-122"/>
                <a:cs typeface="Calibri" pitchFamily="34" charset="-120"/>
              </a:rPr>
              <a:t>GRU inference</a:t>
            </a:r>
            <a:endParaRPr lang="en-US" sz="1050" dirty="0"/>
          </a:p>
          <a:p>
            <a:pPr marL="0" indent="0" algn="ctr">
              <a:buNone/>
            </a:pPr>
            <a:r>
              <a:rPr lang="en-US" sz="1050" dirty="0">
                <a:solidFill>
                  <a:srgbClr val="5A6080"/>
                </a:solidFill>
                <a:latin typeface="Calibri" pitchFamily="34" charset="0"/>
                <a:ea typeface="Calibri" pitchFamily="34" charset="-122"/>
                <a:cs typeface="Calibri" pitchFamily="34" charset="-120"/>
              </a:rPr>
              <a:t>per batch (207 sensors)</a:t>
            </a:r>
            <a:endParaRPr lang="en-US" sz="1050" dirty="0"/>
          </a:p>
        </p:txBody>
      </p:sp>
      <p:sp>
        <p:nvSpPr>
          <p:cNvPr id="57" name="Shape 14">
            <a:extLst>
              <a:ext uri="{FF2B5EF4-FFF2-40B4-BE49-F238E27FC236}">
                <a16:creationId xmlns:a16="http://schemas.microsoft.com/office/drawing/2014/main" id="{043772CB-3471-18B9-FC21-8F1704A73DFA}"/>
              </a:ext>
            </a:extLst>
          </p:cNvPr>
          <p:cNvSpPr/>
          <p:nvPr/>
        </p:nvSpPr>
        <p:spPr>
          <a:xfrm>
            <a:off x="411480" y="2103120"/>
            <a:ext cx="8321040" cy="512064"/>
          </a:xfrm>
          <a:prstGeom prst="roundRect">
            <a:avLst>
              <a:gd name="adj" fmla="val 12500"/>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59" name="Text 15">
            <a:extLst>
              <a:ext uri="{FF2B5EF4-FFF2-40B4-BE49-F238E27FC236}">
                <a16:creationId xmlns:a16="http://schemas.microsoft.com/office/drawing/2014/main" id="{E7BD81AB-BF3D-8AB3-00CF-49ED01E9BDF8}"/>
              </a:ext>
            </a:extLst>
          </p:cNvPr>
          <p:cNvSpPr/>
          <p:nvPr/>
        </p:nvSpPr>
        <p:spPr>
          <a:xfrm>
            <a:off x="502920" y="2139696"/>
            <a:ext cx="8229600" cy="438912"/>
          </a:xfrm>
          <a:prstGeom prst="rect">
            <a:avLst/>
          </a:prstGeom>
          <a:noFill/>
          <a:ln/>
        </p:spPr>
        <p:txBody>
          <a:bodyPr wrap="square" lIns="0" tIns="50800" rIns="5080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MAE of 3.42 mph sits within the </a:t>
            </a:r>
            <a:r>
              <a:rPr lang="en-US" sz="1200" b="1" dirty="0">
                <a:solidFill>
                  <a:srgbClr val="1E2761"/>
                </a:solidFill>
                <a:latin typeface="Calibri" pitchFamily="34" charset="0"/>
                <a:ea typeface="Calibri" pitchFamily="34" charset="-122"/>
                <a:cs typeface="Calibri" pitchFamily="34" charset="-120"/>
              </a:rPr>
              <a:t>3.10–4.20 mph competitive range</a:t>
            </a:r>
            <a:r>
              <a:rPr lang="en-US" sz="1200" dirty="0">
                <a:solidFill>
                  <a:srgbClr val="1A1A2E"/>
                </a:solidFill>
                <a:latin typeface="Calibri" pitchFamily="34" charset="0"/>
                <a:ea typeface="Calibri" pitchFamily="34" charset="-122"/>
                <a:cs typeface="Calibri" pitchFamily="34" charset="-120"/>
              </a:rPr>
              <a:t> for GRU on METR-LA (Jeong et al., 2021) and is within </a:t>
            </a:r>
            <a:r>
              <a:rPr lang="en-US" sz="1200" b="1" dirty="0">
                <a:solidFill>
                  <a:srgbClr val="1E2761"/>
                </a:solidFill>
                <a:latin typeface="Calibri" pitchFamily="34" charset="0"/>
                <a:ea typeface="Calibri" pitchFamily="34" charset="-122"/>
                <a:cs typeface="Calibri" pitchFamily="34" charset="-120"/>
              </a:rPr>
              <a:t>0.65 mph of the complex DCRNN benchmark</a:t>
            </a:r>
            <a:r>
              <a:rPr lang="en-US" sz="1200" dirty="0">
                <a:solidFill>
                  <a:srgbClr val="1A1A2E"/>
                </a:solidFill>
                <a:latin typeface="Calibri" pitchFamily="34" charset="0"/>
                <a:ea typeface="Calibri" pitchFamily="34" charset="-122"/>
                <a:cs typeface="Calibri" pitchFamily="34" charset="-120"/>
              </a:rPr>
              <a:t> (Li et al., 2018).</a:t>
            </a:r>
            <a:endParaRPr lang="en-US" sz="1200" dirty="0"/>
          </a:p>
        </p:txBody>
      </p:sp>
      <p:sp>
        <p:nvSpPr>
          <p:cNvPr id="61" name="Text 16">
            <a:extLst>
              <a:ext uri="{FF2B5EF4-FFF2-40B4-BE49-F238E27FC236}">
                <a16:creationId xmlns:a16="http://schemas.microsoft.com/office/drawing/2014/main" id="{99FC97CE-3FB2-5F0D-094C-88D8ECC586CE}"/>
              </a:ext>
            </a:extLst>
          </p:cNvPr>
          <p:cNvSpPr/>
          <p:nvPr/>
        </p:nvSpPr>
        <p:spPr>
          <a:xfrm>
            <a:off x="411480" y="2743200"/>
            <a:ext cx="4023360" cy="310896"/>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Model Architecture</a:t>
            </a:r>
            <a:endParaRPr lang="en-US" sz="1350" dirty="0"/>
          </a:p>
        </p:txBody>
      </p:sp>
      <p:sp>
        <p:nvSpPr>
          <p:cNvPr id="63" name="Text 17">
            <a:extLst>
              <a:ext uri="{FF2B5EF4-FFF2-40B4-BE49-F238E27FC236}">
                <a16:creationId xmlns:a16="http://schemas.microsoft.com/office/drawing/2014/main" id="{396BBBC0-1552-556F-E4A5-C1A5AE5E799D}"/>
              </a:ext>
            </a:extLst>
          </p:cNvPr>
          <p:cNvSpPr/>
          <p:nvPr/>
        </p:nvSpPr>
        <p:spPr>
          <a:xfrm>
            <a:off x="411480" y="3108960"/>
            <a:ext cx="4023360" cy="1600200"/>
          </a:xfrm>
          <a:prstGeom prst="rect">
            <a:avLst/>
          </a:prstGeom>
          <a:noFill/>
          <a:ln/>
        </p:spPr>
        <p:txBody>
          <a:bodyPr wrap="square" lIns="50800" tIns="76200" rIns="76200" bIns="50800" rtlCol="0" anchor="t"/>
          <a:lstStyle/>
          <a:p>
            <a:pPr marL="342900" indent="-342900">
              <a:spcAft>
                <a:spcPts val="400"/>
              </a:spcAft>
              <a:buSzPct val="100000"/>
              <a:buChar char="•"/>
            </a:pPr>
            <a:r>
              <a:rPr lang="en-US" sz="1150" dirty="0">
                <a:solidFill>
                  <a:srgbClr val="1A1A2E"/>
                </a:solidFill>
                <a:latin typeface="Calibri" pitchFamily="34" charset="0"/>
                <a:ea typeface="Calibri" pitchFamily="34" charset="-122"/>
                <a:cs typeface="Calibri" pitchFamily="34" charset="-120"/>
              </a:rPr>
              <a:t>Input: 12 time steps (60 minutes of 5-min data) for all 207 sensors.</a:t>
            </a:r>
            <a:endParaRPr lang="en-US" sz="1150" dirty="0"/>
          </a:p>
          <a:p>
            <a:pPr marL="342900" indent="-342900">
              <a:spcAft>
                <a:spcPts val="400"/>
              </a:spcAft>
              <a:buSzPct val="100000"/>
              <a:buChar char="•"/>
            </a:pPr>
            <a:r>
              <a:rPr lang="en-US" sz="1150" dirty="0">
                <a:solidFill>
                  <a:srgbClr val="1A1A2E"/>
                </a:solidFill>
                <a:latin typeface="Calibri" pitchFamily="34" charset="0"/>
                <a:ea typeface="Calibri" pitchFamily="34" charset="-122"/>
                <a:cs typeface="Calibri" pitchFamily="34" charset="-120"/>
              </a:rPr>
              <a:t>Architecture: 2 stacked GRU layers, 64 hidden units each, dropout 0.2.</a:t>
            </a:r>
            <a:endParaRPr lang="en-US" sz="1150" dirty="0"/>
          </a:p>
          <a:p>
            <a:pPr marL="342900" indent="-342900">
              <a:spcAft>
                <a:spcPts val="400"/>
              </a:spcAft>
              <a:buSzPct val="100000"/>
              <a:buChar char="•"/>
            </a:pPr>
            <a:r>
              <a:rPr lang="en-US" sz="1150" dirty="0">
                <a:solidFill>
                  <a:srgbClr val="1A1A2E"/>
                </a:solidFill>
                <a:latin typeface="Calibri" pitchFamily="34" charset="0"/>
                <a:ea typeface="Calibri" pitchFamily="34" charset="-122"/>
                <a:cs typeface="Calibri" pitchFamily="34" charset="-120"/>
              </a:rPr>
              <a:t>Output: 6 future speed values per sensor (30 minutes ahead).</a:t>
            </a:r>
            <a:endParaRPr lang="en-US" sz="1150" dirty="0"/>
          </a:p>
          <a:p>
            <a:pPr marL="342900" indent="-342900">
              <a:spcAft>
                <a:spcPts val="400"/>
              </a:spcAft>
              <a:buSzPct val="100000"/>
              <a:buChar char="•"/>
            </a:pPr>
            <a:r>
              <a:rPr lang="en-US" sz="1150" dirty="0">
                <a:solidFill>
                  <a:srgbClr val="1A1A2E"/>
                </a:solidFill>
                <a:latin typeface="Calibri" pitchFamily="34" charset="0"/>
                <a:ea typeface="Calibri" pitchFamily="34" charset="-122"/>
                <a:cs typeface="Calibri" pitchFamily="34" charset="-120"/>
              </a:rPr>
              <a:t>Training: Adam optimiser, MSE loss, early stopping on validation.</a:t>
            </a:r>
            <a:endParaRPr lang="en-US" sz="1150" dirty="0"/>
          </a:p>
          <a:p>
            <a:pPr marL="342900" indent="-342900">
              <a:spcAft>
                <a:spcPts val="400"/>
              </a:spcAft>
              <a:buSzPct val="100000"/>
              <a:buChar char="•"/>
            </a:pPr>
            <a:r>
              <a:rPr lang="en-US" sz="1150" dirty="0">
                <a:solidFill>
                  <a:srgbClr val="1A1A2E"/>
                </a:solidFill>
                <a:latin typeface="Calibri" pitchFamily="34" charset="0"/>
                <a:ea typeface="Calibri" pitchFamily="34" charset="-122"/>
                <a:cs typeface="Calibri" pitchFamily="34" charset="-120"/>
              </a:rPr>
              <a:t>Normalisation: MinMaxScaler fitted on training data only.</a:t>
            </a:r>
            <a:endParaRPr lang="en-US" sz="1150" dirty="0"/>
          </a:p>
        </p:txBody>
      </p:sp>
      <p:sp>
        <p:nvSpPr>
          <p:cNvPr id="65" name="Text 18">
            <a:extLst>
              <a:ext uri="{FF2B5EF4-FFF2-40B4-BE49-F238E27FC236}">
                <a16:creationId xmlns:a16="http://schemas.microsoft.com/office/drawing/2014/main" id="{54870598-0E42-4D97-5DF0-9E81CBD4BBA9}"/>
              </a:ext>
            </a:extLst>
          </p:cNvPr>
          <p:cNvSpPr/>
          <p:nvPr/>
        </p:nvSpPr>
        <p:spPr>
          <a:xfrm>
            <a:off x="4617720" y="2743200"/>
            <a:ext cx="4114800" cy="310896"/>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Quality Signals</a:t>
            </a:r>
            <a:endParaRPr lang="en-US" sz="1350" dirty="0"/>
          </a:p>
        </p:txBody>
      </p:sp>
      <p:sp>
        <p:nvSpPr>
          <p:cNvPr id="67" name="Shape 19">
            <a:extLst>
              <a:ext uri="{FF2B5EF4-FFF2-40B4-BE49-F238E27FC236}">
                <a16:creationId xmlns:a16="http://schemas.microsoft.com/office/drawing/2014/main" id="{2B9BDD2B-EB72-D625-CD25-714B605363E9}"/>
              </a:ext>
            </a:extLst>
          </p:cNvPr>
          <p:cNvSpPr/>
          <p:nvPr/>
        </p:nvSpPr>
        <p:spPr>
          <a:xfrm>
            <a:off x="4617720" y="3108960"/>
            <a:ext cx="4114800" cy="475488"/>
          </a:xfrm>
          <a:prstGeom prst="roundRect">
            <a:avLst>
              <a:gd name="adj" fmla="val 13462"/>
            </a:avLst>
          </a:prstGeom>
          <a:solidFill>
            <a:srgbClr val="EFFAF8"/>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69" name="Text 20">
            <a:extLst>
              <a:ext uri="{FF2B5EF4-FFF2-40B4-BE49-F238E27FC236}">
                <a16:creationId xmlns:a16="http://schemas.microsoft.com/office/drawing/2014/main" id="{3300485F-7BCA-47F4-8728-EA209E78CC81}"/>
              </a:ext>
            </a:extLst>
          </p:cNvPr>
          <p:cNvSpPr/>
          <p:nvPr/>
        </p:nvSpPr>
        <p:spPr>
          <a:xfrm>
            <a:off x="4709160" y="3136392"/>
            <a:ext cx="3931920"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Training loss 0.3826 ≈ Validation loss 0.3846</a:t>
            </a:r>
            <a:endParaRPr lang="en-US" sz="1100" dirty="0"/>
          </a:p>
        </p:txBody>
      </p:sp>
      <p:sp>
        <p:nvSpPr>
          <p:cNvPr id="71" name="Text 21">
            <a:extLst>
              <a:ext uri="{FF2B5EF4-FFF2-40B4-BE49-F238E27FC236}">
                <a16:creationId xmlns:a16="http://schemas.microsoft.com/office/drawing/2014/main" id="{315C4E91-BF58-D8B2-F346-3C3FE1BEE606}"/>
              </a:ext>
            </a:extLst>
          </p:cNvPr>
          <p:cNvSpPr/>
          <p:nvPr/>
        </p:nvSpPr>
        <p:spPr>
          <a:xfrm>
            <a:off x="4709160" y="3355848"/>
            <a:ext cx="3931920" cy="201168"/>
          </a:xfrm>
          <a:prstGeom prst="rect">
            <a:avLst/>
          </a:prstGeom>
          <a:noFill/>
          <a:ln/>
        </p:spPr>
        <p:txBody>
          <a:bodyPr wrap="square" lIns="0" tIns="0" rIns="0" bIns="0" rtlCol="0" anchor="t"/>
          <a:lstStyle/>
          <a:p>
            <a:pPr marL="0" indent="0">
              <a:buNone/>
            </a:pPr>
            <a:r>
              <a:rPr lang="en-US" sz="1050" dirty="0">
                <a:solidFill>
                  <a:srgbClr val="5A6080"/>
                </a:solidFill>
                <a:latin typeface="Calibri" pitchFamily="34" charset="0"/>
                <a:ea typeface="Calibri" pitchFamily="34" charset="-122"/>
                <a:cs typeface="Calibri" pitchFamily="34" charset="-120"/>
              </a:rPr>
              <a:t>No overfitting — model generalises well.</a:t>
            </a:r>
            <a:endParaRPr lang="en-US" sz="1050" dirty="0"/>
          </a:p>
        </p:txBody>
      </p:sp>
      <p:sp>
        <p:nvSpPr>
          <p:cNvPr id="73" name="Shape 22">
            <a:extLst>
              <a:ext uri="{FF2B5EF4-FFF2-40B4-BE49-F238E27FC236}">
                <a16:creationId xmlns:a16="http://schemas.microsoft.com/office/drawing/2014/main" id="{F44680AF-0444-3599-923F-47E924876D66}"/>
              </a:ext>
            </a:extLst>
          </p:cNvPr>
          <p:cNvSpPr/>
          <p:nvPr/>
        </p:nvSpPr>
        <p:spPr>
          <a:xfrm>
            <a:off x="4617720" y="3657600"/>
            <a:ext cx="4114800" cy="475488"/>
          </a:xfrm>
          <a:prstGeom prst="roundRect">
            <a:avLst>
              <a:gd name="adj" fmla="val 13462"/>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75" name="Text 23">
            <a:extLst>
              <a:ext uri="{FF2B5EF4-FFF2-40B4-BE49-F238E27FC236}">
                <a16:creationId xmlns:a16="http://schemas.microsoft.com/office/drawing/2014/main" id="{00402CED-43D7-88AC-1F2E-CB1DF242BA10}"/>
              </a:ext>
            </a:extLst>
          </p:cNvPr>
          <p:cNvSpPr/>
          <p:nvPr/>
        </p:nvSpPr>
        <p:spPr>
          <a:xfrm>
            <a:off x="4709160" y="3685032"/>
            <a:ext cx="3931920"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Early stopping at epoch 17</a:t>
            </a:r>
            <a:endParaRPr lang="en-US" sz="1100" dirty="0"/>
          </a:p>
        </p:txBody>
      </p:sp>
      <p:sp>
        <p:nvSpPr>
          <p:cNvPr id="77" name="Text 24">
            <a:extLst>
              <a:ext uri="{FF2B5EF4-FFF2-40B4-BE49-F238E27FC236}">
                <a16:creationId xmlns:a16="http://schemas.microsoft.com/office/drawing/2014/main" id="{2C95CA60-85BE-469C-E10A-0F5D85AFFABE}"/>
              </a:ext>
            </a:extLst>
          </p:cNvPr>
          <p:cNvSpPr/>
          <p:nvPr/>
        </p:nvSpPr>
        <p:spPr>
          <a:xfrm>
            <a:off x="4709160" y="3904488"/>
            <a:ext cx="3931920" cy="201168"/>
          </a:xfrm>
          <a:prstGeom prst="rect">
            <a:avLst/>
          </a:prstGeom>
          <a:noFill/>
          <a:ln/>
        </p:spPr>
        <p:txBody>
          <a:bodyPr wrap="square" lIns="0" tIns="0" rIns="0" bIns="0" rtlCol="0" anchor="t"/>
          <a:lstStyle/>
          <a:p>
            <a:pPr marL="0" indent="0">
              <a:buNone/>
            </a:pPr>
            <a:r>
              <a:rPr lang="en-US" sz="1050" dirty="0">
                <a:solidFill>
                  <a:srgbClr val="5A6080"/>
                </a:solidFill>
                <a:latin typeface="Calibri" pitchFamily="34" charset="0"/>
                <a:ea typeface="Calibri" pitchFamily="34" charset="-122"/>
                <a:cs typeface="Calibri" pitchFamily="34" charset="-120"/>
              </a:rPr>
              <a:t>Efficient convergence, no wasted computation.</a:t>
            </a:r>
            <a:endParaRPr lang="en-US" sz="1050" dirty="0"/>
          </a:p>
        </p:txBody>
      </p:sp>
      <p:sp>
        <p:nvSpPr>
          <p:cNvPr id="79" name="Shape 25">
            <a:extLst>
              <a:ext uri="{FF2B5EF4-FFF2-40B4-BE49-F238E27FC236}">
                <a16:creationId xmlns:a16="http://schemas.microsoft.com/office/drawing/2014/main" id="{0FA53785-20B5-57D8-095F-FA1C8CB6D0EC}"/>
              </a:ext>
            </a:extLst>
          </p:cNvPr>
          <p:cNvSpPr/>
          <p:nvPr/>
        </p:nvSpPr>
        <p:spPr>
          <a:xfrm>
            <a:off x="4617720" y="4206240"/>
            <a:ext cx="4114800" cy="475488"/>
          </a:xfrm>
          <a:prstGeom prst="roundRect">
            <a:avLst>
              <a:gd name="adj" fmla="val 13462"/>
            </a:avLst>
          </a:prstGeom>
          <a:solidFill>
            <a:srgbClr val="EFFAF8"/>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81" name="Text 26">
            <a:extLst>
              <a:ext uri="{FF2B5EF4-FFF2-40B4-BE49-F238E27FC236}">
                <a16:creationId xmlns:a16="http://schemas.microsoft.com/office/drawing/2014/main" id="{860970C0-18E4-C8C2-9657-DB6B5A6B6A5F}"/>
              </a:ext>
            </a:extLst>
          </p:cNvPr>
          <p:cNvSpPr/>
          <p:nvPr/>
        </p:nvSpPr>
        <p:spPr>
          <a:xfrm>
            <a:off x="4709160" y="4233672"/>
            <a:ext cx="3931920"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~41 ms inference time</a:t>
            </a:r>
            <a:endParaRPr lang="en-US" sz="1100" dirty="0"/>
          </a:p>
        </p:txBody>
      </p:sp>
      <p:sp>
        <p:nvSpPr>
          <p:cNvPr id="83" name="Text 27">
            <a:extLst>
              <a:ext uri="{FF2B5EF4-FFF2-40B4-BE49-F238E27FC236}">
                <a16:creationId xmlns:a16="http://schemas.microsoft.com/office/drawing/2014/main" id="{597F98AE-1C0C-06BF-C0D3-B0BB0ECEDC45}"/>
              </a:ext>
            </a:extLst>
          </p:cNvPr>
          <p:cNvSpPr/>
          <p:nvPr/>
        </p:nvSpPr>
        <p:spPr>
          <a:xfrm>
            <a:off x="4709160" y="4453128"/>
            <a:ext cx="3931920" cy="201168"/>
          </a:xfrm>
          <a:prstGeom prst="rect">
            <a:avLst/>
          </a:prstGeom>
          <a:noFill/>
          <a:ln/>
        </p:spPr>
        <p:txBody>
          <a:bodyPr wrap="square" lIns="0" tIns="0" rIns="0" bIns="0" rtlCol="0" anchor="t"/>
          <a:lstStyle/>
          <a:p>
            <a:pPr marL="0" indent="0">
              <a:buNone/>
            </a:pPr>
            <a:r>
              <a:rPr lang="en-US" sz="1050" dirty="0">
                <a:solidFill>
                  <a:srgbClr val="5A6080"/>
                </a:solidFill>
                <a:latin typeface="Calibri" pitchFamily="34" charset="0"/>
                <a:ea typeface="Calibri" pitchFamily="34" charset="-122"/>
                <a:cs typeface="Calibri" pitchFamily="34" charset="-120"/>
              </a:rPr>
              <a:t>Well within the 1,000 ms sub-second dispatch target.</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4F7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94360"/>
          </a:xfrm>
          <a:prstGeom prst="rect">
            <a:avLst/>
          </a:prstGeom>
          <a:noFill/>
          <a:ln/>
        </p:spPr>
        <p:txBody>
          <a:bodyPr wrap="square" lIns="0" tIns="0" rIns="0" bIns="0" rtlCol="0" anchor="ctr"/>
          <a:lstStyle/>
          <a:p>
            <a:pPr marL="0" indent="0" algn="l">
              <a:buNone/>
            </a:pPr>
            <a:r>
              <a:rPr lang="en-US" sz="2600" b="1" dirty="0">
                <a:solidFill>
                  <a:srgbClr val="1E2761"/>
                </a:solidFill>
                <a:latin typeface="Cambria" pitchFamily="34" charset="0"/>
                <a:ea typeface="Cambria" pitchFamily="34" charset="-122"/>
                <a:cs typeface="Cambria" pitchFamily="34" charset="-120"/>
              </a:rPr>
              <a:t>Findings — Objective 2: Framework Architecture</a:t>
            </a:r>
            <a:endParaRPr lang="en-US" sz="2600" dirty="0"/>
          </a:p>
        </p:txBody>
      </p:sp>
      <p:sp>
        <p:nvSpPr>
          <p:cNvPr id="3" name="Shape 1"/>
          <p:cNvSpPr/>
          <p:nvPr/>
        </p:nvSpPr>
        <p:spPr>
          <a:xfrm>
            <a:off x="411480" y="868680"/>
            <a:ext cx="8321040" cy="36576"/>
          </a:xfrm>
          <a:prstGeom prst="rect">
            <a:avLst/>
          </a:prstGeom>
          <a:solidFill>
            <a:srgbClr val="CADCFC"/>
          </a:solidFill>
          <a:ln/>
        </p:spPr>
        <p:txBody>
          <a:bodyPr/>
          <a:lstStyle/>
          <a:p>
            <a:endParaRPr lang="en-KE"/>
          </a:p>
        </p:txBody>
      </p:sp>
      <p:sp>
        <p:nvSpPr>
          <p:cNvPr id="4" name="Shape 2"/>
          <p:cNvSpPr/>
          <p:nvPr/>
        </p:nvSpPr>
        <p:spPr>
          <a:xfrm>
            <a:off x="411480" y="987552"/>
            <a:ext cx="8321040" cy="1170432"/>
          </a:xfrm>
          <a:prstGeom prst="roundRect">
            <a:avLst>
              <a:gd name="adj" fmla="val 6250"/>
            </a:avLst>
          </a:prstGeom>
          <a:solidFill>
            <a:srgbClr val="EFFAF8"/>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5" name="Shape 3"/>
          <p:cNvSpPr/>
          <p:nvPr/>
        </p:nvSpPr>
        <p:spPr>
          <a:xfrm>
            <a:off x="548640" y="1280160"/>
            <a:ext cx="502920" cy="502920"/>
          </a:xfrm>
          <a:prstGeom prst="ellipse">
            <a:avLst/>
          </a:prstGeom>
          <a:solidFill>
            <a:srgbClr val="0D9488"/>
          </a:solidFill>
          <a:ln/>
        </p:spPr>
        <p:txBody>
          <a:bodyPr/>
          <a:lstStyle/>
          <a:p>
            <a:endParaRPr lang="en-KE"/>
          </a:p>
        </p:txBody>
      </p:sp>
      <p:sp>
        <p:nvSpPr>
          <p:cNvPr id="6" name="Text 4"/>
          <p:cNvSpPr/>
          <p:nvPr/>
        </p:nvSpPr>
        <p:spPr>
          <a:xfrm>
            <a:off x="548640" y="128016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7" name="Text 5"/>
          <p:cNvSpPr/>
          <p:nvPr/>
        </p:nvSpPr>
        <p:spPr>
          <a:xfrm>
            <a:off x="1170432" y="1078992"/>
            <a:ext cx="7406640" cy="347472"/>
          </a:xfrm>
          <a:prstGeom prst="rect">
            <a:avLst/>
          </a:prstGeom>
          <a:noFill/>
          <a:ln/>
        </p:spPr>
        <p:txBody>
          <a:bodyPr wrap="square" lIns="0" tIns="0" rIns="0" bIns="0" rtlCol="0" anchor="ctr"/>
          <a:lstStyle/>
          <a:p>
            <a:pPr marL="0" indent="0">
              <a:buNone/>
            </a:pPr>
            <a:r>
              <a:rPr lang="en-US" sz="1500" b="1" dirty="0">
                <a:solidFill>
                  <a:srgbClr val="0D9488"/>
                </a:solidFill>
                <a:latin typeface="Cambria" pitchFamily="34" charset="0"/>
                <a:ea typeface="Cambria" pitchFamily="34" charset="-122"/>
                <a:cs typeface="Cambria" pitchFamily="34" charset="-120"/>
              </a:rPr>
              <a:t>GRU Prediction Module</a:t>
            </a:r>
            <a:endParaRPr lang="en-US" sz="1500" dirty="0"/>
          </a:p>
        </p:txBody>
      </p:sp>
      <p:sp>
        <p:nvSpPr>
          <p:cNvPr id="8" name="Text 6"/>
          <p:cNvSpPr/>
          <p:nvPr/>
        </p:nvSpPr>
        <p:spPr>
          <a:xfrm>
            <a:off x="1170432" y="1463040"/>
            <a:ext cx="7406640" cy="640080"/>
          </a:xfrm>
          <a:prstGeom prst="rect">
            <a:avLst/>
          </a:prstGeom>
          <a:noFill/>
          <a:ln/>
        </p:spPr>
        <p:txBody>
          <a:bodyPr wrap="square" lIns="25400" tIns="50800" rIns="50800" bIns="25400" rtlCol="0" anchor="t"/>
          <a:lstStyle/>
          <a:p>
            <a:pPr marL="342900" indent="-342900">
              <a:buSzPct val="100000"/>
              <a:buChar char="•"/>
            </a:pPr>
            <a:r>
              <a:rPr lang="en-US" sz="1300" dirty="0">
                <a:solidFill>
                  <a:srgbClr val="1A1A2E"/>
                </a:solidFill>
                <a:latin typeface="Calibri" pitchFamily="34" charset="0"/>
                <a:ea typeface="Calibri" pitchFamily="34" charset="-122"/>
                <a:cs typeface="Calibri" pitchFamily="34" charset="-120"/>
              </a:rPr>
              <a:t>207-sensor speed forecasts — 15 to 30 min ahead.</a:t>
            </a:r>
            <a:endParaRPr lang="en-US" sz="1300" dirty="0"/>
          </a:p>
          <a:p>
            <a:pPr marL="342900" indent="-342900">
              <a:buSzPct val="100000"/>
              <a:buChar char="•"/>
            </a:pPr>
            <a:r>
              <a:rPr lang="en-US" sz="1300" dirty="0">
                <a:solidFill>
                  <a:srgbClr val="1A1A2E"/>
                </a:solidFill>
                <a:latin typeface="Calibri" pitchFamily="34" charset="0"/>
                <a:ea typeface="Calibri" pitchFamily="34" charset="-122"/>
                <a:cs typeface="Calibri" pitchFamily="34" charset="-120"/>
              </a:rPr>
              <a:t>Predictions converted to time-dependent edge costs τ̂(u,v)(t).</a:t>
            </a:r>
            <a:endParaRPr lang="en-US" sz="1300" dirty="0"/>
          </a:p>
        </p:txBody>
      </p:sp>
      <p:sp>
        <p:nvSpPr>
          <p:cNvPr id="9" name="Shape 7"/>
          <p:cNvSpPr/>
          <p:nvPr/>
        </p:nvSpPr>
        <p:spPr>
          <a:xfrm>
            <a:off x="411480" y="2286000"/>
            <a:ext cx="8321040" cy="1170432"/>
          </a:xfrm>
          <a:prstGeom prst="roundRect">
            <a:avLst>
              <a:gd name="adj" fmla="val 6250"/>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0" name="Shape 8"/>
          <p:cNvSpPr/>
          <p:nvPr/>
        </p:nvSpPr>
        <p:spPr>
          <a:xfrm>
            <a:off x="548640" y="2578608"/>
            <a:ext cx="502920" cy="502920"/>
          </a:xfrm>
          <a:prstGeom prst="ellipse">
            <a:avLst/>
          </a:prstGeom>
          <a:solidFill>
            <a:srgbClr val="1E2761"/>
          </a:solidFill>
          <a:ln/>
        </p:spPr>
        <p:txBody>
          <a:bodyPr/>
          <a:lstStyle/>
          <a:p>
            <a:endParaRPr lang="en-KE"/>
          </a:p>
        </p:txBody>
      </p:sp>
      <p:sp>
        <p:nvSpPr>
          <p:cNvPr id="11" name="Text 9"/>
          <p:cNvSpPr/>
          <p:nvPr/>
        </p:nvSpPr>
        <p:spPr>
          <a:xfrm>
            <a:off x="548640" y="2578608"/>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2" name="Text 10"/>
          <p:cNvSpPr/>
          <p:nvPr/>
        </p:nvSpPr>
        <p:spPr>
          <a:xfrm>
            <a:off x="1170432" y="2377440"/>
            <a:ext cx="7406640" cy="347472"/>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TD-A* Route Recommendation Module</a:t>
            </a:r>
            <a:endParaRPr lang="en-US" sz="1500" dirty="0"/>
          </a:p>
        </p:txBody>
      </p:sp>
      <p:sp>
        <p:nvSpPr>
          <p:cNvPr id="13" name="Text 11"/>
          <p:cNvSpPr/>
          <p:nvPr/>
        </p:nvSpPr>
        <p:spPr>
          <a:xfrm>
            <a:off x="1170432" y="2761488"/>
            <a:ext cx="7406640" cy="640080"/>
          </a:xfrm>
          <a:prstGeom prst="rect">
            <a:avLst/>
          </a:prstGeom>
          <a:noFill/>
          <a:ln/>
        </p:spPr>
        <p:txBody>
          <a:bodyPr wrap="square" lIns="25400" tIns="50800" rIns="50800" bIns="25400" rtlCol="0" anchor="t"/>
          <a:lstStyle/>
          <a:p>
            <a:pPr marL="342900" indent="-342900">
              <a:buSzPct val="100000"/>
              <a:buChar char="•"/>
            </a:pPr>
            <a:r>
              <a:rPr lang="en-US" sz="1300" dirty="0">
                <a:solidFill>
                  <a:srgbClr val="1A1A2E"/>
                </a:solidFill>
                <a:latin typeface="Calibri" pitchFamily="34" charset="0"/>
                <a:ea typeface="Calibri" pitchFamily="34" charset="-122"/>
                <a:cs typeface="Calibri" pitchFamily="34" charset="-120"/>
              </a:rPr>
              <a:t>State: (vertex, arrival_time). Heuristic: haversine ÷ free-flow speed.</a:t>
            </a:r>
            <a:endParaRPr lang="en-US" sz="1300" dirty="0"/>
          </a:p>
          <a:p>
            <a:pPr marL="342900" indent="-342900">
              <a:buSzPct val="100000"/>
              <a:buChar char="•"/>
            </a:pPr>
            <a:r>
              <a:rPr lang="en-US" sz="1300" dirty="0">
                <a:solidFill>
                  <a:srgbClr val="1A1A2E"/>
                </a:solidFill>
                <a:latin typeface="Calibri" pitchFamily="34" charset="0"/>
                <a:ea typeface="Calibri" pitchFamily="34" charset="-122"/>
                <a:cs typeface="Calibri" pitchFamily="34" charset="-120"/>
              </a:rPr>
              <a:t>Road network: 397 nodes, 1,024 edges, 190 sensor-mapped edges (OSMnx, Los Angeles).</a:t>
            </a:r>
            <a:endParaRPr lang="en-US" sz="1300" dirty="0"/>
          </a:p>
        </p:txBody>
      </p:sp>
      <p:sp>
        <p:nvSpPr>
          <p:cNvPr id="14" name="Shape 12"/>
          <p:cNvSpPr/>
          <p:nvPr/>
        </p:nvSpPr>
        <p:spPr>
          <a:xfrm>
            <a:off x="411480" y="3584448"/>
            <a:ext cx="8321040" cy="1170432"/>
          </a:xfrm>
          <a:prstGeom prst="roundRect">
            <a:avLst>
              <a:gd name="adj" fmla="val 6250"/>
            </a:avLst>
          </a:prstGeom>
          <a:solidFill>
            <a:srgbClr val="F0F0FA"/>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5" name="Shape 13"/>
          <p:cNvSpPr/>
          <p:nvPr/>
        </p:nvSpPr>
        <p:spPr>
          <a:xfrm>
            <a:off x="548640" y="3877056"/>
            <a:ext cx="502920" cy="502920"/>
          </a:xfrm>
          <a:prstGeom prst="ellipse">
            <a:avLst/>
          </a:prstGeom>
          <a:solidFill>
            <a:srgbClr val="2E3D7C"/>
          </a:solidFill>
          <a:ln/>
        </p:spPr>
        <p:txBody>
          <a:bodyPr/>
          <a:lstStyle/>
          <a:p>
            <a:endParaRPr lang="en-KE"/>
          </a:p>
        </p:txBody>
      </p:sp>
      <p:sp>
        <p:nvSpPr>
          <p:cNvPr id="16" name="Text 14"/>
          <p:cNvSpPr/>
          <p:nvPr/>
        </p:nvSpPr>
        <p:spPr>
          <a:xfrm>
            <a:off x="548640" y="3877056"/>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7" name="Text 15"/>
          <p:cNvSpPr/>
          <p:nvPr/>
        </p:nvSpPr>
        <p:spPr>
          <a:xfrm>
            <a:off x="1170432" y="3675888"/>
            <a:ext cx="7406640" cy="347472"/>
          </a:xfrm>
          <a:prstGeom prst="rect">
            <a:avLst/>
          </a:prstGeom>
          <a:noFill/>
          <a:ln/>
        </p:spPr>
        <p:txBody>
          <a:bodyPr wrap="square" lIns="0" tIns="0" rIns="0" bIns="0" rtlCol="0" anchor="ctr"/>
          <a:lstStyle/>
          <a:p>
            <a:pPr marL="0" indent="0">
              <a:buNone/>
            </a:pPr>
            <a:r>
              <a:rPr lang="en-US" sz="1500" b="1" dirty="0">
                <a:solidFill>
                  <a:srgbClr val="2E3D7C"/>
                </a:solidFill>
                <a:latin typeface="Cambria" pitchFamily="34" charset="0"/>
                <a:ea typeface="Cambria" pitchFamily="34" charset="-122"/>
                <a:cs typeface="Cambria" pitchFamily="34" charset="-120"/>
              </a:rPr>
              <a:t>Adaptive Replanning Controller</a:t>
            </a:r>
            <a:endParaRPr lang="en-US" sz="1500" dirty="0"/>
          </a:p>
        </p:txBody>
      </p:sp>
      <p:sp>
        <p:nvSpPr>
          <p:cNvPr id="18" name="Text 16"/>
          <p:cNvSpPr/>
          <p:nvPr/>
        </p:nvSpPr>
        <p:spPr>
          <a:xfrm>
            <a:off x="1170432" y="4059936"/>
            <a:ext cx="7406640" cy="640080"/>
          </a:xfrm>
          <a:prstGeom prst="rect">
            <a:avLst/>
          </a:prstGeom>
          <a:noFill/>
          <a:ln/>
        </p:spPr>
        <p:txBody>
          <a:bodyPr wrap="square" lIns="25400" tIns="50800" rIns="50800" bIns="25400" rtlCol="0" anchor="t"/>
          <a:lstStyle/>
          <a:p>
            <a:pPr marL="342900" indent="-342900">
              <a:buSzPct val="100000"/>
              <a:buChar char="•"/>
            </a:pPr>
            <a:r>
              <a:rPr lang="en-US" sz="1300" dirty="0">
                <a:solidFill>
                  <a:srgbClr val="1A1A2E"/>
                </a:solidFill>
                <a:latin typeface="Calibri" pitchFamily="34" charset="0"/>
                <a:ea typeface="Calibri" pitchFamily="34" charset="-122"/>
                <a:cs typeface="Calibri" pitchFamily="34" charset="-120"/>
              </a:rPr>
              <a:t>Monitors vehicle progress using sliding-window GRU predictions.</a:t>
            </a:r>
            <a:endParaRPr lang="en-US" sz="1300" dirty="0"/>
          </a:p>
          <a:p>
            <a:pPr marL="342900" indent="-342900">
              <a:buSzPct val="100000"/>
              <a:buChar char="•"/>
            </a:pPr>
            <a:r>
              <a:rPr lang="en-US" sz="1300" dirty="0">
                <a:solidFill>
                  <a:srgbClr val="1A1A2E"/>
                </a:solidFill>
                <a:latin typeface="Calibri" pitchFamily="34" charset="0"/>
                <a:ea typeface="Calibri" pitchFamily="34" charset="-122"/>
                <a:cs typeface="Calibri" pitchFamily="34" charset="-120"/>
              </a:rPr>
              <a:t>Triggers update when: (T_new – T_old) / T_old &gt; δ.  Four δ values specified for evaluation: 5%, 10%, 15%, 20%.</a:t>
            </a:r>
            <a:endParaRPr lang="en-US" sz="1300" dirty="0"/>
          </a:p>
        </p:txBody>
      </p:sp>
      <p:sp>
        <p:nvSpPr>
          <p:cNvPr id="19" name="Text 17"/>
          <p:cNvSpPr/>
          <p:nvPr/>
        </p:nvSpPr>
        <p:spPr>
          <a:xfrm>
            <a:off x="411480" y="4736592"/>
            <a:ext cx="8321040" cy="256032"/>
          </a:xfrm>
          <a:prstGeom prst="rect">
            <a:avLst/>
          </a:prstGeom>
          <a:noFill/>
          <a:ln/>
        </p:spPr>
        <p:txBody>
          <a:bodyPr wrap="square" lIns="0" tIns="0" rIns="0" bIns="0" rtlCol="0" anchor="ctr"/>
          <a:lstStyle/>
          <a:p>
            <a:pPr algn="ctr"/>
            <a:r>
              <a:rPr lang="en-KE" sz="1050" dirty="0"/>
              <a:t>All three components implemented and integrated: github.com/Freshia-Njoki/</a:t>
            </a:r>
            <a:r>
              <a:rPr lang="en-KE" sz="1050"/>
              <a:t>Emergency_Routing</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4F7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94360"/>
          </a:xfrm>
          <a:prstGeom prst="rect">
            <a:avLst/>
          </a:prstGeom>
          <a:noFill/>
          <a:ln/>
        </p:spPr>
        <p:txBody>
          <a:bodyPr wrap="square" lIns="0" tIns="0" rIns="0" bIns="0" rtlCol="0" anchor="ctr"/>
          <a:lstStyle/>
          <a:p>
            <a:pPr marL="0" indent="0" algn="l">
              <a:buNone/>
            </a:pPr>
            <a:r>
              <a:rPr lang="en-US" sz="2600" b="1" dirty="0">
                <a:solidFill>
                  <a:srgbClr val="1E2761"/>
                </a:solidFill>
                <a:latin typeface="Cambria" pitchFamily="34" charset="0"/>
                <a:ea typeface="Cambria" pitchFamily="34" charset="-122"/>
                <a:cs typeface="Cambria" pitchFamily="34" charset="-120"/>
              </a:rPr>
              <a:t>Interpretation of Findings</a:t>
            </a:r>
            <a:endParaRPr lang="en-US" sz="2600" dirty="0"/>
          </a:p>
        </p:txBody>
      </p:sp>
      <p:sp>
        <p:nvSpPr>
          <p:cNvPr id="3" name="Shape 1"/>
          <p:cNvSpPr/>
          <p:nvPr/>
        </p:nvSpPr>
        <p:spPr>
          <a:xfrm>
            <a:off x="411480" y="868680"/>
            <a:ext cx="8321040" cy="36576"/>
          </a:xfrm>
          <a:prstGeom prst="rect">
            <a:avLst/>
          </a:prstGeom>
          <a:solidFill>
            <a:srgbClr val="CADCFC"/>
          </a:solidFill>
          <a:ln/>
        </p:spPr>
        <p:txBody>
          <a:bodyPr/>
          <a:lstStyle/>
          <a:p>
            <a:endParaRPr lang="en-KE"/>
          </a:p>
        </p:txBody>
      </p:sp>
      <p:sp>
        <p:nvSpPr>
          <p:cNvPr id="4" name="Shape 2"/>
          <p:cNvSpPr/>
          <p:nvPr/>
        </p:nvSpPr>
        <p:spPr>
          <a:xfrm>
            <a:off x="411480" y="987552"/>
            <a:ext cx="4224528" cy="3913632"/>
          </a:xfrm>
          <a:prstGeom prst="roundRect">
            <a:avLst>
              <a:gd name="adj" fmla="val 1869"/>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5" name="Shape 3"/>
          <p:cNvSpPr/>
          <p:nvPr/>
        </p:nvSpPr>
        <p:spPr>
          <a:xfrm>
            <a:off x="521208" y="1078992"/>
            <a:ext cx="1463040" cy="292608"/>
          </a:xfrm>
          <a:prstGeom prst="roundRect">
            <a:avLst>
              <a:gd name="adj" fmla="val 18750"/>
            </a:avLst>
          </a:prstGeom>
          <a:solidFill>
            <a:srgbClr val="1E2761"/>
          </a:solidFill>
          <a:ln/>
        </p:spPr>
        <p:txBody>
          <a:bodyPr/>
          <a:lstStyle/>
          <a:p>
            <a:endParaRPr lang="en-KE"/>
          </a:p>
        </p:txBody>
      </p:sp>
      <p:sp>
        <p:nvSpPr>
          <p:cNvPr id="6" name="Text 4"/>
          <p:cNvSpPr/>
          <p:nvPr/>
        </p:nvSpPr>
        <p:spPr>
          <a:xfrm>
            <a:off x="521208" y="1078992"/>
            <a:ext cx="1463040"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Objective 1</a:t>
            </a:r>
            <a:endParaRPr lang="en-US" sz="1150" dirty="0"/>
          </a:p>
        </p:txBody>
      </p:sp>
      <p:sp>
        <p:nvSpPr>
          <p:cNvPr id="7" name="Shape 5"/>
          <p:cNvSpPr/>
          <p:nvPr/>
        </p:nvSpPr>
        <p:spPr>
          <a:xfrm>
            <a:off x="521208" y="1481328"/>
            <a:ext cx="4005072" cy="685800"/>
          </a:xfrm>
          <a:prstGeom prst="roundRect">
            <a:avLst>
              <a:gd name="adj" fmla="val 10667"/>
            </a:avLst>
          </a:prstGeom>
          <a:solidFill>
            <a:srgbClr val="F5F7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8" name="Text 6"/>
          <p:cNvSpPr/>
          <p:nvPr/>
        </p:nvSpPr>
        <p:spPr>
          <a:xfrm>
            <a:off x="612648" y="1517904"/>
            <a:ext cx="3822192" cy="612648"/>
          </a:xfrm>
          <a:prstGeom prst="rect">
            <a:avLst/>
          </a:prstGeom>
          <a:noFill/>
          <a:ln/>
        </p:spPr>
        <p:txBody>
          <a:bodyPr wrap="square" lIns="25400" tIns="50800" rIns="50800" bIns="2540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The gap analysis confirmed no existing framework addresses all five research dimensions simultaneously.</a:t>
            </a:r>
            <a:endParaRPr lang="en-US" sz="1150" dirty="0"/>
          </a:p>
        </p:txBody>
      </p:sp>
      <p:sp>
        <p:nvSpPr>
          <p:cNvPr id="9" name="Shape 7"/>
          <p:cNvSpPr/>
          <p:nvPr/>
        </p:nvSpPr>
        <p:spPr>
          <a:xfrm>
            <a:off x="521208" y="2240280"/>
            <a:ext cx="4005072" cy="685800"/>
          </a:xfrm>
          <a:prstGeom prst="roundRect">
            <a:avLst>
              <a:gd name="adj" fmla="val 10667"/>
            </a:avLst>
          </a:prstGeom>
          <a:solidFill>
            <a:srgbClr val="F0F9FB"/>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0" name="Text 8"/>
          <p:cNvSpPr/>
          <p:nvPr/>
        </p:nvSpPr>
        <p:spPr>
          <a:xfrm>
            <a:off x="612648" y="2276856"/>
            <a:ext cx="3822192" cy="612648"/>
          </a:xfrm>
          <a:prstGeom prst="rect">
            <a:avLst/>
          </a:prstGeom>
          <a:noFill/>
          <a:ln/>
        </p:spPr>
        <p:txBody>
          <a:bodyPr wrap="square" lIns="25400" tIns="50800" rIns="50800" bIns="2540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Werner et al. (2022) was the closest precedent but lacked an ML prediction module and cannot update within five-minute cycles.</a:t>
            </a:r>
            <a:endParaRPr lang="en-US" sz="1150" dirty="0"/>
          </a:p>
        </p:txBody>
      </p:sp>
      <p:sp>
        <p:nvSpPr>
          <p:cNvPr id="11" name="Shape 9"/>
          <p:cNvSpPr/>
          <p:nvPr/>
        </p:nvSpPr>
        <p:spPr>
          <a:xfrm>
            <a:off x="521208" y="2999232"/>
            <a:ext cx="4005072" cy="685800"/>
          </a:xfrm>
          <a:prstGeom prst="roundRect">
            <a:avLst>
              <a:gd name="adj" fmla="val 10667"/>
            </a:avLst>
          </a:prstGeom>
          <a:solidFill>
            <a:srgbClr val="F5F7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2" name="Text 10"/>
          <p:cNvSpPr/>
          <p:nvPr/>
        </p:nvSpPr>
        <p:spPr>
          <a:xfrm>
            <a:off x="612648" y="3035808"/>
            <a:ext cx="3822192" cy="612648"/>
          </a:xfrm>
          <a:prstGeom prst="rect">
            <a:avLst/>
          </a:prstGeom>
          <a:noFill/>
          <a:ln/>
        </p:spPr>
        <p:txBody>
          <a:bodyPr wrap="square" lIns="25400" tIns="50800" rIns="50800" bIns="2540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The four identified gaps directly dictated the three-component architecture adopted in Objective 2.</a:t>
            </a:r>
            <a:endParaRPr lang="en-US" sz="1150" dirty="0"/>
          </a:p>
        </p:txBody>
      </p:sp>
      <p:sp>
        <p:nvSpPr>
          <p:cNvPr id="13" name="Shape 11"/>
          <p:cNvSpPr/>
          <p:nvPr/>
        </p:nvSpPr>
        <p:spPr>
          <a:xfrm>
            <a:off x="521208" y="3758184"/>
            <a:ext cx="4005072" cy="685800"/>
          </a:xfrm>
          <a:prstGeom prst="roundRect">
            <a:avLst>
              <a:gd name="adj" fmla="val 10667"/>
            </a:avLst>
          </a:prstGeom>
          <a:solidFill>
            <a:srgbClr val="F0F9FB"/>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4" name="Text 12"/>
          <p:cNvSpPr/>
          <p:nvPr/>
        </p:nvSpPr>
        <p:spPr>
          <a:xfrm>
            <a:off x="612648" y="3794760"/>
            <a:ext cx="3822192" cy="612648"/>
          </a:xfrm>
          <a:prstGeom prst="rect">
            <a:avLst/>
          </a:prstGeom>
          <a:noFill/>
          <a:ln/>
        </p:spPr>
        <p:txBody>
          <a:bodyPr wrap="square" lIns="25400" tIns="50800" rIns="50800" bIns="2540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African ITS context remains under-represented — this study is one of the first to target Nairobi-like environments.</a:t>
            </a:r>
            <a:endParaRPr lang="en-US" sz="1150" dirty="0"/>
          </a:p>
        </p:txBody>
      </p:sp>
      <p:sp>
        <p:nvSpPr>
          <p:cNvPr id="15" name="Shape 13"/>
          <p:cNvSpPr/>
          <p:nvPr/>
        </p:nvSpPr>
        <p:spPr>
          <a:xfrm>
            <a:off x="4818888" y="987552"/>
            <a:ext cx="4224528" cy="3913632"/>
          </a:xfrm>
          <a:prstGeom prst="roundRect">
            <a:avLst>
              <a:gd name="adj" fmla="val 1869"/>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6" name="Shape 14"/>
          <p:cNvSpPr/>
          <p:nvPr/>
        </p:nvSpPr>
        <p:spPr>
          <a:xfrm>
            <a:off x="4928616" y="1078992"/>
            <a:ext cx="1463040" cy="292608"/>
          </a:xfrm>
          <a:prstGeom prst="roundRect">
            <a:avLst>
              <a:gd name="adj" fmla="val 18750"/>
            </a:avLst>
          </a:prstGeom>
          <a:solidFill>
            <a:srgbClr val="0D9488"/>
          </a:solidFill>
          <a:ln/>
        </p:spPr>
        <p:txBody>
          <a:bodyPr/>
          <a:lstStyle/>
          <a:p>
            <a:endParaRPr lang="en-KE"/>
          </a:p>
        </p:txBody>
      </p:sp>
      <p:sp>
        <p:nvSpPr>
          <p:cNvPr id="17" name="Text 15"/>
          <p:cNvSpPr/>
          <p:nvPr/>
        </p:nvSpPr>
        <p:spPr>
          <a:xfrm>
            <a:off x="4928616" y="1078992"/>
            <a:ext cx="1463040"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Objective 2</a:t>
            </a:r>
            <a:endParaRPr lang="en-US" sz="1150" dirty="0"/>
          </a:p>
        </p:txBody>
      </p:sp>
      <p:sp>
        <p:nvSpPr>
          <p:cNvPr id="18" name="Shape 16"/>
          <p:cNvSpPr/>
          <p:nvPr/>
        </p:nvSpPr>
        <p:spPr>
          <a:xfrm>
            <a:off x="4928616" y="1481328"/>
            <a:ext cx="4005072" cy="685800"/>
          </a:xfrm>
          <a:prstGeom prst="roundRect">
            <a:avLst>
              <a:gd name="adj" fmla="val 10667"/>
            </a:avLst>
          </a:prstGeom>
          <a:solidFill>
            <a:srgbClr val="F5F7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9" name="Text 17"/>
          <p:cNvSpPr/>
          <p:nvPr/>
        </p:nvSpPr>
        <p:spPr>
          <a:xfrm>
            <a:off x="5020056" y="1517904"/>
            <a:ext cx="3822192" cy="612648"/>
          </a:xfrm>
          <a:prstGeom prst="rect">
            <a:avLst/>
          </a:prstGeom>
          <a:noFill/>
          <a:ln/>
        </p:spPr>
        <p:txBody>
          <a:bodyPr wrap="square" lIns="25400" tIns="50800" rIns="50800" bIns="2540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GRU MAE of 3.42 mph is within the competitive range, confirming the model captures temporal traffic patterns accurately enough to support routing.</a:t>
            </a:r>
            <a:endParaRPr lang="en-US" sz="1150" dirty="0"/>
          </a:p>
        </p:txBody>
      </p:sp>
      <p:sp>
        <p:nvSpPr>
          <p:cNvPr id="20" name="Shape 18"/>
          <p:cNvSpPr/>
          <p:nvPr/>
        </p:nvSpPr>
        <p:spPr>
          <a:xfrm>
            <a:off x="4928616" y="2240280"/>
            <a:ext cx="4005072" cy="685800"/>
          </a:xfrm>
          <a:prstGeom prst="roundRect">
            <a:avLst>
              <a:gd name="adj" fmla="val 10667"/>
            </a:avLst>
          </a:prstGeom>
          <a:solidFill>
            <a:srgbClr val="F0F9FB"/>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21" name="Text 19"/>
          <p:cNvSpPr/>
          <p:nvPr/>
        </p:nvSpPr>
        <p:spPr>
          <a:xfrm>
            <a:off x="5020056" y="2276856"/>
            <a:ext cx="3822192" cy="612648"/>
          </a:xfrm>
          <a:prstGeom prst="rect">
            <a:avLst/>
          </a:prstGeom>
          <a:noFill/>
          <a:ln/>
        </p:spPr>
        <p:txBody>
          <a:bodyPr wrap="square" lIns="25400" tIns="50800" rIns="50800" bIns="2540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TD-A* routing latency of 0.18 ms shows that prediction is the computational bottleneck, not routing — at 41 ms, the combined system responds in under 45 ms.</a:t>
            </a:r>
            <a:endParaRPr lang="en-US" sz="1150" dirty="0"/>
          </a:p>
        </p:txBody>
      </p:sp>
      <p:sp>
        <p:nvSpPr>
          <p:cNvPr id="22" name="Shape 20"/>
          <p:cNvSpPr/>
          <p:nvPr/>
        </p:nvSpPr>
        <p:spPr>
          <a:xfrm>
            <a:off x="4928616" y="2999232"/>
            <a:ext cx="4005072" cy="685800"/>
          </a:xfrm>
          <a:prstGeom prst="roundRect">
            <a:avLst>
              <a:gd name="adj" fmla="val 10667"/>
            </a:avLst>
          </a:prstGeom>
          <a:solidFill>
            <a:srgbClr val="F5F7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23" name="Text 21"/>
          <p:cNvSpPr/>
          <p:nvPr/>
        </p:nvSpPr>
        <p:spPr>
          <a:xfrm>
            <a:off x="5020056" y="3035808"/>
            <a:ext cx="3822192" cy="612648"/>
          </a:xfrm>
          <a:prstGeom prst="rect">
            <a:avLst/>
          </a:prstGeom>
          <a:noFill/>
          <a:ln/>
        </p:spPr>
        <p:txBody>
          <a:bodyPr wrap="square" lIns="25400" tIns="50800" rIns="50800" bIns="2540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The sliding-window controller advanced predictions during journey simulation, confirming mid-journey updates work mechanically. How often they should fire remains open.</a:t>
            </a:r>
            <a:endParaRPr lang="en-US" sz="1150" dirty="0"/>
          </a:p>
        </p:txBody>
      </p:sp>
      <p:sp>
        <p:nvSpPr>
          <p:cNvPr id="24" name="Shape 22"/>
          <p:cNvSpPr/>
          <p:nvPr/>
        </p:nvSpPr>
        <p:spPr>
          <a:xfrm>
            <a:off x="4928616" y="3758184"/>
            <a:ext cx="4005072" cy="685800"/>
          </a:xfrm>
          <a:prstGeom prst="roundRect">
            <a:avLst>
              <a:gd name="adj" fmla="val 10667"/>
            </a:avLst>
          </a:prstGeom>
          <a:solidFill>
            <a:srgbClr val="F0F9FB"/>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25" name="Text 23"/>
          <p:cNvSpPr/>
          <p:nvPr/>
        </p:nvSpPr>
        <p:spPr>
          <a:xfrm>
            <a:off x="5020056" y="3794760"/>
            <a:ext cx="3822192" cy="612648"/>
          </a:xfrm>
          <a:prstGeom prst="rect">
            <a:avLst/>
          </a:prstGeom>
          <a:noFill/>
          <a:ln/>
        </p:spPr>
        <p:txBody>
          <a:bodyPr wrap="square" lIns="25400" tIns="50800" rIns="50800" bIns="2540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The framework operates within the sub-second dispatch target at all tested configurations.</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4F7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94360"/>
          </a:xfrm>
          <a:prstGeom prst="rect">
            <a:avLst/>
          </a:prstGeom>
          <a:noFill/>
          <a:ln/>
        </p:spPr>
        <p:txBody>
          <a:bodyPr wrap="square" lIns="0" tIns="0" rIns="0" bIns="0" rtlCol="0" anchor="ctr"/>
          <a:lstStyle/>
          <a:p>
            <a:pPr marL="0" indent="0" algn="l">
              <a:buNone/>
            </a:pPr>
            <a:r>
              <a:rPr lang="en-US" sz="2600" b="1" dirty="0">
                <a:solidFill>
                  <a:srgbClr val="1E2761"/>
                </a:solidFill>
                <a:latin typeface="Cambria" pitchFamily="34" charset="0"/>
                <a:ea typeface="Cambria" pitchFamily="34" charset="-122"/>
                <a:cs typeface="Cambria" pitchFamily="34" charset="-120"/>
              </a:rPr>
              <a:t>Discussion of Findings</a:t>
            </a:r>
            <a:endParaRPr lang="en-US" sz="2600" dirty="0"/>
          </a:p>
        </p:txBody>
      </p:sp>
      <p:sp>
        <p:nvSpPr>
          <p:cNvPr id="3" name="Shape 1"/>
          <p:cNvSpPr/>
          <p:nvPr/>
        </p:nvSpPr>
        <p:spPr>
          <a:xfrm>
            <a:off x="411480" y="868680"/>
            <a:ext cx="8321040" cy="36576"/>
          </a:xfrm>
          <a:prstGeom prst="rect">
            <a:avLst/>
          </a:prstGeom>
          <a:solidFill>
            <a:srgbClr val="CADCFC"/>
          </a:solidFill>
          <a:ln/>
        </p:spPr>
        <p:txBody>
          <a:bodyPr/>
          <a:lstStyle/>
          <a:p>
            <a:endParaRPr lang="en-KE"/>
          </a:p>
        </p:txBody>
      </p:sp>
      <p:sp>
        <p:nvSpPr>
          <p:cNvPr id="4" name="Text 2"/>
          <p:cNvSpPr/>
          <p:nvPr/>
        </p:nvSpPr>
        <p:spPr>
          <a:xfrm>
            <a:off x="411480" y="987552"/>
            <a:ext cx="8321040" cy="32004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How do these findings relate to existing literature?</a:t>
            </a:r>
            <a:endParaRPr lang="en-US" sz="1500" dirty="0"/>
          </a:p>
        </p:txBody>
      </p:sp>
      <p:sp>
        <p:nvSpPr>
          <p:cNvPr id="5" name="Shape 3"/>
          <p:cNvSpPr/>
          <p:nvPr/>
        </p:nvSpPr>
        <p:spPr>
          <a:xfrm>
            <a:off x="411480" y="1371600"/>
            <a:ext cx="8321040" cy="731520"/>
          </a:xfrm>
          <a:prstGeom prst="roundRect">
            <a:avLst>
              <a:gd name="adj" fmla="val 10000"/>
            </a:avLst>
          </a:prstGeom>
          <a:solidFill>
            <a:srgbClr val="F5F7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6" name="Shape 4"/>
          <p:cNvSpPr/>
          <p:nvPr/>
        </p:nvSpPr>
        <p:spPr>
          <a:xfrm>
            <a:off x="502920" y="1572768"/>
            <a:ext cx="1078992" cy="237744"/>
          </a:xfrm>
          <a:prstGeom prst="roundRect">
            <a:avLst>
              <a:gd name="adj" fmla="val 19231"/>
            </a:avLst>
          </a:prstGeom>
          <a:solidFill>
            <a:srgbClr val="0D9488"/>
          </a:solidFill>
          <a:ln/>
        </p:spPr>
        <p:txBody>
          <a:bodyPr/>
          <a:lstStyle/>
          <a:p>
            <a:endParaRPr lang="en-KE"/>
          </a:p>
        </p:txBody>
      </p:sp>
      <p:sp>
        <p:nvSpPr>
          <p:cNvPr id="7" name="Text 5"/>
          <p:cNvSpPr/>
          <p:nvPr/>
        </p:nvSpPr>
        <p:spPr>
          <a:xfrm>
            <a:off x="502920" y="1572768"/>
            <a:ext cx="107899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CONFIRMED</a:t>
            </a:r>
            <a:endParaRPr lang="en-US" sz="900" dirty="0"/>
          </a:p>
        </p:txBody>
      </p:sp>
      <p:sp>
        <p:nvSpPr>
          <p:cNvPr id="8" name="Text 6"/>
          <p:cNvSpPr/>
          <p:nvPr/>
        </p:nvSpPr>
        <p:spPr>
          <a:xfrm>
            <a:off x="1664208" y="1463040"/>
            <a:ext cx="6949440" cy="594360"/>
          </a:xfrm>
          <a:prstGeom prst="rect">
            <a:avLst/>
          </a:prstGeom>
          <a:noFill/>
          <a:ln/>
        </p:spPr>
        <p:txBody>
          <a:bodyPr wrap="square" lIns="0" tIns="50800" rIns="5080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Jeong et al. (2021) — Our MAE of 3.42 mph aligns with their reported competitive range of 3.10–4.20 mph, validating the architecture choice.</a:t>
            </a:r>
            <a:endParaRPr lang="en-US" sz="1200" dirty="0"/>
          </a:p>
        </p:txBody>
      </p:sp>
      <p:sp>
        <p:nvSpPr>
          <p:cNvPr id="9" name="Shape 7"/>
          <p:cNvSpPr/>
          <p:nvPr/>
        </p:nvSpPr>
        <p:spPr>
          <a:xfrm>
            <a:off x="411480" y="2176272"/>
            <a:ext cx="8321040" cy="731520"/>
          </a:xfrm>
          <a:prstGeom prst="roundRect">
            <a:avLst>
              <a:gd name="adj" fmla="val 10000"/>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0" name="Shape 8"/>
          <p:cNvSpPr/>
          <p:nvPr/>
        </p:nvSpPr>
        <p:spPr>
          <a:xfrm>
            <a:off x="502920" y="2377440"/>
            <a:ext cx="1078992" cy="237744"/>
          </a:xfrm>
          <a:prstGeom prst="roundRect">
            <a:avLst>
              <a:gd name="adj" fmla="val 19231"/>
            </a:avLst>
          </a:prstGeom>
          <a:solidFill>
            <a:srgbClr val="1E2761"/>
          </a:solidFill>
          <a:ln/>
        </p:spPr>
        <p:txBody>
          <a:bodyPr/>
          <a:lstStyle/>
          <a:p>
            <a:endParaRPr lang="en-KE"/>
          </a:p>
        </p:txBody>
      </p:sp>
      <p:sp>
        <p:nvSpPr>
          <p:cNvPr id="11" name="Text 9"/>
          <p:cNvSpPr/>
          <p:nvPr/>
        </p:nvSpPr>
        <p:spPr>
          <a:xfrm>
            <a:off x="502920" y="2377440"/>
            <a:ext cx="107899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EXTENDED</a:t>
            </a:r>
            <a:endParaRPr lang="en-US" sz="900" dirty="0"/>
          </a:p>
        </p:txBody>
      </p:sp>
      <p:sp>
        <p:nvSpPr>
          <p:cNvPr id="12" name="Text 10"/>
          <p:cNvSpPr/>
          <p:nvPr/>
        </p:nvSpPr>
        <p:spPr>
          <a:xfrm>
            <a:off x="1664208" y="2267712"/>
            <a:ext cx="6949440" cy="594360"/>
          </a:xfrm>
          <a:prstGeom prst="rect">
            <a:avLst/>
          </a:prstGeom>
          <a:noFill/>
          <a:ln/>
        </p:spPr>
        <p:txBody>
          <a:bodyPr wrap="square" lIns="0" tIns="50800" rIns="5080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Werner et al. (2022) — Our study extends this to emergency dispatch with an ML prediction module and five-minute update cycles — addressing the gap Werner et al. left open.</a:t>
            </a:r>
            <a:endParaRPr lang="en-US" sz="1200" dirty="0"/>
          </a:p>
        </p:txBody>
      </p:sp>
      <p:sp>
        <p:nvSpPr>
          <p:cNvPr id="13" name="Shape 11"/>
          <p:cNvSpPr/>
          <p:nvPr/>
        </p:nvSpPr>
        <p:spPr>
          <a:xfrm>
            <a:off x="411480" y="2980944"/>
            <a:ext cx="8321040" cy="731520"/>
          </a:xfrm>
          <a:prstGeom prst="roundRect">
            <a:avLst>
              <a:gd name="adj" fmla="val 10000"/>
            </a:avLst>
          </a:prstGeom>
          <a:solidFill>
            <a:srgbClr val="F5F7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4" name="Shape 12"/>
          <p:cNvSpPr/>
          <p:nvPr/>
        </p:nvSpPr>
        <p:spPr>
          <a:xfrm>
            <a:off x="502920" y="3182112"/>
            <a:ext cx="1078992" cy="237744"/>
          </a:xfrm>
          <a:prstGeom prst="roundRect">
            <a:avLst>
              <a:gd name="adj" fmla="val 19231"/>
            </a:avLst>
          </a:prstGeom>
          <a:solidFill>
            <a:srgbClr val="E8A838"/>
          </a:solidFill>
          <a:ln/>
        </p:spPr>
        <p:txBody>
          <a:bodyPr/>
          <a:lstStyle/>
          <a:p>
            <a:endParaRPr lang="en-KE"/>
          </a:p>
        </p:txBody>
      </p:sp>
      <p:sp>
        <p:nvSpPr>
          <p:cNvPr id="15" name="Text 13"/>
          <p:cNvSpPr/>
          <p:nvPr/>
        </p:nvSpPr>
        <p:spPr>
          <a:xfrm>
            <a:off x="502920" y="3182112"/>
            <a:ext cx="107899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ADDRESSES GAP</a:t>
            </a:r>
            <a:endParaRPr lang="en-US" sz="900" dirty="0"/>
          </a:p>
        </p:txBody>
      </p:sp>
      <p:sp>
        <p:nvSpPr>
          <p:cNvPr id="16" name="Text 14"/>
          <p:cNvSpPr/>
          <p:nvPr/>
        </p:nvSpPr>
        <p:spPr>
          <a:xfrm>
            <a:off x="1664208" y="3072384"/>
            <a:ext cx="6949440" cy="594360"/>
          </a:xfrm>
          <a:prstGeom prst="rect">
            <a:avLst/>
          </a:prstGeom>
          <a:noFill/>
          <a:ln/>
        </p:spPr>
        <p:txBody>
          <a:bodyPr wrap="square" lIns="0" tIns="50800" rIns="5080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Qi et al. (2025) — Our framework directly addresses this disconnection. Findings confirm the integration is technically feasible within dispatch constraints.</a:t>
            </a:r>
            <a:endParaRPr lang="en-US" sz="1200" dirty="0"/>
          </a:p>
        </p:txBody>
      </p:sp>
      <p:sp>
        <p:nvSpPr>
          <p:cNvPr id="17" name="Shape 15"/>
          <p:cNvSpPr/>
          <p:nvPr/>
        </p:nvSpPr>
        <p:spPr>
          <a:xfrm>
            <a:off x="411480" y="3785616"/>
            <a:ext cx="8321040" cy="731520"/>
          </a:xfrm>
          <a:prstGeom prst="roundRect">
            <a:avLst>
              <a:gd name="adj" fmla="val 10000"/>
            </a:avLst>
          </a:prstGeom>
          <a:solidFill>
            <a:srgbClr val="FFFF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8" name="Shape 16"/>
          <p:cNvSpPr/>
          <p:nvPr/>
        </p:nvSpPr>
        <p:spPr>
          <a:xfrm>
            <a:off x="502920" y="3986784"/>
            <a:ext cx="1078992" cy="237744"/>
          </a:xfrm>
          <a:prstGeom prst="roundRect">
            <a:avLst>
              <a:gd name="adj" fmla="val 19231"/>
            </a:avLst>
          </a:prstGeom>
          <a:solidFill>
            <a:srgbClr val="2E3D7C"/>
          </a:solidFill>
          <a:ln/>
        </p:spPr>
        <p:txBody>
          <a:bodyPr/>
          <a:lstStyle/>
          <a:p>
            <a:endParaRPr lang="en-KE"/>
          </a:p>
        </p:txBody>
      </p:sp>
      <p:sp>
        <p:nvSpPr>
          <p:cNvPr id="19" name="Text 17"/>
          <p:cNvSpPr/>
          <p:nvPr/>
        </p:nvSpPr>
        <p:spPr>
          <a:xfrm>
            <a:off x="502920" y="3986784"/>
            <a:ext cx="107899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ADAPTED</a:t>
            </a:r>
            <a:endParaRPr lang="en-US" sz="900" dirty="0"/>
          </a:p>
        </p:txBody>
      </p:sp>
      <p:sp>
        <p:nvSpPr>
          <p:cNvPr id="20" name="Text 18"/>
          <p:cNvSpPr/>
          <p:nvPr/>
        </p:nvSpPr>
        <p:spPr>
          <a:xfrm>
            <a:off x="1664208" y="3877056"/>
            <a:ext cx="6949440" cy="594360"/>
          </a:xfrm>
          <a:prstGeom prst="rect">
            <a:avLst/>
          </a:prstGeom>
          <a:noFill/>
          <a:ln/>
        </p:spPr>
        <p:txBody>
          <a:bodyPr wrap="square" lIns="0" tIns="50800" rIns="5080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Abuaisha et al. (2025) — Our adaptive controller applies the same principle to emergency dispatch — unconstrained route optimisation rather than fixed-corridor scheduling.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4F7FF"/>
        </a:solidFill>
        <a:effectLst/>
      </p:bgPr>
    </p:bg>
    <p:spTree>
      <p:nvGrpSpPr>
        <p:cNvPr id="1" name=""/>
        <p:cNvGrpSpPr/>
        <p:nvPr/>
      </p:nvGrpSpPr>
      <p:grpSpPr>
        <a:xfrm>
          <a:off x="0" y="0"/>
          <a:ext cx="0" cy="0"/>
          <a:chOff x="0" y="0"/>
          <a:chExt cx="0" cy="0"/>
        </a:xfrm>
      </p:grpSpPr>
      <p:sp>
        <p:nvSpPr>
          <p:cNvPr id="2" name="Text 0"/>
          <p:cNvSpPr/>
          <p:nvPr/>
        </p:nvSpPr>
        <p:spPr>
          <a:xfrm>
            <a:off x="411480" y="201168"/>
            <a:ext cx="8321040" cy="594360"/>
          </a:xfrm>
          <a:prstGeom prst="rect">
            <a:avLst/>
          </a:prstGeom>
          <a:noFill/>
          <a:ln/>
        </p:spPr>
        <p:txBody>
          <a:bodyPr wrap="square" lIns="0" tIns="0" rIns="0" bIns="0" rtlCol="0" anchor="ctr"/>
          <a:lstStyle/>
          <a:p>
            <a:pPr marL="0" indent="0" algn="l">
              <a:buNone/>
            </a:pPr>
            <a:r>
              <a:rPr lang="en-US" sz="2600" b="1" dirty="0">
                <a:solidFill>
                  <a:srgbClr val="1E2761"/>
                </a:solidFill>
                <a:latin typeface="Cambria" pitchFamily="34" charset="0"/>
                <a:ea typeface="Cambria" pitchFamily="34" charset="-122"/>
                <a:cs typeface="Cambria" pitchFamily="34" charset="-120"/>
              </a:rPr>
              <a:t>Conclusions, Recommendations &amp; Future Work</a:t>
            </a:r>
            <a:endParaRPr lang="en-US" sz="2600" dirty="0"/>
          </a:p>
        </p:txBody>
      </p:sp>
      <p:sp>
        <p:nvSpPr>
          <p:cNvPr id="3" name="Shape 1"/>
          <p:cNvSpPr/>
          <p:nvPr/>
        </p:nvSpPr>
        <p:spPr>
          <a:xfrm>
            <a:off x="411480" y="685802"/>
            <a:ext cx="8321040" cy="36576"/>
          </a:xfrm>
          <a:prstGeom prst="rect">
            <a:avLst/>
          </a:prstGeom>
          <a:solidFill>
            <a:srgbClr val="CADCFC"/>
          </a:solidFill>
          <a:ln/>
        </p:spPr>
        <p:txBody>
          <a:bodyPr/>
          <a:lstStyle/>
          <a:p>
            <a:endParaRPr lang="en-KE"/>
          </a:p>
        </p:txBody>
      </p:sp>
      <p:sp>
        <p:nvSpPr>
          <p:cNvPr id="4" name="Text 2"/>
          <p:cNvSpPr/>
          <p:nvPr/>
        </p:nvSpPr>
        <p:spPr>
          <a:xfrm>
            <a:off x="411480" y="758954"/>
            <a:ext cx="8321040" cy="32004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Conclusions</a:t>
            </a:r>
            <a:endParaRPr lang="en-US" sz="1500" dirty="0"/>
          </a:p>
        </p:txBody>
      </p:sp>
      <p:sp>
        <p:nvSpPr>
          <p:cNvPr id="5" name="Shape 3"/>
          <p:cNvSpPr/>
          <p:nvPr/>
        </p:nvSpPr>
        <p:spPr>
          <a:xfrm>
            <a:off x="411480" y="1100333"/>
            <a:ext cx="8321040" cy="530352"/>
          </a:xfrm>
          <a:prstGeom prst="roundRect">
            <a:avLst>
              <a:gd name="adj" fmla="val 13793"/>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6" name="Text 4"/>
          <p:cNvSpPr/>
          <p:nvPr/>
        </p:nvSpPr>
        <p:spPr>
          <a:xfrm>
            <a:off x="502920" y="1136909"/>
            <a:ext cx="8138160" cy="457200"/>
          </a:xfrm>
          <a:prstGeom prst="rect">
            <a:avLst/>
          </a:prstGeom>
          <a:noFill/>
          <a:ln/>
        </p:spPr>
        <p:txBody>
          <a:bodyPr wrap="square" lIns="0" tIns="50800" rIns="50800" bIns="0" rtlCol="0" anchor="ctr"/>
          <a:lstStyle/>
          <a:p>
            <a:pPr marL="0" indent="0">
              <a:buNone/>
            </a:pPr>
            <a:r>
              <a:rPr lang="en-US" sz="1250" dirty="0">
                <a:solidFill>
                  <a:srgbClr val="1A1A2E"/>
                </a:solidFill>
                <a:latin typeface="Calibri" pitchFamily="34" charset="0"/>
                <a:ea typeface="Calibri" pitchFamily="34" charset="-122"/>
                <a:cs typeface="Calibri" pitchFamily="34" charset="-120"/>
              </a:rPr>
              <a:t>Objective 1: The literature review confirmed that no existing framework integrates prediction, time-dependent routing, and adaptive replanning for emergency dispatch — producing a four-gap analysis that justified the framework design.</a:t>
            </a:r>
            <a:endParaRPr lang="en-US" sz="1250" dirty="0"/>
          </a:p>
        </p:txBody>
      </p:sp>
      <p:sp>
        <p:nvSpPr>
          <p:cNvPr id="7" name="Shape 5"/>
          <p:cNvSpPr/>
          <p:nvPr/>
        </p:nvSpPr>
        <p:spPr>
          <a:xfrm>
            <a:off x="411480" y="1792228"/>
            <a:ext cx="8321040" cy="530352"/>
          </a:xfrm>
          <a:prstGeom prst="roundRect">
            <a:avLst>
              <a:gd name="adj" fmla="val 13793"/>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8" name="Text 6"/>
          <p:cNvSpPr/>
          <p:nvPr/>
        </p:nvSpPr>
        <p:spPr>
          <a:xfrm>
            <a:off x="502920" y="1828804"/>
            <a:ext cx="8138160" cy="457200"/>
          </a:xfrm>
          <a:prstGeom prst="rect">
            <a:avLst/>
          </a:prstGeom>
          <a:noFill/>
          <a:ln/>
        </p:spPr>
        <p:txBody>
          <a:bodyPr wrap="square" lIns="0" tIns="50800" rIns="50800" bIns="0" rtlCol="0" anchor="ctr"/>
          <a:lstStyle/>
          <a:p>
            <a:pPr marL="0" indent="0">
              <a:buNone/>
            </a:pPr>
            <a:r>
              <a:rPr lang="en-US" sz="1250" dirty="0">
                <a:solidFill>
                  <a:srgbClr val="1A1A2E"/>
                </a:solidFill>
                <a:latin typeface="Calibri" pitchFamily="34" charset="0"/>
                <a:ea typeface="Calibri" pitchFamily="34" charset="-122"/>
                <a:cs typeface="Calibri" pitchFamily="34" charset="-120"/>
              </a:rPr>
              <a:t>Objective 2: A functional three-component framework was developed and implemented. GRU achieved a competitive MAE of 3.42 mph. TD-A* routing latency averaged 0.18 ms — satisfying the sub-second dispatch requirement.</a:t>
            </a:r>
            <a:endParaRPr lang="en-US" sz="1250" dirty="0"/>
          </a:p>
        </p:txBody>
      </p:sp>
      <p:sp>
        <p:nvSpPr>
          <p:cNvPr id="9" name="Text 7"/>
          <p:cNvSpPr/>
          <p:nvPr/>
        </p:nvSpPr>
        <p:spPr>
          <a:xfrm>
            <a:off x="411480" y="3118104"/>
            <a:ext cx="4160520" cy="292608"/>
          </a:xfrm>
          <a:prstGeom prst="rect">
            <a:avLst/>
          </a:prstGeom>
          <a:noFill/>
          <a:ln/>
        </p:spPr>
        <p:txBody>
          <a:bodyPr wrap="square" lIns="0" tIns="0" rIns="0" bIns="0"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Key Recommendations</a:t>
            </a:r>
            <a:endParaRPr lang="en-US" sz="1300" dirty="0"/>
          </a:p>
        </p:txBody>
      </p:sp>
      <p:sp>
        <p:nvSpPr>
          <p:cNvPr id="10" name="Text 8"/>
          <p:cNvSpPr/>
          <p:nvPr/>
        </p:nvSpPr>
        <p:spPr>
          <a:xfrm>
            <a:off x="411480" y="3447288"/>
            <a:ext cx="4160520" cy="1463040"/>
          </a:xfrm>
          <a:prstGeom prst="rect">
            <a:avLst/>
          </a:prstGeom>
          <a:noFill/>
          <a:ln/>
        </p:spPr>
        <p:txBody>
          <a:bodyPr wrap="square" lIns="50800" tIns="76200" rIns="76200" bIns="50800" rtlCol="0" anchor="t"/>
          <a:lstStyle/>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Emergency dispatch centres evaluate adoption of GRU + TD-A* predictive routing.</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Kenyan transport authorities invest in sensor infrastructure to enable deployment in Nairobi.</a:t>
            </a:r>
            <a:endParaRPr lang="en-US" sz="1200" dirty="0"/>
          </a:p>
          <a:p>
            <a:pPr marL="342900" indent="-342900">
              <a:spcAft>
                <a:spcPts val="400"/>
              </a:spcAft>
              <a:buSzPct val="100000"/>
              <a:buChar char="•"/>
            </a:pPr>
            <a:r>
              <a:rPr lang="en-KE" sz="1200" dirty="0"/>
              <a:t>δ = 0.10 is currently a placeholder, not a finding — a defensible default requires the sensitivity analysis under Objective 3.</a:t>
            </a:r>
            <a:endParaRPr lang="en-US" sz="1200" dirty="0"/>
          </a:p>
        </p:txBody>
      </p:sp>
      <p:sp>
        <p:nvSpPr>
          <p:cNvPr id="11" name="Text 9"/>
          <p:cNvSpPr/>
          <p:nvPr/>
        </p:nvSpPr>
        <p:spPr>
          <a:xfrm>
            <a:off x="4754880" y="3105912"/>
            <a:ext cx="3977640" cy="292608"/>
          </a:xfrm>
          <a:prstGeom prst="rect">
            <a:avLst/>
          </a:prstGeom>
          <a:noFill/>
          <a:ln/>
        </p:spPr>
        <p:txBody>
          <a:bodyPr wrap="square" lIns="0" tIns="0" rIns="0" bIns="0"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Future Work — Objectives 3 &amp; 4</a:t>
            </a:r>
            <a:endParaRPr lang="en-US" sz="1300" dirty="0"/>
          </a:p>
        </p:txBody>
      </p:sp>
      <p:sp>
        <p:nvSpPr>
          <p:cNvPr id="12" name="Shape 10"/>
          <p:cNvSpPr/>
          <p:nvPr/>
        </p:nvSpPr>
        <p:spPr>
          <a:xfrm>
            <a:off x="4754880" y="3453384"/>
            <a:ext cx="3977640" cy="356616"/>
          </a:xfrm>
          <a:prstGeom prst="roundRect">
            <a:avLst>
              <a:gd name="adj" fmla="val 20513"/>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3" name="Text 11"/>
          <p:cNvSpPr/>
          <p:nvPr/>
        </p:nvSpPr>
        <p:spPr>
          <a:xfrm>
            <a:off x="4828032" y="3489960"/>
            <a:ext cx="502920" cy="283464"/>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Obj 3</a:t>
            </a:r>
            <a:endParaRPr lang="en-US" sz="1050" dirty="0"/>
          </a:p>
        </p:txBody>
      </p:sp>
      <p:sp>
        <p:nvSpPr>
          <p:cNvPr id="14" name="Text 12"/>
          <p:cNvSpPr/>
          <p:nvPr/>
        </p:nvSpPr>
        <p:spPr>
          <a:xfrm>
            <a:off x="5394960" y="3489960"/>
            <a:ext cx="3246120" cy="283464"/>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Threshold sensitivity analysis, </a:t>
            </a:r>
            <a:r>
              <a:rPr lang="el-GR" sz="1200" dirty="0">
                <a:solidFill>
                  <a:srgbClr val="1A1A2E"/>
                </a:solidFill>
                <a:latin typeface="Calibri" pitchFamily="34" charset="0"/>
                <a:ea typeface="Calibri" pitchFamily="34" charset="-122"/>
                <a:cs typeface="Calibri" pitchFamily="34" charset="-120"/>
              </a:rPr>
              <a:t>δ ∈ {5%–20%} — </a:t>
            </a:r>
            <a:r>
              <a:rPr lang="en-US" sz="1200" dirty="0">
                <a:solidFill>
                  <a:srgbClr val="1A1A2E"/>
                </a:solidFill>
                <a:latin typeface="Calibri" pitchFamily="34" charset="0"/>
                <a:ea typeface="Calibri" pitchFamily="34" charset="-122"/>
                <a:cs typeface="Calibri" pitchFamily="34" charset="-120"/>
              </a:rPr>
              <a:t>prerequisite for Objective 4</a:t>
            </a:r>
            <a:endParaRPr lang="en-US" sz="1200" dirty="0"/>
          </a:p>
        </p:txBody>
      </p:sp>
      <p:sp>
        <p:nvSpPr>
          <p:cNvPr id="15" name="Shape 13"/>
          <p:cNvSpPr/>
          <p:nvPr/>
        </p:nvSpPr>
        <p:spPr>
          <a:xfrm>
            <a:off x="4754880" y="3874008"/>
            <a:ext cx="3977640" cy="356616"/>
          </a:xfrm>
          <a:prstGeom prst="roundRect">
            <a:avLst>
              <a:gd name="adj" fmla="val 20513"/>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6" name="Text 14"/>
          <p:cNvSpPr/>
          <p:nvPr/>
        </p:nvSpPr>
        <p:spPr>
          <a:xfrm>
            <a:off x="4828032" y="3910584"/>
            <a:ext cx="502920" cy="283464"/>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Obj 4</a:t>
            </a:r>
            <a:endParaRPr lang="en-US" sz="1050" dirty="0"/>
          </a:p>
        </p:txBody>
      </p:sp>
      <p:sp>
        <p:nvSpPr>
          <p:cNvPr id="17" name="Text 15"/>
          <p:cNvSpPr/>
          <p:nvPr/>
        </p:nvSpPr>
        <p:spPr>
          <a:xfrm>
            <a:off x="5394960" y="3910584"/>
            <a:ext cx="3337560" cy="283464"/>
          </a:xfrm>
          <a:prstGeom prst="rect">
            <a:avLst/>
          </a:prstGeom>
          <a:noFill/>
          <a:ln/>
        </p:spPr>
        <p:txBody>
          <a:bodyPr wrap="square" lIns="0" tIns="0" rIns="0" bIns="0" rtlCol="0" anchor="ctr"/>
          <a:lstStyle/>
          <a:p>
            <a:r>
              <a:rPr lang="en-US" sz="1200" dirty="0">
                <a:solidFill>
                  <a:srgbClr val="1A1A2E"/>
                </a:solidFill>
                <a:latin typeface="Calibri" pitchFamily="34" charset="0"/>
                <a:ea typeface="Calibri" pitchFamily="34" charset="-122"/>
                <a:cs typeface="Calibri" pitchFamily="34" charset="-120"/>
              </a:rPr>
              <a:t>Full simulation evaluation vs Dijkstra, A*, Oracle </a:t>
            </a:r>
            <a:r>
              <a:rPr lang="en-KE" sz="1200" dirty="0"/>
              <a:t>— </a:t>
            </a:r>
            <a:r>
              <a:rPr lang="en-KE" sz="1200" i="1" dirty="0"/>
              <a:t>requires a fixed δ</a:t>
            </a:r>
            <a:endParaRPr lang="en-US" sz="1200" dirty="0"/>
          </a:p>
        </p:txBody>
      </p:sp>
      <p:sp>
        <p:nvSpPr>
          <p:cNvPr id="18" name="Shape 16"/>
          <p:cNvSpPr/>
          <p:nvPr/>
        </p:nvSpPr>
        <p:spPr>
          <a:xfrm>
            <a:off x="4754880" y="4247388"/>
            <a:ext cx="3977640" cy="356616"/>
          </a:xfrm>
          <a:prstGeom prst="roundRect">
            <a:avLst>
              <a:gd name="adj" fmla="val 20513"/>
            </a:avLst>
          </a:prstGeom>
          <a:solidFill>
            <a:srgbClr val="F5F5F5"/>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19" name="Text 17"/>
          <p:cNvSpPr/>
          <p:nvPr/>
        </p:nvSpPr>
        <p:spPr>
          <a:xfrm>
            <a:off x="4828032" y="4320540"/>
            <a:ext cx="502920" cy="283464"/>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a:t>
            </a:r>
            <a:endParaRPr lang="en-US" sz="1050" dirty="0"/>
          </a:p>
        </p:txBody>
      </p:sp>
      <p:sp>
        <p:nvSpPr>
          <p:cNvPr id="20" name="Text 18"/>
          <p:cNvSpPr/>
          <p:nvPr/>
        </p:nvSpPr>
        <p:spPr>
          <a:xfrm>
            <a:off x="5394960" y="4320540"/>
            <a:ext cx="3246120" cy="283464"/>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PEMS-BAY cross-dataset validation</a:t>
            </a:r>
            <a:endParaRPr lang="en-US" sz="1200" dirty="0"/>
          </a:p>
        </p:txBody>
      </p:sp>
      <p:sp>
        <p:nvSpPr>
          <p:cNvPr id="21" name="Shape 19"/>
          <p:cNvSpPr/>
          <p:nvPr/>
        </p:nvSpPr>
        <p:spPr>
          <a:xfrm>
            <a:off x="4754880" y="4704588"/>
            <a:ext cx="3977640" cy="356616"/>
          </a:xfrm>
          <a:prstGeom prst="roundRect">
            <a:avLst>
              <a:gd name="adj" fmla="val 20513"/>
            </a:avLst>
          </a:prstGeom>
          <a:solidFill>
            <a:srgbClr val="F5F5F5"/>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22" name="Text 20"/>
          <p:cNvSpPr/>
          <p:nvPr/>
        </p:nvSpPr>
        <p:spPr>
          <a:xfrm>
            <a:off x="4828032" y="4741164"/>
            <a:ext cx="502920" cy="283464"/>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a:t>
            </a:r>
            <a:endParaRPr lang="en-US" sz="1050" dirty="0"/>
          </a:p>
        </p:txBody>
      </p:sp>
      <p:sp>
        <p:nvSpPr>
          <p:cNvPr id="23" name="Text 21"/>
          <p:cNvSpPr/>
          <p:nvPr/>
        </p:nvSpPr>
        <p:spPr>
          <a:xfrm>
            <a:off x="5394960" y="4741164"/>
            <a:ext cx="3246120" cy="283464"/>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Sparse-sensor analysis simulating Nairobi conditions</a:t>
            </a:r>
            <a:endParaRPr lang="en-US" sz="1200" dirty="0"/>
          </a:p>
        </p:txBody>
      </p:sp>
      <p:sp>
        <p:nvSpPr>
          <p:cNvPr id="27" name="Shape 3">
            <a:extLst>
              <a:ext uri="{FF2B5EF4-FFF2-40B4-BE49-F238E27FC236}">
                <a16:creationId xmlns:a16="http://schemas.microsoft.com/office/drawing/2014/main" id="{EAF3FFD6-79F6-0CE8-EFEC-3E4F87A21ECF}"/>
              </a:ext>
            </a:extLst>
          </p:cNvPr>
          <p:cNvSpPr/>
          <p:nvPr/>
        </p:nvSpPr>
        <p:spPr>
          <a:xfrm>
            <a:off x="411480" y="2430782"/>
            <a:ext cx="8321040" cy="530352"/>
          </a:xfrm>
          <a:prstGeom prst="roundRect">
            <a:avLst>
              <a:gd name="adj" fmla="val 13793"/>
            </a:avLst>
          </a:prstGeom>
          <a:solidFill>
            <a:srgbClr val="EEF3FF"/>
          </a:solidFill>
          <a:ln w="6350">
            <a:solidFill>
              <a:srgbClr val="D8DFF2"/>
            </a:solidFill>
            <a:prstDash val="solid"/>
          </a:ln>
          <a:effectLst>
            <a:outerShdw blurRad="63500" dist="25400" dir="2700000" algn="bl" rotWithShape="0">
              <a:srgbClr val="000000">
                <a:alpha val="10000"/>
              </a:srgbClr>
            </a:outerShdw>
          </a:effectLst>
        </p:spPr>
        <p:txBody>
          <a:bodyPr/>
          <a:lstStyle/>
          <a:p>
            <a:endParaRPr lang="en-KE"/>
          </a:p>
        </p:txBody>
      </p:sp>
      <p:sp>
        <p:nvSpPr>
          <p:cNvPr id="25" name="Text 6">
            <a:extLst>
              <a:ext uri="{FF2B5EF4-FFF2-40B4-BE49-F238E27FC236}">
                <a16:creationId xmlns:a16="http://schemas.microsoft.com/office/drawing/2014/main" id="{113DE4AA-3EB0-F15F-ECC5-6754D2B8CFE2}"/>
              </a:ext>
            </a:extLst>
          </p:cNvPr>
          <p:cNvSpPr/>
          <p:nvPr/>
        </p:nvSpPr>
        <p:spPr>
          <a:xfrm>
            <a:off x="502920" y="2478024"/>
            <a:ext cx="8138160" cy="457200"/>
          </a:xfrm>
          <a:prstGeom prst="rect">
            <a:avLst/>
          </a:prstGeom>
          <a:noFill/>
          <a:ln/>
        </p:spPr>
        <p:txBody>
          <a:bodyPr wrap="square" lIns="0" tIns="50800" rIns="50800" bIns="0" rtlCol="0" anchor="ctr"/>
          <a:lstStyle/>
          <a:p>
            <a:pPr marL="0" indent="0">
              <a:buNone/>
            </a:pPr>
            <a:r>
              <a:rPr lang="en-US" sz="1250" dirty="0">
                <a:solidFill>
                  <a:srgbClr val="1A1A2E"/>
                </a:solidFill>
                <a:latin typeface="Calibri" pitchFamily="34" charset="0"/>
                <a:ea typeface="Calibri" pitchFamily="34" charset="-122"/>
                <a:cs typeface="Calibri" pitchFamily="34" charset="-120"/>
              </a:rPr>
              <a:t>Status: All three components are implemented and integrated. The adaptive replanning controller is operational, but its threshold δ remains </a:t>
            </a:r>
            <a:r>
              <a:rPr lang="en-US" sz="1250" dirty="0" err="1">
                <a:solidFill>
                  <a:srgbClr val="1A1A2E"/>
                </a:solidFill>
                <a:latin typeface="Calibri" pitchFamily="34" charset="0"/>
                <a:ea typeface="Calibri" pitchFamily="34" charset="-122"/>
                <a:cs typeface="Calibri" pitchFamily="34" charset="-120"/>
              </a:rPr>
              <a:t>unparameterised</a:t>
            </a:r>
            <a:r>
              <a:rPr lang="en-US" sz="1250" dirty="0">
                <a:solidFill>
                  <a:srgbClr val="1A1A2E"/>
                </a:solidFill>
                <a:latin typeface="Calibri" pitchFamily="34" charset="0"/>
                <a:ea typeface="Calibri" pitchFamily="34" charset="-122"/>
                <a:cs typeface="Calibri" pitchFamily="34" charset="-120"/>
              </a:rPr>
              <a:t> — no empirical basis for selecting a value yet exists. The framework is now in a state where δ can be resolved experimentally. That is Objective 3.</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1A1E4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Key References</a:t>
            </a:r>
            <a:endParaRPr lang="en-US" sz="2600" dirty="0"/>
          </a:p>
        </p:txBody>
      </p:sp>
      <p:sp>
        <p:nvSpPr>
          <p:cNvPr id="77" name="Shape 1">
            <a:extLst>
              <a:ext uri="{FF2B5EF4-FFF2-40B4-BE49-F238E27FC236}">
                <a16:creationId xmlns:a16="http://schemas.microsoft.com/office/drawing/2014/main" id="{BB287550-1D70-6994-4EF9-6E5DBA4805F5}"/>
              </a:ext>
            </a:extLst>
          </p:cNvPr>
          <p:cNvSpPr/>
          <p:nvPr/>
        </p:nvSpPr>
        <p:spPr>
          <a:xfrm>
            <a:off x="457200" y="713232"/>
            <a:ext cx="8229600" cy="32004"/>
          </a:xfrm>
          <a:prstGeom prst="rect">
            <a:avLst/>
          </a:prstGeom>
          <a:solidFill>
            <a:srgbClr val="CADCFC"/>
          </a:solidFill>
          <a:ln/>
        </p:spPr>
        <p:txBody>
          <a:bodyPr/>
          <a:lstStyle/>
          <a:p>
            <a:endParaRPr lang="en-KE"/>
          </a:p>
        </p:txBody>
      </p:sp>
      <p:sp>
        <p:nvSpPr>
          <p:cNvPr id="79" name="Text 2">
            <a:extLst>
              <a:ext uri="{FF2B5EF4-FFF2-40B4-BE49-F238E27FC236}">
                <a16:creationId xmlns:a16="http://schemas.microsoft.com/office/drawing/2014/main" id="{BA4AAA19-26CA-1768-4DB1-679E62EC9720}"/>
              </a:ext>
            </a:extLst>
          </p:cNvPr>
          <p:cNvSpPr/>
          <p:nvPr/>
        </p:nvSpPr>
        <p:spPr>
          <a:xfrm>
            <a:off x="411480" y="877824"/>
            <a:ext cx="4069080" cy="530352"/>
          </a:xfrm>
          <a:prstGeom prst="rect">
            <a:avLst/>
          </a:prstGeom>
          <a:noFill/>
          <a:ln/>
        </p:spPr>
        <p:txBody>
          <a:bodyPr wrap="square" lIns="0" tIns="50800" rIns="0" bIns="0" rtlCol="0" anchor="t"/>
          <a:lstStyle/>
          <a:p>
            <a:pPr marL="0" indent="0">
              <a:buNone/>
            </a:pPr>
            <a:r>
              <a:rPr lang="en-US" sz="1000" dirty="0">
                <a:solidFill>
                  <a:srgbClr val="C8D8F0"/>
                </a:solidFill>
                <a:latin typeface="Calibri" pitchFamily="34" charset="0"/>
                <a:ea typeface="Calibri" pitchFamily="34" charset="-122"/>
                <a:cs typeface="Calibri" pitchFamily="34" charset="-120"/>
              </a:rPr>
              <a:t>Abuaisha, A., et al. (2025). Dynamic replanning for public transport routing. IJCAI 2025.</a:t>
            </a:r>
            <a:endParaRPr lang="en-US" sz="1000" dirty="0"/>
          </a:p>
        </p:txBody>
      </p:sp>
      <p:sp>
        <p:nvSpPr>
          <p:cNvPr id="81" name="Shape 3">
            <a:extLst>
              <a:ext uri="{FF2B5EF4-FFF2-40B4-BE49-F238E27FC236}">
                <a16:creationId xmlns:a16="http://schemas.microsoft.com/office/drawing/2014/main" id="{91F26D55-2462-E282-0F04-10BBDF9B089F}"/>
              </a:ext>
            </a:extLst>
          </p:cNvPr>
          <p:cNvSpPr/>
          <p:nvPr/>
        </p:nvSpPr>
        <p:spPr>
          <a:xfrm>
            <a:off x="411480" y="1371600"/>
            <a:ext cx="4069080" cy="0"/>
          </a:xfrm>
          <a:prstGeom prst="line">
            <a:avLst/>
          </a:prstGeom>
          <a:noFill/>
          <a:ln w="6350">
            <a:solidFill>
              <a:srgbClr val="2E3D7C"/>
            </a:solidFill>
            <a:prstDash val="solid"/>
          </a:ln>
        </p:spPr>
        <p:txBody>
          <a:bodyPr/>
          <a:lstStyle/>
          <a:p>
            <a:endParaRPr lang="en-KE"/>
          </a:p>
        </p:txBody>
      </p:sp>
      <p:sp>
        <p:nvSpPr>
          <p:cNvPr id="83" name="Text 4">
            <a:extLst>
              <a:ext uri="{FF2B5EF4-FFF2-40B4-BE49-F238E27FC236}">
                <a16:creationId xmlns:a16="http://schemas.microsoft.com/office/drawing/2014/main" id="{41B32A14-DC8D-95FF-9BEC-5663F97D4C50}"/>
              </a:ext>
            </a:extLst>
          </p:cNvPr>
          <p:cNvSpPr/>
          <p:nvPr/>
        </p:nvSpPr>
        <p:spPr>
          <a:xfrm>
            <a:off x="411480" y="1444752"/>
            <a:ext cx="4069080" cy="530352"/>
          </a:xfrm>
          <a:prstGeom prst="rect">
            <a:avLst/>
          </a:prstGeom>
          <a:noFill/>
          <a:ln/>
        </p:spPr>
        <p:txBody>
          <a:bodyPr wrap="square" lIns="0" tIns="50800" rIns="0" bIns="0" rtlCol="0" anchor="t"/>
          <a:lstStyle/>
          <a:p>
            <a:pPr marL="0" indent="0">
              <a:buNone/>
            </a:pPr>
            <a:r>
              <a:rPr lang="en-US" sz="1000" dirty="0">
                <a:solidFill>
                  <a:srgbClr val="C8D8F0"/>
                </a:solidFill>
                <a:latin typeface="Calibri" pitchFamily="34" charset="0"/>
                <a:ea typeface="Calibri" pitchFamily="34" charset="-122"/>
                <a:cs typeface="Calibri" pitchFamily="34" charset="-120"/>
              </a:rPr>
              <a:t>Ajayi, O. O., et al. (2021). Transport inequalities &amp; ITS adoption in Africa. Sustainability, 13(22).</a:t>
            </a:r>
            <a:endParaRPr lang="en-US" sz="1000" dirty="0"/>
          </a:p>
        </p:txBody>
      </p:sp>
      <p:sp>
        <p:nvSpPr>
          <p:cNvPr id="85" name="Shape 5">
            <a:extLst>
              <a:ext uri="{FF2B5EF4-FFF2-40B4-BE49-F238E27FC236}">
                <a16:creationId xmlns:a16="http://schemas.microsoft.com/office/drawing/2014/main" id="{9F404754-2F6A-13EC-A362-A6623B2F86F1}"/>
              </a:ext>
            </a:extLst>
          </p:cNvPr>
          <p:cNvSpPr/>
          <p:nvPr/>
        </p:nvSpPr>
        <p:spPr>
          <a:xfrm>
            <a:off x="411480" y="1938528"/>
            <a:ext cx="4069080" cy="0"/>
          </a:xfrm>
          <a:prstGeom prst="line">
            <a:avLst/>
          </a:prstGeom>
          <a:noFill/>
          <a:ln w="6350">
            <a:solidFill>
              <a:srgbClr val="2E3D7C"/>
            </a:solidFill>
            <a:prstDash val="solid"/>
          </a:ln>
        </p:spPr>
        <p:txBody>
          <a:bodyPr/>
          <a:lstStyle/>
          <a:p>
            <a:endParaRPr lang="en-KE"/>
          </a:p>
        </p:txBody>
      </p:sp>
      <p:sp>
        <p:nvSpPr>
          <p:cNvPr id="87" name="Text 6">
            <a:extLst>
              <a:ext uri="{FF2B5EF4-FFF2-40B4-BE49-F238E27FC236}">
                <a16:creationId xmlns:a16="http://schemas.microsoft.com/office/drawing/2014/main" id="{6C081DFC-DA7D-43F5-010F-55DAC4F97114}"/>
              </a:ext>
            </a:extLst>
          </p:cNvPr>
          <p:cNvSpPr/>
          <p:nvPr/>
        </p:nvSpPr>
        <p:spPr>
          <a:xfrm>
            <a:off x="411480" y="2011680"/>
            <a:ext cx="4069080" cy="530352"/>
          </a:xfrm>
          <a:prstGeom prst="rect">
            <a:avLst/>
          </a:prstGeom>
          <a:noFill/>
          <a:ln/>
        </p:spPr>
        <p:txBody>
          <a:bodyPr wrap="square" lIns="0" tIns="50800" rIns="0" bIns="0" rtlCol="0" anchor="t"/>
          <a:lstStyle/>
          <a:p>
            <a:pPr marL="0" indent="0">
              <a:buNone/>
            </a:pPr>
            <a:r>
              <a:rPr lang="en-US" sz="1000" dirty="0">
                <a:solidFill>
                  <a:srgbClr val="C8D8F0"/>
                </a:solidFill>
                <a:latin typeface="Calibri" pitchFamily="34" charset="0"/>
                <a:ea typeface="Calibri" pitchFamily="34" charset="-122"/>
                <a:cs typeface="Calibri" pitchFamily="34" charset="-120"/>
              </a:rPr>
              <a:t>Cho, K., et al. (2014). Learning phrase representations using RNN encoder-decoder. EMNLP 2014.</a:t>
            </a:r>
            <a:endParaRPr lang="en-US" sz="1000" dirty="0"/>
          </a:p>
        </p:txBody>
      </p:sp>
      <p:sp>
        <p:nvSpPr>
          <p:cNvPr id="89" name="Shape 7">
            <a:extLst>
              <a:ext uri="{FF2B5EF4-FFF2-40B4-BE49-F238E27FC236}">
                <a16:creationId xmlns:a16="http://schemas.microsoft.com/office/drawing/2014/main" id="{54980E1D-9540-A89E-BCED-AB9ACAA879C7}"/>
              </a:ext>
            </a:extLst>
          </p:cNvPr>
          <p:cNvSpPr/>
          <p:nvPr/>
        </p:nvSpPr>
        <p:spPr>
          <a:xfrm>
            <a:off x="411480" y="2505456"/>
            <a:ext cx="4069080" cy="0"/>
          </a:xfrm>
          <a:prstGeom prst="line">
            <a:avLst/>
          </a:prstGeom>
          <a:noFill/>
          <a:ln w="6350">
            <a:solidFill>
              <a:srgbClr val="2E3D7C"/>
            </a:solidFill>
            <a:prstDash val="solid"/>
          </a:ln>
        </p:spPr>
        <p:txBody>
          <a:bodyPr/>
          <a:lstStyle/>
          <a:p>
            <a:endParaRPr lang="en-KE"/>
          </a:p>
        </p:txBody>
      </p:sp>
      <p:sp>
        <p:nvSpPr>
          <p:cNvPr id="91" name="Text 8">
            <a:extLst>
              <a:ext uri="{FF2B5EF4-FFF2-40B4-BE49-F238E27FC236}">
                <a16:creationId xmlns:a16="http://schemas.microsoft.com/office/drawing/2014/main" id="{C0FAADA6-59C6-081F-CB9C-F896625E033E}"/>
              </a:ext>
            </a:extLst>
          </p:cNvPr>
          <p:cNvSpPr/>
          <p:nvPr/>
        </p:nvSpPr>
        <p:spPr>
          <a:xfrm>
            <a:off x="411480" y="2578608"/>
            <a:ext cx="4069080" cy="530352"/>
          </a:xfrm>
          <a:prstGeom prst="rect">
            <a:avLst/>
          </a:prstGeom>
          <a:noFill/>
          <a:ln/>
        </p:spPr>
        <p:txBody>
          <a:bodyPr wrap="square" lIns="0" tIns="50800" rIns="0" bIns="0" rtlCol="0" anchor="t"/>
          <a:lstStyle/>
          <a:p>
            <a:pPr marL="0" indent="0">
              <a:buNone/>
            </a:pPr>
            <a:r>
              <a:rPr lang="en-US" sz="1000" dirty="0">
                <a:solidFill>
                  <a:srgbClr val="C8D8F0"/>
                </a:solidFill>
                <a:latin typeface="Calibri" pitchFamily="34" charset="0"/>
                <a:ea typeface="Calibri" pitchFamily="34" charset="-122"/>
                <a:cs typeface="Calibri" pitchFamily="34" charset="-120"/>
              </a:rPr>
              <a:t>Jeong, M.-H., et al. (2021). Highway speed prediction using GRU networks. Applied Sciences, 11(7).</a:t>
            </a:r>
            <a:endParaRPr lang="en-US" sz="1000" dirty="0"/>
          </a:p>
        </p:txBody>
      </p:sp>
      <p:sp>
        <p:nvSpPr>
          <p:cNvPr id="93" name="Shape 9">
            <a:extLst>
              <a:ext uri="{FF2B5EF4-FFF2-40B4-BE49-F238E27FC236}">
                <a16:creationId xmlns:a16="http://schemas.microsoft.com/office/drawing/2014/main" id="{2388F0A8-9461-2A27-C28B-42A27680F255}"/>
              </a:ext>
            </a:extLst>
          </p:cNvPr>
          <p:cNvSpPr/>
          <p:nvPr/>
        </p:nvSpPr>
        <p:spPr>
          <a:xfrm>
            <a:off x="411480" y="3072384"/>
            <a:ext cx="4069080" cy="0"/>
          </a:xfrm>
          <a:prstGeom prst="line">
            <a:avLst/>
          </a:prstGeom>
          <a:noFill/>
          <a:ln w="6350">
            <a:solidFill>
              <a:srgbClr val="2E3D7C"/>
            </a:solidFill>
            <a:prstDash val="solid"/>
          </a:ln>
        </p:spPr>
        <p:txBody>
          <a:bodyPr/>
          <a:lstStyle/>
          <a:p>
            <a:endParaRPr lang="en-KE"/>
          </a:p>
        </p:txBody>
      </p:sp>
      <p:sp>
        <p:nvSpPr>
          <p:cNvPr id="95" name="Text 10">
            <a:extLst>
              <a:ext uri="{FF2B5EF4-FFF2-40B4-BE49-F238E27FC236}">
                <a16:creationId xmlns:a16="http://schemas.microsoft.com/office/drawing/2014/main" id="{998FE677-31BA-6731-7320-68A6B346A00C}"/>
              </a:ext>
            </a:extLst>
          </p:cNvPr>
          <p:cNvSpPr/>
          <p:nvPr/>
        </p:nvSpPr>
        <p:spPr>
          <a:xfrm>
            <a:off x="411480" y="3145536"/>
            <a:ext cx="4069080" cy="530352"/>
          </a:xfrm>
          <a:prstGeom prst="rect">
            <a:avLst/>
          </a:prstGeom>
          <a:noFill/>
          <a:ln/>
        </p:spPr>
        <p:txBody>
          <a:bodyPr wrap="square" lIns="0" tIns="50800" rIns="0" bIns="0" rtlCol="0" anchor="t"/>
          <a:lstStyle/>
          <a:p>
            <a:pPr marL="0" indent="0">
              <a:buNone/>
            </a:pPr>
            <a:r>
              <a:rPr lang="en-US" sz="1000" dirty="0">
                <a:solidFill>
                  <a:srgbClr val="C8D8F0"/>
                </a:solidFill>
                <a:latin typeface="Calibri" pitchFamily="34" charset="0"/>
                <a:ea typeface="Calibri" pitchFamily="34" charset="-122"/>
                <a:cs typeface="Calibri" pitchFamily="34" charset="-120"/>
              </a:rPr>
              <a:t>Li, Y., et al. (2018). Diffusion convolutional RNN: Data-driven traffic forecasting. ICLR 2018.</a:t>
            </a:r>
            <a:endParaRPr lang="en-US" sz="1000" dirty="0"/>
          </a:p>
        </p:txBody>
      </p:sp>
      <p:sp>
        <p:nvSpPr>
          <p:cNvPr id="97" name="Shape 11">
            <a:extLst>
              <a:ext uri="{FF2B5EF4-FFF2-40B4-BE49-F238E27FC236}">
                <a16:creationId xmlns:a16="http://schemas.microsoft.com/office/drawing/2014/main" id="{A49E3AB5-E493-974E-0CA1-FA32AA611BF1}"/>
              </a:ext>
            </a:extLst>
          </p:cNvPr>
          <p:cNvSpPr/>
          <p:nvPr/>
        </p:nvSpPr>
        <p:spPr>
          <a:xfrm>
            <a:off x="411480" y="3639312"/>
            <a:ext cx="4069080" cy="0"/>
          </a:xfrm>
          <a:prstGeom prst="line">
            <a:avLst/>
          </a:prstGeom>
          <a:noFill/>
          <a:ln w="6350">
            <a:solidFill>
              <a:srgbClr val="2E3D7C"/>
            </a:solidFill>
            <a:prstDash val="solid"/>
          </a:ln>
        </p:spPr>
        <p:txBody>
          <a:bodyPr/>
          <a:lstStyle/>
          <a:p>
            <a:endParaRPr lang="en-KE"/>
          </a:p>
        </p:txBody>
      </p:sp>
      <p:sp>
        <p:nvSpPr>
          <p:cNvPr id="99" name="Text 12">
            <a:extLst>
              <a:ext uri="{FF2B5EF4-FFF2-40B4-BE49-F238E27FC236}">
                <a16:creationId xmlns:a16="http://schemas.microsoft.com/office/drawing/2014/main" id="{F158452B-273D-D80B-8ED5-2BC7E79BA98C}"/>
              </a:ext>
            </a:extLst>
          </p:cNvPr>
          <p:cNvSpPr/>
          <p:nvPr/>
        </p:nvSpPr>
        <p:spPr>
          <a:xfrm>
            <a:off x="411480" y="3712464"/>
            <a:ext cx="4069080" cy="530352"/>
          </a:xfrm>
          <a:prstGeom prst="rect">
            <a:avLst/>
          </a:prstGeom>
          <a:noFill/>
          <a:ln/>
        </p:spPr>
        <p:txBody>
          <a:bodyPr wrap="square" lIns="0" tIns="50800" rIns="0" bIns="0" rtlCol="0" anchor="t"/>
          <a:lstStyle/>
          <a:p>
            <a:pPr marL="0" indent="0">
              <a:buNone/>
            </a:pPr>
            <a:r>
              <a:rPr lang="en-US" sz="1000" dirty="0">
                <a:solidFill>
                  <a:srgbClr val="C8D8F0"/>
                </a:solidFill>
                <a:latin typeface="Calibri" pitchFamily="34" charset="0"/>
                <a:ea typeface="Calibri" pitchFamily="34" charset="-122"/>
                <a:cs typeface="Calibri" pitchFamily="34" charset="-120"/>
              </a:rPr>
              <a:t>Lutema, M., et al. (2026). ITS for sustainable mobility: Dar es Salaam BRT. IJTET.</a:t>
            </a:r>
            <a:endParaRPr lang="en-US" sz="1000" dirty="0"/>
          </a:p>
        </p:txBody>
      </p:sp>
      <p:sp>
        <p:nvSpPr>
          <p:cNvPr id="101" name="Shape 13">
            <a:extLst>
              <a:ext uri="{FF2B5EF4-FFF2-40B4-BE49-F238E27FC236}">
                <a16:creationId xmlns:a16="http://schemas.microsoft.com/office/drawing/2014/main" id="{B0E90331-DF02-902E-F841-47A47D3CC221}"/>
              </a:ext>
            </a:extLst>
          </p:cNvPr>
          <p:cNvSpPr/>
          <p:nvPr/>
        </p:nvSpPr>
        <p:spPr>
          <a:xfrm>
            <a:off x="411480" y="4206240"/>
            <a:ext cx="4069080" cy="0"/>
          </a:xfrm>
          <a:prstGeom prst="line">
            <a:avLst/>
          </a:prstGeom>
          <a:noFill/>
          <a:ln w="6350">
            <a:solidFill>
              <a:srgbClr val="2E3D7C"/>
            </a:solidFill>
            <a:prstDash val="solid"/>
          </a:ln>
        </p:spPr>
        <p:txBody>
          <a:bodyPr/>
          <a:lstStyle/>
          <a:p>
            <a:endParaRPr lang="en-KE"/>
          </a:p>
        </p:txBody>
      </p:sp>
      <p:sp>
        <p:nvSpPr>
          <p:cNvPr id="103" name="Text 14">
            <a:extLst>
              <a:ext uri="{FF2B5EF4-FFF2-40B4-BE49-F238E27FC236}">
                <a16:creationId xmlns:a16="http://schemas.microsoft.com/office/drawing/2014/main" id="{BC82E9B9-356C-A0BA-840E-0C954795A414}"/>
              </a:ext>
            </a:extLst>
          </p:cNvPr>
          <p:cNvSpPr/>
          <p:nvPr/>
        </p:nvSpPr>
        <p:spPr>
          <a:xfrm>
            <a:off x="411480" y="4279392"/>
            <a:ext cx="4069080" cy="530352"/>
          </a:xfrm>
          <a:prstGeom prst="rect">
            <a:avLst/>
          </a:prstGeom>
          <a:noFill/>
          <a:ln/>
        </p:spPr>
        <p:txBody>
          <a:bodyPr wrap="square" lIns="0" tIns="50800" rIns="0" bIns="0" rtlCol="0" anchor="t"/>
          <a:lstStyle/>
          <a:p>
            <a:pPr marL="0" indent="0">
              <a:buNone/>
            </a:pPr>
            <a:r>
              <a:rPr lang="en-US" sz="1000" dirty="0">
                <a:solidFill>
                  <a:srgbClr val="C8D8F0"/>
                </a:solidFill>
                <a:latin typeface="Calibri" pitchFamily="34" charset="0"/>
                <a:ea typeface="Calibri" pitchFamily="34" charset="-122"/>
                <a:cs typeface="Calibri" pitchFamily="34" charset="-120"/>
              </a:rPr>
              <a:t>Mugeere, A., et al. (2020). Emergency response systems in East African cities. ASQ, 19(3–4).</a:t>
            </a:r>
            <a:endParaRPr lang="en-US" sz="1000" dirty="0"/>
          </a:p>
        </p:txBody>
      </p:sp>
      <p:sp>
        <p:nvSpPr>
          <p:cNvPr id="105" name="Text 15">
            <a:extLst>
              <a:ext uri="{FF2B5EF4-FFF2-40B4-BE49-F238E27FC236}">
                <a16:creationId xmlns:a16="http://schemas.microsoft.com/office/drawing/2014/main" id="{B81715D3-91F1-CB1C-1BD0-096D62077A6D}"/>
              </a:ext>
            </a:extLst>
          </p:cNvPr>
          <p:cNvSpPr/>
          <p:nvPr/>
        </p:nvSpPr>
        <p:spPr>
          <a:xfrm>
            <a:off x="4663440" y="877824"/>
            <a:ext cx="4069080" cy="530352"/>
          </a:xfrm>
          <a:prstGeom prst="rect">
            <a:avLst/>
          </a:prstGeom>
          <a:noFill/>
          <a:ln/>
        </p:spPr>
        <p:txBody>
          <a:bodyPr wrap="square" lIns="0" tIns="50800" rIns="0" bIns="0" rtlCol="0" anchor="t"/>
          <a:lstStyle/>
          <a:p>
            <a:pPr marL="0" indent="0">
              <a:buNone/>
            </a:pPr>
            <a:r>
              <a:rPr lang="en-US" sz="1000" dirty="0">
                <a:solidFill>
                  <a:srgbClr val="C8D8F0"/>
                </a:solidFill>
                <a:latin typeface="Calibri" pitchFamily="34" charset="0"/>
                <a:ea typeface="Calibri" pitchFamily="34" charset="-122"/>
                <a:cs typeface="Calibri" pitchFamily="34" charset="-120"/>
              </a:rPr>
              <a:t>Qi, P., et al. (2025). Review of dynamic traffic flow prediction methods. Sensors, 25(17).</a:t>
            </a:r>
            <a:endParaRPr lang="en-US" sz="1000" dirty="0"/>
          </a:p>
        </p:txBody>
      </p:sp>
      <p:sp>
        <p:nvSpPr>
          <p:cNvPr id="107" name="Shape 16">
            <a:extLst>
              <a:ext uri="{FF2B5EF4-FFF2-40B4-BE49-F238E27FC236}">
                <a16:creationId xmlns:a16="http://schemas.microsoft.com/office/drawing/2014/main" id="{668C9A6F-15C6-EA73-E672-8F91723641EC}"/>
              </a:ext>
            </a:extLst>
          </p:cNvPr>
          <p:cNvSpPr/>
          <p:nvPr/>
        </p:nvSpPr>
        <p:spPr>
          <a:xfrm>
            <a:off x="4663440" y="1371600"/>
            <a:ext cx="4069080" cy="0"/>
          </a:xfrm>
          <a:prstGeom prst="line">
            <a:avLst/>
          </a:prstGeom>
          <a:noFill/>
          <a:ln w="6350">
            <a:solidFill>
              <a:srgbClr val="2E3D7C"/>
            </a:solidFill>
            <a:prstDash val="solid"/>
          </a:ln>
        </p:spPr>
        <p:txBody>
          <a:bodyPr/>
          <a:lstStyle/>
          <a:p>
            <a:endParaRPr lang="en-KE"/>
          </a:p>
        </p:txBody>
      </p:sp>
      <p:sp>
        <p:nvSpPr>
          <p:cNvPr id="109" name="Text 17">
            <a:extLst>
              <a:ext uri="{FF2B5EF4-FFF2-40B4-BE49-F238E27FC236}">
                <a16:creationId xmlns:a16="http://schemas.microsoft.com/office/drawing/2014/main" id="{9742EC8D-77BE-427D-7364-F105C3C245CC}"/>
              </a:ext>
            </a:extLst>
          </p:cNvPr>
          <p:cNvSpPr/>
          <p:nvPr/>
        </p:nvSpPr>
        <p:spPr>
          <a:xfrm>
            <a:off x="4663440" y="1444752"/>
            <a:ext cx="4069080" cy="530352"/>
          </a:xfrm>
          <a:prstGeom prst="rect">
            <a:avLst/>
          </a:prstGeom>
          <a:noFill/>
          <a:ln/>
        </p:spPr>
        <p:txBody>
          <a:bodyPr wrap="square" lIns="0" tIns="50800" rIns="0" bIns="0" rtlCol="0" anchor="t"/>
          <a:lstStyle/>
          <a:p>
            <a:pPr marL="0" indent="0">
              <a:buNone/>
            </a:pPr>
            <a:r>
              <a:rPr lang="en-US" sz="1000" dirty="0">
                <a:solidFill>
                  <a:srgbClr val="C8D8F0"/>
                </a:solidFill>
                <a:latin typeface="Calibri" pitchFamily="34" charset="0"/>
                <a:ea typeface="Calibri" pitchFamily="34" charset="-122"/>
                <a:cs typeface="Calibri" pitchFamily="34" charset="-120"/>
              </a:rPr>
              <a:t>Reis, D., et al. (2025). Tech &amp; health data for emergency care access in Kenya. OODH, 3(1).</a:t>
            </a:r>
            <a:endParaRPr lang="en-US" sz="1000" dirty="0"/>
          </a:p>
        </p:txBody>
      </p:sp>
      <p:sp>
        <p:nvSpPr>
          <p:cNvPr id="111" name="Shape 18">
            <a:extLst>
              <a:ext uri="{FF2B5EF4-FFF2-40B4-BE49-F238E27FC236}">
                <a16:creationId xmlns:a16="http://schemas.microsoft.com/office/drawing/2014/main" id="{3100DC04-B62A-52E7-3C3B-8A4F90997B4C}"/>
              </a:ext>
            </a:extLst>
          </p:cNvPr>
          <p:cNvSpPr/>
          <p:nvPr/>
        </p:nvSpPr>
        <p:spPr>
          <a:xfrm>
            <a:off x="4663440" y="1938528"/>
            <a:ext cx="4069080" cy="0"/>
          </a:xfrm>
          <a:prstGeom prst="line">
            <a:avLst/>
          </a:prstGeom>
          <a:noFill/>
          <a:ln w="6350">
            <a:solidFill>
              <a:srgbClr val="2E3D7C"/>
            </a:solidFill>
            <a:prstDash val="solid"/>
          </a:ln>
        </p:spPr>
        <p:txBody>
          <a:bodyPr/>
          <a:lstStyle/>
          <a:p>
            <a:endParaRPr lang="en-KE"/>
          </a:p>
        </p:txBody>
      </p:sp>
      <p:sp>
        <p:nvSpPr>
          <p:cNvPr id="113" name="Text 19">
            <a:extLst>
              <a:ext uri="{FF2B5EF4-FFF2-40B4-BE49-F238E27FC236}">
                <a16:creationId xmlns:a16="http://schemas.microsoft.com/office/drawing/2014/main" id="{488F799E-4A45-3E3A-5C63-F2D559CF1097}"/>
              </a:ext>
            </a:extLst>
          </p:cNvPr>
          <p:cNvSpPr/>
          <p:nvPr/>
        </p:nvSpPr>
        <p:spPr>
          <a:xfrm>
            <a:off x="4663440" y="2011680"/>
            <a:ext cx="4069080" cy="530352"/>
          </a:xfrm>
          <a:prstGeom prst="rect">
            <a:avLst/>
          </a:prstGeom>
          <a:noFill/>
          <a:ln/>
        </p:spPr>
        <p:txBody>
          <a:bodyPr wrap="square" lIns="0" tIns="50800" rIns="0" bIns="0" rtlCol="0" anchor="t"/>
          <a:lstStyle/>
          <a:p>
            <a:pPr marL="0" indent="0">
              <a:buNone/>
            </a:pPr>
            <a:r>
              <a:rPr lang="en-US" sz="1000" dirty="0">
                <a:solidFill>
                  <a:srgbClr val="C8D8F0"/>
                </a:solidFill>
                <a:latin typeface="Calibri" pitchFamily="34" charset="0"/>
                <a:ea typeface="Calibri" pitchFamily="34" charset="-122"/>
                <a:cs typeface="Calibri" pitchFamily="34" charset="-120"/>
              </a:rPr>
              <a:t>Sasikala, N., et al. (2025). Emergency traffic prioritisation with IoT signal control. CONIT 2025.</a:t>
            </a:r>
            <a:endParaRPr lang="en-US" sz="1000" dirty="0"/>
          </a:p>
        </p:txBody>
      </p:sp>
      <p:sp>
        <p:nvSpPr>
          <p:cNvPr id="115" name="Shape 20">
            <a:extLst>
              <a:ext uri="{FF2B5EF4-FFF2-40B4-BE49-F238E27FC236}">
                <a16:creationId xmlns:a16="http://schemas.microsoft.com/office/drawing/2014/main" id="{BCF5D051-DFBE-5986-BCB5-32340D6024C9}"/>
              </a:ext>
            </a:extLst>
          </p:cNvPr>
          <p:cNvSpPr/>
          <p:nvPr/>
        </p:nvSpPr>
        <p:spPr>
          <a:xfrm>
            <a:off x="4663440" y="2505456"/>
            <a:ext cx="4069080" cy="0"/>
          </a:xfrm>
          <a:prstGeom prst="line">
            <a:avLst/>
          </a:prstGeom>
          <a:noFill/>
          <a:ln w="6350">
            <a:solidFill>
              <a:srgbClr val="2E3D7C"/>
            </a:solidFill>
            <a:prstDash val="solid"/>
          </a:ln>
        </p:spPr>
        <p:txBody>
          <a:bodyPr/>
          <a:lstStyle/>
          <a:p>
            <a:endParaRPr lang="en-KE"/>
          </a:p>
        </p:txBody>
      </p:sp>
      <p:sp>
        <p:nvSpPr>
          <p:cNvPr id="117" name="Text 21">
            <a:extLst>
              <a:ext uri="{FF2B5EF4-FFF2-40B4-BE49-F238E27FC236}">
                <a16:creationId xmlns:a16="http://schemas.microsoft.com/office/drawing/2014/main" id="{1FF24741-E2CF-DE6A-2CC2-460434E37E00}"/>
              </a:ext>
            </a:extLst>
          </p:cNvPr>
          <p:cNvSpPr/>
          <p:nvPr/>
        </p:nvSpPr>
        <p:spPr>
          <a:xfrm>
            <a:off x="4663440" y="2578608"/>
            <a:ext cx="4069080" cy="530352"/>
          </a:xfrm>
          <a:prstGeom prst="rect">
            <a:avLst/>
          </a:prstGeom>
          <a:noFill/>
          <a:ln/>
        </p:spPr>
        <p:txBody>
          <a:bodyPr wrap="square" lIns="0" tIns="50800" rIns="0" bIns="0" rtlCol="0" anchor="t"/>
          <a:lstStyle/>
          <a:p>
            <a:pPr marL="0" indent="0">
              <a:buNone/>
            </a:pPr>
            <a:r>
              <a:rPr lang="en-US" sz="1000" dirty="0">
                <a:solidFill>
                  <a:srgbClr val="C8D8F0"/>
                </a:solidFill>
                <a:latin typeface="Calibri" pitchFamily="34" charset="0"/>
                <a:ea typeface="Calibri" pitchFamily="34" charset="-122"/>
                <a:cs typeface="Calibri" pitchFamily="34" charset="-120"/>
              </a:rPr>
              <a:t>Werner, N., et al. (2022). Predicted + live traffic with time-dependent A*. SEA 2022.</a:t>
            </a:r>
            <a:endParaRPr lang="en-US" sz="1000" dirty="0"/>
          </a:p>
        </p:txBody>
      </p:sp>
      <p:sp>
        <p:nvSpPr>
          <p:cNvPr id="119" name="Shape 22">
            <a:extLst>
              <a:ext uri="{FF2B5EF4-FFF2-40B4-BE49-F238E27FC236}">
                <a16:creationId xmlns:a16="http://schemas.microsoft.com/office/drawing/2014/main" id="{CA5002C3-325D-7A68-5940-A142B5B50A5E}"/>
              </a:ext>
            </a:extLst>
          </p:cNvPr>
          <p:cNvSpPr/>
          <p:nvPr/>
        </p:nvSpPr>
        <p:spPr>
          <a:xfrm>
            <a:off x="4663440" y="3072384"/>
            <a:ext cx="4069080" cy="0"/>
          </a:xfrm>
          <a:prstGeom prst="line">
            <a:avLst/>
          </a:prstGeom>
          <a:noFill/>
          <a:ln w="6350">
            <a:solidFill>
              <a:srgbClr val="2E3D7C"/>
            </a:solidFill>
            <a:prstDash val="solid"/>
          </a:ln>
        </p:spPr>
        <p:txBody>
          <a:bodyPr/>
          <a:lstStyle/>
          <a:p>
            <a:endParaRPr lang="en-KE"/>
          </a:p>
        </p:txBody>
      </p:sp>
      <p:sp>
        <p:nvSpPr>
          <p:cNvPr id="121" name="Text 23">
            <a:extLst>
              <a:ext uri="{FF2B5EF4-FFF2-40B4-BE49-F238E27FC236}">
                <a16:creationId xmlns:a16="http://schemas.microsoft.com/office/drawing/2014/main" id="{B93FB492-94DB-0F1B-BDEB-623B4A2CFE39}"/>
              </a:ext>
            </a:extLst>
          </p:cNvPr>
          <p:cNvSpPr/>
          <p:nvPr/>
        </p:nvSpPr>
        <p:spPr>
          <a:xfrm>
            <a:off x="4663440" y="3145536"/>
            <a:ext cx="4069080" cy="530352"/>
          </a:xfrm>
          <a:prstGeom prst="rect">
            <a:avLst/>
          </a:prstGeom>
          <a:noFill/>
          <a:ln/>
        </p:spPr>
        <p:txBody>
          <a:bodyPr wrap="square" lIns="0" tIns="50800" rIns="0" bIns="0" rtlCol="0" anchor="t"/>
          <a:lstStyle/>
          <a:p>
            <a:pPr marL="0" indent="0">
              <a:buNone/>
            </a:pPr>
            <a:r>
              <a:rPr lang="en-US" sz="1000" dirty="0">
                <a:solidFill>
                  <a:srgbClr val="C8D8F0"/>
                </a:solidFill>
                <a:latin typeface="Calibri" pitchFamily="34" charset="0"/>
                <a:ea typeface="Calibri" pitchFamily="34" charset="-122"/>
                <a:cs typeface="Calibri" pitchFamily="34" charset="-120"/>
              </a:rPr>
              <a:t>Zhang, Z., et al. (2022). Adaptive route planning for connected vehicles. ISPRS IJGI, 11(1).</a:t>
            </a:r>
            <a:endParaRPr lang="en-US" sz="1000" dirty="0"/>
          </a:p>
        </p:txBody>
      </p:sp>
      <p:sp>
        <p:nvSpPr>
          <p:cNvPr id="123" name="Shape 24">
            <a:extLst>
              <a:ext uri="{FF2B5EF4-FFF2-40B4-BE49-F238E27FC236}">
                <a16:creationId xmlns:a16="http://schemas.microsoft.com/office/drawing/2014/main" id="{EDB55EA0-F14E-ECDC-6F0C-F1F72B27A283}"/>
              </a:ext>
            </a:extLst>
          </p:cNvPr>
          <p:cNvSpPr/>
          <p:nvPr/>
        </p:nvSpPr>
        <p:spPr>
          <a:xfrm>
            <a:off x="4663440" y="3639312"/>
            <a:ext cx="4069080" cy="0"/>
          </a:xfrm>
          <a:prstGeom prst="line">
            <a:avLst/>
          </a:prstGeom>
          <a:noFill/>
          <a:ln w="6350">
            <a:solidFill>
              <a:srgbClr val="2E3D7C"/>
            </a:solidFill>
            <a:prstDash val="solid"/>
          </a:ln>
        </p:spPr>
        <p:txBody>
          <a:bodyPr/>
          <a:lstStyle/>
          <a:p>
            <a:endParaRPr lang="en-KE"/>
          </a:p>
        </p:txBody>
      </p:sp>
      <p:sp>
        <p:nvSpPr>
          <p:cNvPr id="125" name="Text 25">
            <a:extLst>
              <a:ext uri="{FF2B5EF4-FFF2-40B4-BE49-F238E27FC236}">
                <a16:creationId xmlns:a16="http://schemas.microsoft.com/office/drawing/2014/main" id="{8F595A77-0FA2-460C-35B0-D35EC4376D2C}"/>
              </a:ext>
            </a:extLst>
          </p:cNvPr>
          <p:cNvSpPr/>
          <p:nvPr/>
        </p:nvSpPr>
        <p:spPr>
          <a:xfrm>
            <a:off x="4663440" y="3712464"/>
            <a:ext cx="4069080" cy="530352"/>
          </a:xfrm>
          <a:prstGeom prst="rect">
            <a:avLst/>
          </a:prstGeom>
          <a:noFill/>
          <a:ln/>
        </p:spPr>
        <p:txBody>
          <a:bodyPr wrap="square" lIns="0" tIns="50800" rIns="0" bIns="0" rtlCol="0" anchor="t"/>
          <a:lstStyle/>
          <a:p>
            <a:pPr marL="0" indent="0">
              <a:buNone/>
            </a:pPr>
            <a:r>
              <a:rPr lang="en-US" sz="1000" dirty="0">
                <a:solidFill>
                  <a:srgbClr val="C8D8F0"/>
                </a:solidFill>
                <a:latin typeface="Calibri" pitchFamily="34" charset="0"/>
                <a:ea typeface="Calibri" pitchFamily="34" charset="-122"/>
                <a:cs typeface="Calibri" pitchFamily="34" charset="-120"/>
              </a:rPr>
              <a:t>Zohir, H. M., et al. (2025). Accident-aware traffic management: V2X review. Sci. Rep., 15.</a:t>
            </a:r>
            <a:endParaRPr lang="en-US" sz="1000" dirty="0"/>
          </a:p>
        </p:txBody>
      </p:sp>
      <p:sp>
        <p:nvSpPr>
          <p:cNvPr id="127" name="Shape 26">
            <a:extLst>
              <a:ext uri="{FF2B5EF4-FFF2-40B4-BE49-F238E27FC236}">
                <a16:creationId xmlns:a16="http://schemas.microsoft.com/office/drawing/2014/main" id="{DE65719E-60F0-33B9-D13A-57686327D194}"/>
              </a:ext>
            </a:extLst>
          </p:cNvPr>
          <p:cNvSpPr/>
          <p:nvPr/>
        </p:nvSpPr>
        <p:spPr>
          <a:xfrm>
            <a:off x="4663440" y="4206240"/>
            <a:ext cx="4069080" cy="0"/>
          </a:xfrm>
          <a:prstGeom prst="line">
            <a:avLst/>
          </a:prstGeom>
          <a:noFill/>
          <a:ln w="6350">
            <a:solidFill>
              <a:srgbClr val="2E3D7C"/>
            </a:solidFill>
            <a:prstDash val="solid"/>
          </a:ln>
        </p:spPr>
        <p:txBody>
          <a:bodyPr/>
          <a:lstStyle/>
          <a:p>
            <a:endParaRPr lang="en-KE"/>
          </a:p>
        </p:txBody>
      </p:sp>
      <p:sp>
        <p:nvSpPr>
          <p:cNvPr id="129" name="Text 27">
            <a:extLst>
              <a:ext uri="{FF2B5EF4-FFF2-40B4-BE49-F238E27FC236}">
                <a16:creationId xmlns:a16="http://schemas.microsoft.com/office/drawing/2014/main" id="{C8B62B3B-86AB-B941-62A8-85CCAAC46BB6}"/>
              </a:ext>
            </a:extLst>
          </p:cNvPr>
          <p:cNvSpPr/>
          <p:nvPr/>
        </p:nvSpPr>
        <p:spPr>
          <a:xfrm>
            <a:off x="4663440" y="4279392"/>
            <a:ext cx="4069080" cy="530352"/>
          </a:xfrm>
          <a:prstGeom prst="rect">
            <a:avLst/>
          </a:prstGeom>
          <a:noFill/>
          <a:ln/>
        </p:spPr>
        <p:txBody>
          <a:bodyPr wrap="square" lIns="0" tIns="50800" rIns="0" bIns="0" rtlCol="0" anchor="t"/>
          <a:lstStyle/>
          <a:p>
            <a:pPr marL="0" indent="0">
              <a:buNone/>
            </a:pPr>
            <a:r>
              <a:rPr lang="en-US" sz="1000" dirty="0">
                <a:solidFill>
                  <a:srgbClr val="C8D8F0"/>
                </a:solidFill>
                <a:latin typeface="Calibri" pitchFamily="34" charset="0"/>
                <a:ea typeface="Calibri" pitchFamily="34" charset="-122"/>
                <a:cs typeface="Calibri" pitchFamily="34" charset="-120"/>
              </a:rPr>
              <a:t>WHO. (2015). Health emergency &amp; disaster risk management framework. WHO Press.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495</TotalTime>
  <Words>5113</Words>
  <Application>Microsoft Office PowerPoint</Application>
  <PresentationFormat>On-screen Show (16:9)</PresentationFormat>
  <Paragraphs>475</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GRU-Based Predictive Route Optimisation Framework</dc:title>
  <dc:subject>PptxGenJS Presentation</dc:subject>
  <dc:creator>Freshia Njoki Macharia</dc:creator>
  <cp:lastModifiedBy>Freshia Njoki</cp:lastModifiedBy>
  <cp:revision>11</cp:revision>
  <dcterms:created xsi:type="dcterms:W3CDTF">2026-06-18T18:09:28Z</dcterms:created>
  <dcterms:modified xsi:type="dcterms:W3CDTF">2026-07-31T09:06:55Z</dcterms:modified>
</cp:coreProperties>
</file>