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0:00–0:30. Thank the panel. Say this talk reports Objectives 3 and 4 only, using the improved evaluation on branch cursor/improve-ev-routing-framework-c48b. One sentence on what the artefact is: GRU speeds + time-dependent A* + a remaining-time threshold, as dispatcher support. Do not mention 78%, 123 seconds, or 0.17%.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0:30–1:30. Correct the previous presentation: MAE is 3.48 not 3.42; 34,272 frames not 34,254; StandardScaler on train only, not MinMax; routing graph is the sensor graph, not 397 OSM nodes. PEMS-BAY is a second GRU, not a second 900-run.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1:30–2:30. Stress pairing: the same ambulance, same departure, five brains choosing the path, marked on actual future speeds. Incident = 40% slowdown on the planned corridor so the vehicle actually meets the jam. Peak = slowest quarter of windows; off-peak = fastest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2:30–3:30. This is the slide that stops the two 0.05s being mixed. Remaining time is from where the vehicle is now — that is why replans exist in the new run. If T_old was the original full trip from the station, the controller stayed silent.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3:30–5:00. Point at the orange incident line: it is high and flat. F near zero is not a failed study — a 40% corridor drop is larger than 20% remaining-time growth, so every policy fired. That is why we do not pick δ by travel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5:00–6:00. Highlight the last row. Slightly fewer alerts, same travel time. Do not say 0.10 is still recommended. Combined wait is not this 0.37 ms — that is routing only; GRU is ~39 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6:00–7:30. This replaces 123 s versus 588 s, which was a scaling bug. Tell them: when the planned road is jammed, 728 seconds falls to about 599. Off-peak bars sit on top of each other — empty roads do not need a fortune-teller.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7:30–9:00. The 16% bar is the result that matches the purpose: emergency time reduction when traffic actually breaks. +5.74% overall is a mixture — do not promise 16% on every trip. Versus reactive A* the extra is small: once the jam is visible, a 30-minute forecast adds little. That is honest. Green 15% line is a plot decoration, not a WHO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9:00–10:00. Combined 40 milliseconds is the DSS claim. 0.315 milliseconds was TD-A* on the old 397-node map and was never the full system wait. If asked about 3,175×, that used 0.315 against 1,000; the honest factor is about 25 times (1000/40).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10:00–11:30. This is the 4.6 discussion in spoken form. Do not defend 18.6% coverage or zero replans. Those belonged to the unused OSM map and the old remaining-time bug. If asked about Nairobi: method can transfer; these percentages cannot until local sensors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11:30–13:00. This is the 5.5 correction: we do not reduce the old 18.6% map further. Sparse Nairobi work starts from the 100% detector graph and downsamples it. Journal article v0.3 already uses 3.48, 16.19%, 207 nodes, δ = 0.20 — do not paste OSM 18.6% into the paper as the result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13:00–15:00 including questions. Repeat the three lines if asked to summarise. If asked which branch: cursor/improve-ev-routing-framework-c48b — not main. If asked to pull: git fetch &amp;&amp; git checkout that branch &amp;&amp; git pull, then PYTHONUTF8=1 and run_improved_pipeline.sh, or skip retrain and python -m src.evaluation.run_simulation --graph sensor if models already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Calibri"/>
              </a:rPr>
              <a:t>KIRINYAGA UNIVERSITY  ·  MSc COMPUTER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</a:rPr>
              <a:t>GRU-Based Predictive Route Optimisation
for Emergency Vehicle Navigation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697480"/>
            <a:ext cx="2743200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ADCFC"/>
                </a:solidFill>
                <a:latin typeface="Calibri"/>
              </a:rPr>
              <a:t>Research Progress Presentation  —  Objectives 3 &amp; 4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0B0D0"/>
                </a:solidFill>
                <a:latin typeface="Calibri"/>
              </a:rPr>
              <a:t>Freshia Njoki Macharia  |  PA206/S/25427/24
Supervisors: Dr Gilbert Langat  ·  Dr Stephen Mageto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A838"/>
                </a:solidFill>
                <a:latin typeface="Calibri"/>
              </a:rPr>
              <a:t>Defended results  ·  900 ground-truth journeys  ·  METR-LA detector graph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0B0D0"/>
                </a:solidFill>
                <a:latin typeface="Calibri"/>
              </a:rPr>
              <a:t>Kirinyaga University  ·  MSc Computer Science  ·  Freshia Njoki Macharia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65392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0B0D0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Recap — what was already shown (Obj. 1 &amp; 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47120" cy="1115568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3268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6187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No emergency loop joined a learned speed model, time-dependent search, and a tested remaining-time trigger.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57400"/>
            <a:ext cx="11247120" cy="1115568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16712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Artefact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631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Two-layer GRU (64 units, dropout 0.2) + TD-A* + δ-controller. Dispatcher keeps final authority.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91840"/>
            <a:ext cx="11247120" cy="1115568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Prediction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307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METR-LA MAE 3.48 mph (27 epochs). Separate PEMS-BAY GRU MAE 2.38 mph. Not one joint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80"/>
            <a:ext cx="11247120" cy="1115568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6360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Graph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96519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Routing uses 207 detector nodes and 1,515 fully instrumented edges — not the old 397-node OSM map.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0B0D0"/>
                </a:solidFill>
                <a:latin typeface="Calibri"/>
              </a:rPr>
              <a:t>Kirinyaga University  ·  MSc Computer Science  ·  Freshia Njoki Macharia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65392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0B0D0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What was measured — 900 matched journeys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868680"/>
            <a:ext cx="2743200" cy="196596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E8A838"/>
                </a:solidFill>
                <a:latin typeface="Cambria"/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origin–destination
pairs (seed 42)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868680"/>
            <a:ext cx="2743200" cy="196596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10058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E8A838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73736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scenarios: peak,
off-peak, incident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868680"/>
            <a:ext cx="2743200" cy="196596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0058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E8A838"/>
                </a:solidFill>
                <a:latin typeface="Cambria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3736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δ values:
5, 10, 15, 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868680"/>
            <a:ext cx="2743200" cy="196596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20" y="10058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E8A838"/>
                </a:solidFill>
                <a:latin typeface="Cambria"/>
              </a:rPr>
              <a:t>900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173736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ground-truth
walks of every 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017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ADCFC"/>
                </a:solidFill>
                <a:latin typeface="Calibri"/>
              </a:rPr>
              <a:t>Four baselines (same clock, same realised speeds)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429000"/>
            <a:ext cx="2743200" cy="155448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5661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838"/>
                </a:solidFill>
                <a:latin typeface="Calibri"/>
              </a:rPr>
              <a:t>B1  Dijkstra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02336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Current snapshot
— dispatch practice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429000"/>
            <a:ext cx="2743200" cy="155448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35661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838"/>
                </a:solidFill>
                <a:latin typeface="Calibri"/>
              </a:rPr>
              <a:t>B2  Static A*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402336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Historical mean
— average day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29000"/>
            <a:ext cx="2743200" cy="155448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5661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838"/>
                </a:solidFill>
                <a:latin typeface="Calibri"/>
              </a:rPr>
              <a:t>B3  Reactive A*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02336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Replan after jam
is already visible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3429000"/>
            <a:ext cx="2743200" cy="155448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81160" y="35661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838"/>
                </a:solidFill>
                <a:latin typeface="Calibri"/>
              </a:rPr>
              <a:t>B4  Oracle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402336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Perfect future speeds
— unreachable ceiling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0B0D0"/>
                </a:solidFill>
                <a:latin typeface="Calibri"/>
              </a:rPr>
              <a:t>Kirinyaga University  ·  MSc Computer Science  ·  Freshia Njoki Macharia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565392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0B0D0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Objective 3 — which remaining-time trigger?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68680"/>
            <a:ext cx="11247120" cy="137160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05840"/>
            <a:ext cx="10789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RQ3: What δ balances route reliability against extra dispatcher alerts?
A new path is offered if remaining time from the current position grows by more than δ, or a new path is better by 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468880"/>
            <a:ext cx="5486400" cy="320040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51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δ  —  policy  (not a p-value)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089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δ = 0.05 means: speak if the rest of the trip looks 5% worse.
Tested {0.05, 0.10, 0.15, 0.20}.
This is a dispatcher setting.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68880"/>
            <a:ext cx="5486400" cy="320040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α / p  —  statistics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1089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α = .05 means: call a mean reduction real only if a zero effect would produce it fewer than five times in a hundred.
APA writes p = .0002 (no leading zero) because p cannot exceed 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0B0D0"/>
                </a:solidFill>
                <a:latin typeface="Calibri"/>
              </a:rPr>
              <a:t>Kirinyaga University  ·  MSc Computer Science  ·  Freshia Njoki Macharia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65392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0B0D0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Objective 3 — travel time did not move with δ</a:t>
            </a:r>
          </a:p>
        </p:txBody>
      </p:sp>
      <p:pic>
        <p:nvPicPr>
          <p:cNvPr id="4" name="Picture 3" descr="fig3_delta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7589520" cy="316586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822960"/>
            <a:ext cx="3749039" cy="493776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005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Read the 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41732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Left: % vs Dijkstra is flat across 5–20%.
Incident ≈ 16% at every δ.
Peak ≈ 1%. Off-peak ≈ 0%.
Right: replans fall slightly as δ rises.
Incidents ≈ 1 replan per trip.
ANOVA: F ≈ 0.001, p = 1.00.
The four policies tied on travel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0B0D0"/>
                </a:solidFill>
                <a:latin typeface="Calibri"/>
              </a:rPr>
              <a:t>Kirinyaga University  ·  MSc Computer Science  ·  Freshia Njoki Macharia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65392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0B0D0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Recommended default: δ = 0.20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68680"/>
            <a:ext cx="2788920" cy="566928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78407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868680"/>
            <a:ext cx="2788920" cy="566928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37560" y="978407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Mean vs Dijkstra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868680"/>
            <a:ext cx="2788920" cy="566928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978407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Replans / journey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868680"/>
            <a:ext cx="2788920" cy="566928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978407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TD-A* latency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508760"/>
            <a:ext cx="2788920" cy="566928"/>
          </a:xfrm>
          <a:prstGeom prst="roundRect">
            <a:avLst/>
          </a:prstGeom>
          <a:solidFill>
            <a:srgbClr val="24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6184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0.05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508760"/>
            <a:ext cx="2788920" cy="566928"/>
          </a:xfrm>
          <a:prstGeom prst="roundRect">
            <a:avLst/>
          </a:prstGeom>
          <a:solidFill>
            <a:srgbClr val="24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6184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+5.726%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08760"/>
            <a:ext cx="2788920" cy="566928"/>
          </a:xfrm>
          <a:prstGeom prst="roundRect">
            <a:avLst/>
          </a:prstGeom>
          <a:solidFill>
            <a:srgbClr val="24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6184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0.45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508760"/>
            <a:ext cx="2788920" cy="566928"/>
          </a:xfrm>
          <a:prstGeom prst="roundRect">
            <a:avLst/>
          </a:prstGeom>
          <a:solidFill>
            <a:srgbClr val="24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6184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0.37 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148839"/>
            <a:ext cx="2788920" cy="566928"/>
          </a:xfrm>
          <a:prstGeom prst="roundRect">
            <a:avLst/>
          </a:prstGeom>
          <a:solidFill>
            <a:srgbClr val="24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25856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0.10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2148839"/>
            <a:ext cx="2788920" cy="566928"/>
          </a:xfrm>
          <a:prstGeom prst="roundRect">
            <a:avLst/>
          </a:prstGeom>
          <a:solidFill>
            <a:srgbClr val="24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225856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+5.748%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148839"/>
            <a:ext cx="2788920" cy="566928"/>
          </a:xfrm>
          <a:prstGeom prst="roundRect">
            <a:avLst/>
          </a:prstGeom>
          <a:solidFill>
            <a:srgbClr val="24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225856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0.44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2148839"/>
            <a:ext cx="2788920" cy="566928"/>
          </a:xfrm>
          <a:prstGeom prst="roundRect">
            <a:avLst/>
          </a:prstGeom>
          <a:solidFill>
            <a:srgbClr val="24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225856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0.37 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88920"/>
            <a:ext cx="2788920" cy="566928"/>
          </a:xfrm>
          <a:prstGeom prst="roundRect">
            <a:avLst/>
          </a:prstGeom>
          <a:solidFill>
            <a:srgbClr val="24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289864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0.15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2788920"/>
            <a:ext cx="2788920" cy="566928"/>
          </a:xfrm>
          <a:prstGeom prst="roundRect">
            <a:avLst/>
          </a:prstGeom>
          <a:solidFill>
            <a:srgbClr val="24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7560" y="289864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+5.726%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788920"/>
            <a:ext cx="2788920" cy="566928"/>
          </a:xfrm>
          <a:prstGeom prst="roundRect">
            <a:avLst/>
          </a:prstGeom>
          <a:solidFill>
            <a:srgbClr val="24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289864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0.43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98280" y="2788920"/>
            <a:ext cx="2788920" cy="566928"/>
          </a:xfrm>
          <a:prstGeom prst="roundRect">
            <a:avLst/>
          </a:prstGeom>
          <a:solidFill>
            <a:srgbClr val="24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98280" y="289864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0.37 ms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429000"/>
            <a:ext cx="2788920" cy="566928"/>
          </a:xfrm>
          <a:prstGeom prst="round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353872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E2761"/>
                </a:solidFill>
                <a:latin typeface="Calibri"/>
              </a:rPr>
              <a:t>0.20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37560" y="3429000"/>
            <a:ext cx="2788920" cy="566928"/>
          </a:xfrm>
          <a:prstGeom prst="round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37560" y="353872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E2761"/>
                </a:solidFill>
                <a:latin typeface="Calibri"/>
              </a:rPr>
              <a:t>+5.767%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429000"/>
            <a:ext cx="2788920" cy="566928"/>
          </a:xfrm>
          <a:prstGeom prst="round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353872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E2761"/>
                </a:solidFill>
                <a:latin typeface="Calibri"/>
              </a:rPr>
              <a:t>0.39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98280" y="3429000"/>
            <a:ext cx="2788920" cy="566928"/>
          </a:xfrm>
          <a:prstGeom prst="round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353872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E2761"/>
                </a:solidFill>
                <a:latin typeface="Calibri"/>
              </a:rPr>
              <a:t>0.37 ms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160520"/>
            <a:ext cx="11247120" cy="169164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4343400"/>
            <a:ext cx="10789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Decision-support reading: keep the least chatty policy that still catches incidents.
0.10 was the planned guess in Chapter 3. After measurement, 0.20 is the operational default.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0B0D0"/>
                </a:solidFill>
                <a:latin typeface="Calibri"/>
              </a:rPr>
              <a:t>Kirinyaga University  ·  MSc Computer Science  ·  Freshia Njoki Macharia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7040" y="6565392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0B0D0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Objective 4 — journey time (seconds)</a:t>
            </a:r>
          </a:p>
        </p:txBody>
      </p:sp>
      <p:pic>
        <p:nvPicPr>
          <p:cNvPr id="4" name="Picture 3" descr="fig1_travel_tim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40080"/>
            <a:ext cx="7406640" cy="406835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18120" y="777240"/>
            <a:ext cx="4023360" cy="502920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960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Incident cell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3716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Dijkstra  ≈  728 s
Framework  ≈  599 s
Reactive A*  ≈  604 s
Oracle  ≈  581 s
Peak: 506 s vs 513 s
Off-peak: both ≈ 403 s
The framework does not beat the oracle. That is required if B4 is honest.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0B0D0"/>
                </a:solidFill>
                <a:latin typeface="Calibri"/>
              </a:rPr>
              <a:t>Kirinyaga University  ·  MSc Computer Science  ·  Freshia Njoki Macharia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65392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0B0D0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Objective 4 — reduction versus Dijkstra</a:t>
            </a:r>
          </a:p>
        </p:txBody>
      </p:sp>
      <p:pic>
        <p:nvPicPr>
          <p:cNvPr id="4" name="Picture 3" descr="fig2_reduction_by_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640080"/>
            <a:ext cx="7680960" cy="303452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777240"/>
            <a:ext cx="3840480" cy="502920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79" y="91440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Headline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325880"/>
            <a:ext cx="3520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Incident  +16.19%
  t = 26.43,  p &lt; .001
  ~1.03 replans
Peak  +1.03%
  t = 3.81,  p = .0002
Off-peak  +0.01%
  p = .90  (not significant)
Overall  +5.74%
vs static A*  +7.39%
vs reactive A*  +0.61%
vs oracle  −1.69%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0B0D0"/>
                </a:solidFill>
                <a:latin typeface="Calibri"/>
              </a:rPr>
              <a:t>Kirinyaga University  ·  MSc Computer Science  ·  Freshia Njoki Macharia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65392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0B0D0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Computational feasibility — well under 1 second</a:t>
            </a:r>
          </a:p>
        </p:txBody>
      </p:sp>
      <p:pic>
        <p:nvPicPr>
          <p:cNvPr id="4" name="Picture 3" descr="fig4_computational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40080"/>
            <a:ext cx="7589520" cy="315430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822960"/>
            <a:ext cx="3840480" cy="493776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79" y="100584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What the dispatcher waits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463040"/>
            <a:ext cx="3520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TD-A*  0.37 ms
GRU  39.3 ms
Combined  ≈ 40 ms
Budget  1,000 ms
≈ 25× headroom
Do not quote 0.315 ms
or 69.1 ms — those were
the old OSM / old GRU run.
Routing is not the bottleneck.
The predictor is, and it still fits.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0B0D0"/>
                </a:solidFill>
                <a:latin typeface="Calibri"/>
              </a:rPr>
              <a:t>Kirinyaga University  ·  MSc Computer Science  ·  Freshia Njoki Macharia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65392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0B0D0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What the results mean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11247120" cy="114300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3268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Incident +16%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6187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The planned road is crawling. The system offers another corridor. About one suggestion per journey — not a siren.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03120"/>
            <a:ext cx="11247120" cy="114300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128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Peak +1%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420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Almost every detector is already slow. Looking 15–30 minutes ahead helps only a little. Still statistically detectable.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83279"/>
            <a:ext cx="11247120" cy="114300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9300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Off-peak ≈ 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22191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Empty roads: a predictor and a paper map should agree. This is a successful negative control, not a failed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663440"/>
            <a:ext cx="11247120" cy="114300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77316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Literature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10235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16% sits near Abuaisha et al. (2025) 12–18% (fixed transit, different problem). Werner et al. (2022) is the closest router and does not replace the GRU + δ loop.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0B0D0"/>
                </a:solidFill>
                <a:latin typeface="Calibri"/>
              </a:rPr>
              <a:t>Kirinyaga University  ·  MSc Computer Science  ·  Freshia Njoki Macharia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65392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0B0D0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Limits — and what we are not claiming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868680"/>
            <a:ext cx="5577840" cy="475488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True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•  METR-LA / PEMS-BAY are US freeways, not matatu traffic.
•  900-run routing is Los Angeles detectors only (100% coverage).
•  PEMS-BAY was a second-city GRU check, not a second routing city.
•  A 10–30% sparse-sensor Nairobi analogue has not been run.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868680"/>
            <a:ext cx="5577840" cy="475488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0515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838"/>
                </a:solidFill>
                <a:latin typeface="Calibri"/>
              </a:rPr>
              <a:t>Do not say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5087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•  Do not convert +16% into CBD minutes against the WHO 8-minute target.
•  Do not quote 3.42 mph, 17 epochs, 123 s, +0.17%, or 0 replans.
•  Do not say the journal article still uses the OSM 18.6% graph.
•  Further work: Bay routing graph; downsample 100% → 10–30%; field trial.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0B0D0"/>
                </a:solidFill>
                <a:latin typeface="Calibri"/>
              </a:rPr>
              <a:t>Kirinyaga University  ·  MSc Computer Science  ·  Freshia Njoki Macharia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65392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0B0D0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Take-home for Objectives 3 and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109728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A838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30759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When a crash sits on the planned road, predictive remaining-time routing cut Dijkstra time by 16%.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86000"/>
            <a:ext cx="11247120" cy="109728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A838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5420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δ in 5–20% did not change travel time. Recommend δ = 0.20 to limit extra alerts.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20440"/>
            <a:ext cx="11247120" cy="1097280"/>
          </a:xfrm>
          <a:prstGeom prst="roundRect">
            <a:avLst/>
          </a:prstGeom>
          <a:solidFill>
            <a:srgbClr val="2A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947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A838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77647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The dispatcher waits about 40 ms. The constraint is not compute; it is local sensor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CADCFC"/>
                </a:solidFill>
                <a:latin typeface="Cambria"/>
              </a:rPr>
              <a:t>Thank you  · 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0B0D0"/>
                </a:solidFill>
                <a:latin typeface="Calibri"/>
              </a:rPr>
              <a:t>Results: github.com/Freshia-Njoki/Emergency_Routing  ·  branch cursor/improve-ev-routing-framework-c48b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0B0D0"/>
                </a:solidFill>
                <a:latin typeface="Calibri"/>
              </a:rPr>
              <a:t>Kirinyaga University  ·  MSc Computer Science  ·  Freshia Njoki Macharia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65392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0B0D0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